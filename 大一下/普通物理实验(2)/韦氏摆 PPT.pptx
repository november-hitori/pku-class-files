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7" r:id="rId3"/>
    <p:sldId id="303" r:id="rId4"/>
    <p:sldId id="327" r:id="rId5"/>
    <p:sldId id="305" r:id="rId6"/>
    <p:sldId id="326" r:id="rId7"/>
    <p:sldId id="283" r:id="rId8"/>
    <p:sldId id="308" r:id="rId9"/>
    <p:sldId id="309" r:id="rId10"/>
    <p:sldId id="325" r:id="rId11"/>
    <p:sldId id="289" r:id="rId12"/>
    <p:sldId id="291" r:id="rId13"/>
    <p:sldId id="292" r:id="rId14"/>
    <p:sldId id="330" r:id="rId15"/>
    <p:sldId id="334" r:id="rId16"/>
    <p:sldId id="297" r:id="rId17"/>
    <p:sldId id="332" r:id="rId18"/>
    <p:sldId id="311" r:id="rId19"/>
    <p:sldId id="335" r:id="rId20"/>
    <p:sldId id="336" r:id="rId21"/>
    <p:sldId id="313" r:id="rId22"/>
    <p:sldId id="315" r:id="rId23"/>
    <p:sldId id="317" r:id="rId24"/>
    <p:sldId id="286" r:id="rId25"/>
    <p:sldId id="328" r:id="rId26"/>
    <p:sldId id="319" r:id="rId27"/>
  </p:sldIdLst>
  <p:sldSz cx="12192000" cy="6858000"/>
  <p:notesSz cx="6858000" cy="9144000"/>
  <p:defaultTex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73" userDrawn="1">
          <p15:clr>
            <a:srgbClr val="A4A3A4"/>
          </p15:clr>
        </p15:guide>
        <p15:guide id="2" pos="385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886D8"/>
    <a:srgbClr val="1C4885"/>
    <a:srgbClr val="9A0000"/>
    <a:srgbClr val="A200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6" autoAdjust="0"/>
    <p:restoredTop sz="94660"/>
  </p:normalViewPr>
  <p:slideViewPr>
    <p:cSldViewPr snapToGrid="0" showGuides="1">
      <p:cViewPr varScale="1">
        <p:scale>
          <a:sx n="105" d="100"/>
          <a:sy n="105" d="100"/>
        </p:scale>
        <p:origin x="72" y="176"/>
      </p:cViewPr>
      <p:guideLst>
        <p:guide orient="horz" pos="2173"/>
        <p:guide pos="3854"/>
      </p:guideLst>
    </p:cSldViewPr>
  </p:slideViewPr>
  <p:notesTextViewPr>
    <p:cViewPr>
      <p:scale>
        <a:sx n="1" d="1"/>
        <a:sy n="1" d="1"/>
      </p:scale>
      <p:origin x="0" y="0"/>
    </p:cViewPr>
  </p:notesTextViewPr>
  <p:notesViewPr>
    <p:cSldViewPr snapToGrid="0">
      <p:cViewPr varScale="1">
        <p:scale>
          <a:sx n="76" d="100"/>
          <a:sy n="76" d="100"/>
        </p:scale>
        <p:origin x="1704"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notesMaster" Target="notesMasters/notesMaster1.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AA46FB-DBDC-4998-A3B8-E2D7290CE81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01D2AB-D8F6-4361-80F7-BCE9DDD1A5C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F0A4A4C1-A3F6-474F-8C10-379465B73F2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707D3D-26AB-42B2-867A-4CB2F0D3F268}"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fld id="{15977F83-991E-4607-86D0-094FC5DD0A21}" type="datetime1">
              <a:rPr lang="zh-CN" altLang="en-US" smtClean="0"/>
            </a:fld>
            <a:endParaRPr lang="zh-CN" altLang="en-US"/>
          </a:p>
        </p:txBody>
      </p:sp>
      <p:sp>
        <p:nvSpPr>
          <p:cNvPr id="3"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4" name="灯片编号占位符 5"/>
          <p:cNvSpPr>
            <a:spLocks noGrp="1" noChangeArrowheads="1"/>
          </p:cNvSpPr>
          <p:nvPr>
            <p:ph type="sldNum" sz="quarter" idx="12"/>
          </p:nvPr>
        </p:nvSpPr>
        <p:spPr/>
        <p:txBody>
          <a:bodyPr/>
          <a:lstStyle>
            <a:lvl1pPr>
              <a:defRPr/>
            </a:lvl1pPr>
          </a:lstStyle>
          <a:p>
            <a:fld id="{ABB8F404-4D68-4CF1-A1D1-4545FFCFAAD6}" type="slidenum">
              <a:rPr lang="zh-CN" altLang="en-US"/>
            </a:fld>
            <a:endParaRPr lang="zh-CN" altLang="en-US" dirty="0"/>
          </a:p>
        </p:txBody>
      </p:sp>
      <p:pic>
        <p:nvPicPr>
          <p:cNvPr id="24" name="图片 2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73227" y="217207"/>
            <a:ext cx="841828" cy="84182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endParaRPr lang="zh-CN" altLang="zh-CN"/>
          </a:p>
        </p:txBody>
      </p:sp>
      <p:sp>
        <p:nvSpPr>
          <p:cNvPr id="1027" name="文本占位符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endParaRPr lang="zh-CN" altLang="zh-CN"/>
          </a:p>
          <a:p>
            <a:pPr lvl="1"/>
            <a:r>
              <a:rPr lang="zh-CN" altLang="zh-CN"/>
              <a:t>第二级</a:t>
            </a:r>
            <a:endParaRPr lang="zh-CN" altLang="zh-CN"/>
          </a:p>
          <a:p>
            <a:pPr lvl="2"/>
            <a:r>
              <a:rPr lang="zh-CN" altLang="zh-CN"/>
              <a:t>第三级</a:t>
            </a:r>
            <a:endParaRPr lang="zh-CN" altLang="zh-CN"/>
          </a:p>
          <a:p>
            <a:pPr lvl="3"/>
            <a:r>
              <a:rPr lang="zh-CN" altLang="zh-CN"/>
              <a:t>第四级</a:t>
            </a:r>
            <a:endParaRPr lang="zh-CN" altLang="zh-CN"/>
          </a:p>
          <a:p>
            <a:pPr lvl="4"/>
            <a:r>
              <a:rPr lang="zh-CN" altLang="zh-CN"/>
              <a:t>第五级</a:t>
            </a:r>
            <a:endParaRPr lang="zh-CN" altLang="zh-CN"/>
          </a:p>
        </p:txBody>
      </p:sp>
      <p:sp>
        <p:nvSpPr>
          <p:cNvPr id="1028" name="日期占位符 3"/>
          <p:cNvSpPr>
            <a:spLocks noGrp="1" noChangeArrowheads="1"/>
          </p:cNvSpPr>
          <p:nvPr>
            <p:ph type="dt" sz="half" idx="2"/>
          </p:nvPr>
        </p:nvSpPr>
        <p:spPr bwMode="auto">
          <a:xfrm>
            <a:off x="838200" y="6356350"/>
            <a:ext cx="2743200" cy="365125"/>
          </a:xfrm>
          <a:prstGeom prst="rect">
            <a:avLst/>
          </a:prstGeom>
          <a:noFill/>
          <a:ln>
            <a:noFill/>
          </a:ln>
        </p:spPr>
        <p:txBody>
          <a:bodyPr vert="horz" wrap="square" lIns="91440" tIns="45720" rIns="91440" bIns="45720" numCol="1" anchor="ctr" anchorCtr="0" compatLnSpc="1"/>
          <a:lstStyle>
            <a:lvl1pPr eaLnBrk="1" hangingPunct="1">
              <a:defRPr sz="1200">
                <a:solidFill>
                  <a:srgbClr val="898989"/>
                </a:solidFill>
              </a:defRPr>
            </a:lvl1pPr>
          </a:lstStyle>
          <a:p>
            <a:pPr>
              <a:defRPr/>
            </a:pPr>
            <a:fld id="{DCDA3588-EBCF-4D62-811C-B562E2951D89}" type="datetime1">
              <a:rPr lang="zh-CN" altLang="en-US" smtClean="0"/>
            </a:fld>
            <a:endParaRPr lang="zh-CN" altLang="en-US"/>
          </a:p>
        </p:txBody>
      </p:sp>
      <p:sp>
        <p:nvSpPr>
          <p:cNvPr id="1029" name="页脚占位符 4"/>
          <p:cNvSpPr>
            <a:spLocks noGrp="1" noChangeArrowheads="1"/>
          </p:cNvSpPr>
          <p:nvPr>
            <p:ph type="ftr" sz="quarter" idx="3"/>
          </p:nvPr>
        </p:nvSpPr>
        <p:spPr bwMode="auto">
          <a:xfrm>
            <a:off x="4038600" y="6356350"/>
            <a:ext cx="4114800" cy="365125"/>
          </a:xfrm>
          <a:prstGeom prst="rect">
            <a:avLst/>
          </a:prstGeom>
          <a:noFill/>
          <a:ln>
            <a:noFill/>
          </a:ln>
        </p:spPr>
        <p:txBody>
          <a:bodyPr vert="horz" wrap="square" lIns="91440" tIns="45720" rIns="91440" bIns="45720" numCol="1" anchor="ctr" anchorCtr="0" compatLnSpc="1"/>
          <a:lstStyle>
            <a:lvl1pPr algn="ctr" eaLnBrk="1" hangingPunct="1">
              <a:defRPr sz="1200">
                <a:solidFill>
                  <a:srgbClr val="898989"/>
                </a:solidFill>
              </a:defRPr>
            </a:lvl1pPr>
          </a:lstStyle>
          <a:p>
            <a:pPr>
              <a:defRPr/>
            </a:pPr>
            <a:endParaRPr lang="zh-CN" altLang="en-US"/>
          </a:p>
        </p:txBody>
      </p:sp>
      <p:sp>
        <p:nvSpPr>
          <p:cNvPr id="1030" name="灯片编号占位符 5"/>
          <p:cNvSpPr>
            <a:spLocks noGrp="1" noChangeArrowheads="1"/>
          </p:cNvSpPr>
          <p:nvPr>
            <p:ph type="sldNum" sz="quarter" idx="4"/>
          </p:nvPr>
        </p:nvSpPr>
        <p:spPr bwMode="auto">
          <a:xfrm>
            <a:off x="11234056" y="6356350"/>
            <a:ext cx="729343" cy="365125"/>
          </a:xfrm>
          <a:prstGeom prst="rect">
            <a:avLst/>
          </a:prstGeom>
          <a:noFill/>
          <a:ln>
            <a:noFill/>
          </a:ln>
        </p:spPr>
        <p:txBody>
          <a:bodyPr vert="horz" wrap="square" lIns="91440" tIns="45720" rIns="91440" bIns="45720" numCol="1" anchor="ctr" anchorCtr="0" compatLnSpc="1"/>
          <a:lstStyle>
            <a:lvl1pPr algn="ctr" eaLnBrk="1" hangingPunct="1">
              <a:defRPr sz="2400">
                <a:solidFill>
                  <a:srgbClr val="9A0000"/>
                </a:solidFill>
              </a:defRPr>
            </a:lvl1pPr>
          </a:lstStyle>
          <a:p>
            <a:fld id="{F205F109-EF71-431C-AD3A-28C87A55BB43}"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rtl="0" eaLnBrk="0" fontAlgn="base" hangingPunct="0">
        <a:lnSpc>
          <a:spcPct val="90000"/>
        </a:lnSpc>
        <a:spcBef>
          <a:spcPct val="0"/>
        </a:spcBef>
        <a:spcAft>
          <a:spcPct val="0"/>
        </a:spcAft>
        <a:defRPr sz="44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12.png"/><Relationship Id="rId1" Type="http://schemas.openxmlformats.org/officeDocument/2006/relationships/image" Target="../media/image17.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en.wikipedia.org/wiki/Beat_/(acoustics/)" TargetMode="Externa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矩形 6"/>
          <p:cNvSpPr>
            <a:spLocks noChangeArrowheads="1"/>
          </p:cNvSpPr>
          <p:nvPr/>
        </p:nvSpPr>
        <p:spPr bwMode="auto">
          <a:xfrm>
            <a:off x="0" y="6356350"/>
            <a:ext cx="12192000" cy="501649"/>
          </a:xfrm>
          <a:prstGeom prst="rect">
            <a:avLst/>
          </a:prstGeom>
          <a:solidFill>
            <a:srgbClr val="9A0000"/>
          </a:soli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endParaRPr>
          </a:p>
        </p:txBody>
      </p:sp>
      <p:sp>
        <p:nvSpPr>
          <p:cNvPr id="2056" name="文本框 58"/>
          <p:cNvSpPr txBox="1">
            <a:spLocks noChangeArrowheads="1"/>
          </p:cNvSpPr>
          <p:nvPr/>
        </p:nvSpPr>
        <p:spPr bwMode="auto">
          <a:xfrm>
            <a:off x="1033145" y="2069465"/>
            <a:ext cx="10130790"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5400" b="1" dirty="0">
                <a:solidFill>
                  <a:srgbClr val="9A0000"/>
                </a:solidFill>
                <a:latin typeface="微软雅黑" panose="020B0503020204020204" pitchFamily="34" charset="-122"/>
                <a:ea typeface="微软雅黑" panose="020B0503020204020204" pitchFamily="34" charset="-122"/>
              </a:rPr>
              <a:t>Wilberforce Pendulum</a:t>
            </a:r>
            <a:endParaRPr lang="en-US" altLang="zh-CN" sz="5400" b="1" dirty="0">
              <a:solidFill>
                <a:srgbClr val="9A0000"/>
              </a:solidFill>
              <a:latin typeface="微软雅黑" panose="020B0503020204020204" pitchFamily="34" charset="-122"/>
              <a:ea typeface="微软雅黑" panose="020B0503020204020204" pitchFamily="34" charset="-122"/>
            </a:endParaRPr>
          </a:p>
        </p:txBody>
      </p:sp>
      <p:sp>
        <p:nvSpPr>
          <p:cNvPr id="2057" name="文本框 59"/>
          <p:cNvSpPr txBox="1">
            <a:spLocks noChangeArrowheads="1"/>
          </p:cNvSpPr>
          <p:nvPr/>
        </p:nvSpPr>
        <p:spPr bwMode="auto">
          <a:xfrm>
            <a:off x="3453139" y="3750056"/>
            <a:ext cx="176751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just" eaLnBrk="1" hangingPunct="1"/>
            <a:r>
              <a:rPr lang="zh-CN" altLang="en-US" sz="2400" dirty="0">
                <a:latin typeface="微软雅黑" panose="020B0503020204020204" pitchFamily="34" charset="-122"/>
                <a:ea typeface="微软雅黑" panose="020B0503020204020204" pitchFamily="34" charset="-122"/>
              </a:rPr>
              <a:t>报    告   人</a:t>
            </a:r>
            <a:endParaRPr lang="en-US" altLang="zh-CN" sz="2400" dirty="0">
              <a:latin typeface="微软雅黑" panose="020B0503020204020204" pitchFamily="34" charset="-122"/>
              <a:ea typeface="微软雅黑" panose="020B0503020204020204" pitchFamily="34" charset="-122"/>
            </a:endParaRPr>
          </a:p>
          <a:p>
            <a:pPr algn="just" eaLnBrk="1" hangingPunct="1"/>
            <a:r>
              <a:rPr lang="zh-CN" altLang="en-US" sz="2400" dirty="0">
                <a:latin typeface="微软雅黑" panose="020B0503020204020204" pitchFamily="34" charset="-122"/>
                <a:ea typeface="微软雅黑" panose="020B0503020204020204" pitchFamily="34" charset="-122"/>
              </a:rPr>
              <a:t>合    作   者</a:t>
            </a:r>
            <a:endParaRPr lang="en-US" altLang="zh-CN" sz="2400" dirty="0">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80252" y="365100"/>
            <a:ext cx="2921778" cy="820669"/>
          </a:xfrm>
          <a:prstGeom prst="rect">
            <a:avLst/>
          </a:prstGeom>
        </p:spPr>
      </p:pic>
      <p:pic>
        <p:nvPicPr>
          <p:cNvPr id="11" name="图片 10"/>
          <p:cNvPicPr>
            <a:picLocks noChangeAspect="1"/>
          </p:cNvPicPr>
          <p:nvPr/>
        </p:nvPicPr>
        <p:blipFill rotWithShape="1">
          <a:blip r:embed="rId2" cstate="print">
            <a:extLst>
              <a:ext uri="{28A0092B-C50C-407E-A947-70E740481C1C}">
                <a14:useLocalDpi xmlns:a14="http://schemas.microsoft.com/office/drawing/2010/main" val="0"/>
              </a:ext>
            </a:extLst>
          </a:blip>
          <a:srcRect t="-425" b="49359"/>
          <a:stretch>
            <a:fillRect/>
          </a:stretch>
        </p:blipFill>
        <p:spPr>
          <a:xfrm>
            <a:off x="6598424" y="4628350"/>
            <a:ext cx="5260154" cy="1728000"/>
          </a:xfrm>
          <a:prstGeom prst="rect">
            <a:avLst/>
          </a:prstGeom>
        </p:spPr>
      </p:pic>
      <p:sp>
        <p:nvSpPr>
          <p:cNvPr id="12" name="灯片编号占位符 11"/>
          <p:cNvSpPr>
            <a:spLocks noGrp="1"/>
          </p:cNvSpPr>
          <p:nvPr>
            <p:ph type="sldNum" sz="quarter" idx="12"/>
          </p:nvPr>
        </p:nvSpPr>
        <p:spPr/>
        <p:txBody>
          <a:bodyPr/>
          <a:lstStyle/>
          <a:p>
            <a:fld id="{ABB8F404-4D68-4CF1-A1D1-4545FFCFAAD6}" type="slidenum">
              <a:rPr lang="zh-CN" altLang="en-US" smtClean="0"/>
            </a:fld>
            <a:endParaRPr lang="zh-CN" altLang="en-US"/>
          </a:p>
        </p:txBody>
      </p:sp>
      <p:sp>
        <p:nvSpPr>
          <p:cNvPr id="17" name="文本框 59"/>
          <p:cNvSpPr txBox="1">
            <a:spLocks noChangeArrowheads="1"/>
          </p:cNvSpPr>
          <p:nvPr/>
        </p:nvSpPr>
        <p:spPr bwMode="auto">
          <a:xfrm>
            <a:off x="4979893" y="3750056"/>
            <a:ext cx="3975848" cy="1106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时一月</a:t>
            </a:r>
            <a:endParaRPr lang="en-US" altLang="zh-CN" sz="2400" dirty="0">
              <a:latin typeface="微软雅黑" panose="020B0503020204020204" pitchFamily="34" charset="-122"/>
              <a:ea typeface="微软雅黑" panose="020B0503020204020204" pitchFamily="34" charset="-122"/>
            </a:endParaRPr>
          </a:p>
          <a:p>
            <a:pPr eaLnBrk="1" hangingPunct="1"/>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eaLnBrk="1" hangingPunct="1"/>
            <a:endParaRPr lang="zh-CN" altLang="en-US" dirty="0">
              <a:latin typeface="微软雅黑" panose="020B0503020204020204" pitchFamily="34" charset="-122"/>
              <a:ea typeface="微软雅黑" panose="020B0503020204020204" pitchFamily="34" charset="-122"/>
            </a:endParaRPr>
          </a:p>
        </p:txBody>
      </p:sp>
      <p:sp>
        <p:nvSpPr>
          <p:cNvPr id="9" name="文本框 59"/>
          <p:cNvSpPr txBox="1">
            <a:spLocks noChangeArrowheads="1"/>
          </p:cNvSpPr>
          <p:nvPr/>
        </p:nvSpPr>
        <p:spPr bwMode="auto">
          <a:xfrm>
            <a:off x="3845183" y="5328267"/>
            <a:ext cx="26484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a:latin typeface="微软雅黑" panose="020B0503020204020204" pitchFamily="34" charset="-122"/>
                <a:ea typeface="微软雅黑" panose="020B0503020204020204" pitchFamily="34" charset="-122"/>
              </a:rPr>
              <a:t>2026</a:t>
            </a:r>
            <a:r>
              <a:rPr lang="zh-CN" altLang="en-US" sz="2400">
                <a:latin typeface="微软雅黑" panose="020B0503020204020204" pitchFamily="34" charset="-122"/>
                <a:ea typeface="微软雅黑" panose="020B0503020204020204" pitchFamily="34" charset="-122"/>
              </a:rPr>
              <a:t>年</a:t>
            </a:r>
            <a:r>
              <a:rPr lang="en-US" altLang="zh-CN" sz="2400">
                <a:latin typeface="微软雅黑" panose="020B0503020204020204" pitchFamily="34" charset="-122"/>
                <a:ea typeface="微软雅黑" panose="020B0503020204020204" pitchFamily="34" charset="-122"/>
              </a:rPr>
              <a:t>5</a:t>
            </a:r>
            <a:r>
              <a:rPr lang="zh-CN" altLang="en-US" sz="2400" dirty="0">
                <a:latin typeface="微软雅黑" panose="020B0503020204020204" pitchFamily="34" charset="-122"/>
                <a:ea typeface="微软雅黑" panose="020B0503020204020204" pitchFamily="34" charset="-122"/>
              </a:rPr>
              <a:t>月</a:t>
            </a:r>
            <a:r>
              <a:rPr lang="en-US" altLang="zh-CN" sz="2400" dirty="0">
                <a:latin typeface="微软雅黑" panose="020B0503020204020204" pitchFamily="34" charset="-122"/>
                <a:ea typeface="微软雅黑" panose="020B0503020204020204" pitchFamily="34" charset="-122"/>
              </a:rPr>
              <a:t>8</a:t>
            </a:r>
            <a:r>
              <a:rPr lang="zh-CN" altLang="en-US" sz="2400" dirty="0">
                <a:latin typeface="微软雅黑" panose="020B0503020204020204" pitchFamily="34" charset="-122"/>
                <a:ea typeface="微软雅黑" panose="020B0503020204020204" pitchFamily="34" charset="-122"/>
              </a:rPr>
              <a:t>日</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ABB8F404-4D68-4CF1-A1D1-4545FFCFAAD6}" type="slidenum">
              <a:rPr lang="zh-CN" altLang="en-US" smtClean="0"/>
            </a:fld>
            <a:endParaRPr lang="zh-CN" altLang="en-US" dirty="0"/>
          </a:p>
        </p:txBody>
      </p:sp>
      <p:grpSp>
        <p:nvGrpSpPr>
          <p:cNvPr id="3" name="组合 2"/>
          <p:cNvGrpSpPr/>
          <p:nvPr/>
        </p:nvGrpSpPr>
        <p:grpSpPr>
          <a:xfrm>
            <a:off x="964632" y="2999749"/>
            <a:ext cx="2609524" cy="1323439"/>
            <a:chOff x="1277136" y="2496522"/>
            <a:chExt cx="2954205" cy="1498247"/>
          </a:xfrm>
        </p:grpSpPr>
        <p:sp>
          <p:nvSpPr>
            <p:cNvPr id="4" name="文本框 3"/>
            <p:cNvSpPr txBox="1"/>
            <p:nvPr/>
          </p:nvSpPr>
          <p:spPr>
            <a:xfrm>
              <a:off x="1291465" y="2496522"/>
              <a:ext cx="1196719" cy="1498247"/>
            </a:xfrm>
            <a:prstGeom prst="rect">
              <a:avLst/>
            </a:prstGeom>
            <a:noFill/>
          </p:spPr>
          <p:txBody>
            <a:bodyPr wrap="square" rtlCol="0">
              <a:spAutoFit/>
              <a:scene3d>
                <a:camera prst="orthographicFront"/>
                <a:lightRig rig="threePt" dir="t"/>
              </a:scene3d>
              <a:sp3d contourW="12700"/>
            </a:bodyPr>
            <a:lstStyle/>
            <a:p>
              <a:pPr algn="ctr"/>
              <a:r>
                <a:rPr lang="en-US" altLang="zh-CN" sz="8000" dirty="0">
                  <a:solidFill>
                    <a:srgbClr val="A72020"/>
                  </a:solidFill>
                  <a:latin typeface="Agency FB" panose="020B0503020202020204" pitchFamily="34" charset="0"/>
                </a:rPr>
                <a:t>1</a:t>
              </a:r>
              <a:endParaRPr lang="en-US" altLang="zh-CN" sz="8000" dirty="0">
                <a:solidFill>
                  <a:srgbClr val="A72020"/>
                </a:solidFill>
                <a:latin typeface="Agency FB" panose="020B0503020202020204" pitchFamily="34" charset="0"/>
              </a:endParaRPr>
            </a:p>
          </p:txBody>
        </p:sp>
        <p:sp>
          <p:nvSpPr>
            <p:cNvPr id="5" name="平行四边形 4"/>
            <p:cNvSpPr/>
            <p:nvPr/>
          </p:nvSpPr>
          <p:spPr>
            <a:xfrm rot="19932207">
              <a:off x="1277136" y="3137211"/>
              <a:ext cx="2954205" cy="834263"/>
            </a:xfrm>
            <a:prstGeom prst="parallelogram">
              <a:avLst>
                <a:gd name="adj" fmla="val 52774"/>
              </a:avLst>
            </a:prstGeom>
            <a:solidFill>
              <a:schemeClr val="bg1"/>
            </a:solidFill>
            <a:ln w="2857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A72020"/>
                </a:solidFill>
              </a:endParaRPr>
            </a:p>
          </p:txBody>
        </p:sp>
        <p:sp>
          <p:nvSpPr>
            <p:cNvPr id="6" name="文本框 5"/>
            <p:cNvSpPr txBox="1"/>
            <p:nvPr/>
          </p:nvSpPr>
          <p:spPr>
            <a:xfrm rot="19920000">
              <a:off x="1653659" y="3238621"/>
              <a:ext cx="2200746" cy="522645"/>
            </a:xfrm>
            <a:prstGeom prst="rect">
              <a:avLst/>
            </a:prstGeom>
            <a:noFill/>
          </p:spPr>
          <p:txBody>
            <a:bodyPr wrap="square" rtlCol="0">
              <a:spAutoFit/>
              <a:scene3d>
                <a:camera prst="orthographicFront"/>
                <a:lightRig rig="threePt" dir="t"/>
              </a:scene3d>
              <a:sp3d contourW="12700"/>
            </a:bodyPr>
            <a:lstStyle/>
            <a:p>
              <a:r>
                <a:rPr lang="zh-CN" altLang="en-US" sz="2400" b="1" dirty="0">
                  <a:solidFill>
                    <a:srgbClr val="A72020"/>
                  </a:solidFill>
                  <a:latin typeface="微软雅黑" panose="020B0503020204020204" pitchFamily="34" charset="-122"/>
                  <a:ea typeface="微软雅黑" panose="020B0503020204020204" pitchFamily="34" charset="-122"/>
                </a:rPr>
                <a:t>题目重述</a:t>
              </a:r>
              <a:endParaRPr lang="zh-CN" altLang="en-US" sz="2400" b="1" dirty="0">
                <a:solidFill>
                  <a:srgbClr val="A72020"/>
                </a:solidFill>
                <a:latin typeface="微软雅黑" panose="020B0503020204020204" pitchFamily="34" charset="-122"/>
                <a:ea typeface="微软雅黑" panose="020B0503020204020204" pitchFamily="34" charset="-122"/>
              </a:endParaRPr>
            </a:p>
          </p:txBody>
        </p:sp>
      </p:grpSp>
      <p:grpSp>
        <p:nvGrpSpPr>
          <p:cNvPr id="7" name="组合 6"/>
          <p:cNvGrpSpPr/>
          <p:nvPr/>
        </p:nvGrpSpPr>
        <p:grpSpPr>
          <a:xfrm>
            <a:off x="3451761" y="2999749"/>
            <a:ext cx="2609524" cy="1323439"/>
            <a:chOff x="1249819" y="2496522"/>
            <a:chExt cx="2954205" cy="1498247"/>
          </a:xfrm>
        </p:grpSpPr>
        <p:sp>
          <p:nvSpPr>
            <p:cNvPr id="8" name="文本框 7"/>
            <p:cNvSpPr txBox="1"/>
            <p:nvPr/>
          </p:nvSpPr>
          <p:spPr>
            <a:xfrm>
              <a:off x="1291465" y="2496522"/>
              <a:ext cx="1196719" cy="1498247"/>
            </a:xfrm>
            <a:prstGeom prst="rect">
              <a:avLst/>
            </a:prstGeom>
            <a:noFill/>
          </p:spPr>
          <p:txBody>
            <a:bodyPr wrap="square" rtlCol="0">
              <a:spAutoFit/>
              <a:scene3d>
                <a:camera prst="orthographicFront"/>
                <a:lightRig rig="threePt" dir="t"/>
              </a:scene3d>
              <a:sp3d contourW="12700"/>
            </a:bodyPr>
            <a:lstStyle/>
            <a:p>
              <a:pPr algn="ctr"/>
              <a:r>
                <a:rPr lang="en-US" altLang="zh-CN" sz="8000" dirty="0">
                  <a:solidFill>
                    <a:srgbClr val="A72020"/>
                  </a:solidFill>
                  <a:latin typeface="Agency FB" panose="020B0503020202020204" pitchFamily="34" charset="0"/>
                </a:rPr>
                <a:t>2</a:t>
              </a:r>
              <a:endParaRPr lang="en-US" altLang="zh-CN" sz="8000" dirty="0">
                <a:solidFill>
                  <a:srgbClr val="A72020"/>
                </a:solidFill>
                <a:latin typeface="Agency FB" panose="020B0503020202020204" pitchFamily="34" charset="0"/>
              </a:endParaRPr>
            </a:p>
          </p:txBody>
        </p:sp>
        <p:sp>
          <p:nvSpPr>
            <p:cNvPr id="9" name="平行四边形 8"/>
            <p:cNvSpPr/>
            <p:nvPr/>
          </p:nvSpPr>
          <p:spPr>
            <a:xfrm rot="19932207">
              <a:off x="1249819" y="3137211"/>
              <a:ext cx="2954205" cy="834263"/>
            </a:xfrm>
            <a:prstGeom prst="parallelogram">
              <a:avLst>
                <a:gd name="adj" fmla="val 52774"/>
              </a:avLst>
            </a:prstGeom>
            <a:solidFill>
              <a:schemeClr val="bg1"/>
            </a:solidFill>
            <a:ln w="2857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A72020"/>
                </a:solidFill>
              </a:endParaRPr>
            </a:p>
          </p:txBody>
        </p:sp>
        <p:sp>
          <p:nvSpPr>
            <p:cNvPr id="10" name="文本框 9"/>
            <p:cNvSpPr txBox="1"/>
            <p:nvPr/>
          </p:nvSpPr>
          <p:spPr>
            <a:xfrm rot="19920000">
              <a:off x="1659410" y="3238621"/>
              <a:ext cx="2200746" cy="522645"/>
            </a:xfrm>
            <a:prstGeom prst="rect">
              <a:avLst/>
            </a:prstGeom>
            <a:noFill/>
          </p:spPr>
          <p:txBody>
            <a:bodyPr wrap="square" rtlCol="0">
              <a:spAutoFit/>
              <a:scene3d>
                <a:camera prst="orthographicFront"/>
                <a:lightRig rig="threePt" dir="t"/>
              </a:scene3d>
              <a:sp3d contourW="12700"/>
            </a:bodyPr>
            <a:lstStyle/>
            <a:p>
              <a:r>
                <a:rPr lang="zh-CN" altLang="en-US" sz="2400" b="1" dirty="0">
                  <a:solidFill>
                    <a:srgbClr val="A72020"/>
                  </a:solidFill>
                  <a:latin typeface="微软雅黑" panose="020B0503020204020204" pitchFamily="34" charset="-122"/>
                  <a:ea typeface="微软雅黑" panose="020B0503020204020204" pitchFamily="34" charset="-122"/>
                </a:rPr>
                <a:t>初步探究</a:t>
              </a:r>
              <a:endParaRPr lang="zh-CN" altLang="en-US" sz="2400" b="1" dirty="0">
                <a:solidFill>
                  <a:srgbClr val="A72020"/>
                </a:solidFill>
                <a:latin typeface="微软雅黑" panose="020B0503020204020204" pitchFamily="34" charset="-122"/>
                <a:ea typeface="微软雅黑" panose="020B0503020204020204" pitchFamily="34" charset="-122"/>
              </a:endParaRPr>
            </a:p>
          </p:txBody>
        </p:sp>
      </p:grpSp>
      <p:grpSp>
        <p:nvGrpSpPr>
          <p:cNvPr id="11" name="组合 10"/>
          <p:cNvGrpSpPr/>
          <p:nvPr/>
        </p:nvGrpSpPr>
        <p:grpSpPr>
          <a:xfrm>
            <a:off x="5998580" y="2999749"/>
            <a:ext cx="2609524" cy="1323439"/>
            <a:chOff x="1249819" y="2496522"/>
            <a:chExt cx="2954205" cy="1498247"/>
          </a:xfrm>
        </p:grpSpPr>
        <p:sp>
          <p:nvSpPr>
            <p:cNvPr id="12" name="文本框 11"/>
            <p:cNvSpPr txBox="1"/>
            <p:nvPr/>
          </p:nvSpPr>
          <p:spPr>
            <a:xfrm>
              <a:off x="1291465" y="2496522"/>
              <a:ext cx="1196719" cy="1498247"/>
            </a:xfrm>
            <a:prstGeom prst="rect">
              <a:avLst/>
            </a:prstGeom>
            <a:noFill/>
          </p:spPr>
          <p:txBody>
            <a:bodyPr wrap="square" rtlCol="0">
              <a:spAutoFit/>
              <a:scene3d>
                <a:camera prst="orthographicFront"/>
                <a:lightRig rig="threePt" dir="t"/>
              </a:scene3d>
              <a:sp3d contourW="12700"/>
            </a:bodyPr>
            <a:lstStyle/>
            <a:p>
              <a:pPr algn="ctr"/>
              <a:r>
                <a:rPr lang="en-US" altLang="zh-CN" sz="8000" dirty="0">
                  <a:solidFill>
                    <a:srgbClr val="A72020"/>
                  </a:solidFill>
                  <a:latin typeface="Agency FB" panose="020B0503020202020204" pitchFamily="34" charset="0"/>
                </a:rPr>
                <a:t>3</a:t>
              </a:r>
              <a:endParaRPr lang="en-US" altLang="zh-CN" sz="8000" dirty="0">
                <a:solidFill>
                  <a:srgbClr val="A72020"/>
                </a:solidFill>
                <a:latin typeface="Agency FB" panose="020B0503020202020204" pitchFamily="34" charset="0"/>
              </a:endParaRPr>
            </a:p>
          </p:txBody>
        </p:sp>
        <p:sp>
          <p:nvSpPr>
            <p:cNvPr id="13" name="平行四边形 12"/>
            <p:cNvSpPr/>
            <p:nvPr/>
          </p:nvSpPr>
          <p:spPr>
            <a:xfrm rot="19932207">
              <a:off x="1249819" y="3137211"/>
              <a:ext cx="2954205" cy="834263"/>
            </a:xfrm>
            <a:prstGeom prst="parallelogram">
              <a:avLst>
                <a:gd name="adj" fmla="val 52774"/>
              </a:avLst>
            </a:prstGeom>
            <a:solidFill>
              <a:schemeClr val="bg1"/>
            </a:solidFill>
            <a:ln w="2857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A72020"/>
                </a:solidFill>
              </a:endParaRPr>
            </a:p>
          </p:txBody>
        </p:sp>
        <p:sp>
          <p:nvSpPr>
            <p:cNvPr id="14" name="文本框 13"/>
            <p:cNvSpPr txBox="1"/>
            <p:nvPr/>
          </p:nvSpPr>
          <p:spPr>
            <a:xfrm rot="19920000">
              <a:off x="1625623" y="3238621"/>
              <a:ext cx="2200746" cy="522645"/>
            </a:xfrm>
            <a:prstGeom prst="rect">
              <a:avLst/>
            </a:prstGeom>
            <a:noFill/>
          </p:spPr>
          <p:txBody>
            <a:bodyPr wrap="square" rtlCol="0">
              <a:spAutoFit/>
              <a:scene3d>
                <a:camera prst="orthographicFront"/>
                <a:lightRig rig="threePt" dir="t"/>
              </a:scene3d>
              <a:sp3d contourW="12700"/>
            </a:bodyPr>
            <a:lstStyle/>
            <a:p>
              <a:r>
                <a:rPr lang="zh-CN" altLang="en-US" sz="2400" b="1" dirty="0">
                  <a:solidFill>
                    <a:srgbClr val="A72020"/>
                  </a:solidFill>
                  <a:latin typeface="微软雅黑" panose="020B0503020204020204" pitchFamily="34" charset="-122"/>
                  <a:ea typeface="微软雅黑" panose="020B0503020204020204" pitchFamily="34" charset="-122"/>
                </a:rPr>
                <a:t>理论</a:t>
              </a:r>
              <a:r>
                <a:rPr lang="en-US" altLang="zh-CN" sz="2400" b="1" dirty="0">
                  <a:solidFill>
                    <a:srgbClr val="A72020"/>
                  </a:solidFill>
                  <a:latin typeface="微软雅黑" panose="020B0503020204020204" pitchFamily="34" charset="-122"/>
                  <a:ea typeface="微软雅黑" panose="020B0503020204020204" pitchFamily="34" charset="-122"/>
                </a:rPr>
                <a:t>&amp;</a:t>
              </a:r>
              <a:r>
                <a:rPr lang="zh-CN" altLang="en-US" sz="2400" b="1" dirty="0">
                  <a:solidFill>
                    <a:srgbClr val="A72020"/>
                  </a:solidFill>
                  <a:latin typeface="微软雅黑" panose="020B0503020204020204" pitchFamily="34" charset="-122"/>
                  <a:ea typeface="微软雅黑" panose="020B0503020204020204" pitchFamily="34" charset="-122"/>
                </a:rPr>
                <a:t>实验</a:t>
              </a:r>
              <a:endParaRPr lang="zh-CN" altLang="en-US" sz="2400" b="1" dirty="0">
                <a:solidFill>
                  <a:srgbClr val="A72020"/>
                </a:solidFill>
                <a:latin typeface="微软雅黑" panose="020B0503020204020204" pitchFamily="34" charset="-122"/>
                <a:ea typeface="微软雅黑" panose="020B0503020204020204" pitchFamily="34" charset="-122"/>
              </a:endParaRPr>
            </a:p>
          </p:txBody>
        </p:sp>
      </p:grpSp>
      <p:grpSp>
        <p:nvGrpSpPr>
          <p:cNvPr id="15" name="组合 14"/>
          <p:cNvGrpSpPr/>
          <p:nvPr/>
        </p:nvGrpSpPr>
        <p:grpSpPr>
          <a:xfrm>
            <a:off x="8527618" y="2999749"/>
            <a:ext cx="2609524" cy="1323439"/>
            <a:chOff x="1249819" y="2496522"/>
            <a:chExt cx="2954205" cy="1498247"/>
          </a:xfrm>
        </p:grpSpPr>
        <p:sp>
          <p:nvSpPr>
            <p:cNvPr id="16" name="文本框 15"/>
            <p:cNvSpPr txBox="1"/>
            <p:nvPr/>
          </p:nvSpPr>
          <p:spPr>
            <a:xfrm>
              <a:off x="1291465" y="2496522"/>
              <a:ext cx="1196719" cy="1498247"/>
            </a:xfrm>
            <a:prstGeom prst="rect">
              <a:avLst/>
            </a:prstGeom>
            <a:noFill/>
          </p:spPr>
          <p:txBody>
            <a:bodyPr wrap="square" rtlCol="0">
              <a:spAutoFit/>
              <a:scene3d>
                <a:camera prst="orthographicFront"/>
                <a:lightRig rig="threePt" dir="t"/>
              </a:scene3d>
              <a:sp3d contourW="12700"/>
            </a:bodyPr>
            <a:lstStyle/>
            <a:p>
              <a:pPr algn="ctr"/>
              <a:r>
                <a:rPr lang="en-US" altLang="zh-CN" sz="8000" dirty="0">
                  <a:solidFill>
                    <a:srgbClr val="A72020"/>
                  </a:solidFill>
                  <a:latin typeface="Agency FB" panose="020B0503020202020204" pitchFamily="34" charset="0"/>
                </a:rPr>
                <a:t>4</a:t>
              </a:r>
              <a:endParaRPr lang="en-US" altLang="zh-CN" sz="8000" dirty="0">
                <a:solidFill>
                  <a:srgbClr val="A72020"/>
                </a:solidFill>
                <a:latin typeface="Agency FB" panose="020B0503020202020204" pitchFamily="34" charset="0"/>
              </a:endParaRPr>
            </a:p>
          </p:txBody>
        </p:sp>
        <p:sp>
          <p:nvSpPr>
            <p:cNvPr id="17" name="平行四边形 16"/>
            <p:cNvSpPr/>
            <p:nvPr/>
          </p:nvSpPr>
          <p:spPr>
            <a:xfrm rot="19932207">
              <a:off x="1249819" y="3137211"/>
              <a:ext cx="2954205" cy="834263"/>
            </a:xfrm>
            <a:prstGeom prst="parallelogram">
              <a:avLst>
                <a:gd name="adj" fmla="val 52774"/>
              </a:avLst>
            </a:prstGeom>
            <a:solidFill>
              <a:schemeClr val="bg1"/>
            </a:solidFill>
            <a:ln w="2857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A72020"/>
                </a:solidFill>
              </a:endParaRPr>
            </a:p>
          </p:txBody>
        </p:sp>
        <p:sp>
          <p:nvSpPr>
            <p:cNvPr id="18" name="文本框 17"/>
            <p:cNvSpPr txBox="1"/>
            <p:nvPr/>
          </p:nvSpPr>
          <p:spPr>
            <a:xfrm rot="19920000">
              <a:off x="1626342" y="3238621"/>
              <a:ext cx="2200746" cy="522645"/>
            </a:xfrm>
            <a:prstGeom prst="rect">
              <a:avLst/>
            </a:prstGeom>
            <a:noFill/>
          </p:spPr>
          <p:txBody>
            <a:bodyPr wrap="square" rtlCol="0">
              <a:spAutoFit/>
              <a:scene3d>
                <a:camera prst="orthographicFront"/>
                <a:lightRig rig="threePt" dir="t"/>
              </a:scene3d>
              <a:sp3d contourW="12700"/>
            </a:bodyPr>
            <a:lstStyle/>
            <a:p>
              <a:r>
                <a:rPr lang="zh-CN" altLang="en-US" sz="2400" b="1" dirty="0">
                  <a:solidFill>
                    <a:srgbClr val="A72020"/>
                  </a:solidFill>
                  <a:latin typeface="微软雅黑" panose="020B0503020204020204" pitchFamily="34" charset="-122"/>
                  <a:ea typeface="微软雅黑" panose="020B0503020204020204" pitchFamily="34" charset="-122"/>
                </a:rPr>
                <a:t>结论展望</a:t>
              </a:r>
              <a:endParaRPr lang="zh-CN" altLang="en-US" sz="2400" b="1" dirty="0">
                <a:solidFill>
                  <a:srgbClr val="A72020"/>
                </a:solidFill>
                <a:latin typeface="微软雅黑" panose="020B0503020204020204" pitchFamily="34" charset="-122"/>
                <a:ea typeface="微软雅黑" panose="020B0503020204020204" pitchFamily="34" charset="-122"/>
              </a:endParaRPr>
            </a:p>
          </p:txBody>
        </p:sp>
      </p:grpSp>
      <p:sp>
        <p:nvSpPr>
          <p:cNvPr id="19" name="文本框 18"/>
          <p:cNvSpPr txBox="1"/>
          <p:nvPr/>
        </p:nvSpPr>
        <p:spPr>
          <a:xfrm>
            <a:off x="3595109" y="938866"/>
            <a:ext cx="4787265" cy="1014730"/>
          </a:xfrm>
          <a:prstGeom prst="rect">
            <a:avLst/>
          </a:prstGeom>
          <a:noFill/>
        </p:spPr>
        <p:txBody>
          <a:bodyPr wrap="square" rtlCol="0">
            <a:spAutoFit/>
            <a:scene3d>
              <a:camera prst="orthographicFront"/>
              <a:lightRig rig="threePt" dir="t"/>
            </a:scene3d>
            <a:sp3d contourW="12700"/>
          </a:bodyPr>
          <a:lstStyle/>
          <a:p>
            <a:pPr algn="ctr"/>
            <a:r>
              <a:rPr lang="en-US" altLang="zh-CN" sz="6000" dirty="0">
                <a:solidFill>
                  <a:srgbClr val="A72020"/>
                </a:solidFill>
                <a:latin typeface="Agency FB" panose="020B0503020202020204" pitchFamily="34" charset="0"/>
              </a:rPr>
              <a:t>CONTENTS</a:t>
            </a:r>
            <a:endParaRPr lang="en-US" altLang="zh-CN" sz="6000" dirty="0">
              <a:solidFill>
                <a:srgbClr val="A72020"/>
              </a:solidFill>
              <a:latin typeface="Agency FB" panose="020B0503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ABB8F404-4D68-4CF1-A1D1-4545FFCFAAD6}" type="slidenum">
              <a:rPr lang="zh-CN" altLang="en-US" smtClean="0"/>
            </a:fld>
            <a:endParaRPr lang="zh-CN" altLang="en-US" dirty="0"/>
          </a:p>
        </p:txBody>
      </p:sp>
      <p:sp>
        <p:nvSpPr>
          <p:cNvPr id="8" name="菱形 7"/>
          <p:cNvSpPr/>
          <p:nvPr/>
        </p:nvSpPr>
        <p:spPr>
          <a:xfrm>
            <a:off x="3057934" y="2107066"/>
            <a:ext cx="2643868" cy="2643868"/>
          </a:xfrm>
          <a:prstGeom prst="diamond">
            <a:avLst/>
          </a:prstGeom>
          <a:noFill/>
          <a:ln w="2857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菱形 8"/>
          <p:cNvSpPr/>
          <p:nvPr/>
        </p:nvSpPr>
        <p:spPr>
          <a:xfrm>
            <a:off x="5132161" y="1279752"/>
            <a:ext cx="4298496" cy="4298496"/>
          </a:xfrm>
          <a:prstGeom prst="diamond">
            <a:avLst/>
          </a:prstGeom>
          <a:noFill/>
          <a:ln w="2857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A72020"/>
              </a:solidFill>
            </a:endParaRPr>
          </a:p>
        </p:txBody>
      </p:sp>
      <p:sp>
        <p:nvSpPr>
          <p:cNvPr id="10" name="文本框 9"/>
          <p:cNvSpPr txBox="1"/>
          <p:nvPr/>
        </p:nvSpPr>
        <p:spPr>
          <a:xfrm>
            <a:off x="3822112" y="2321004"/>
            <a:ext cx="1057092" cy="2215991"/>
          </a:xfrm>
          <a:prstGeom prst="rect">
            <a:avLst/>
          </a:prstGeom>
          <a:noFill/>
        </p:spPr>
        <p:txBody>
          <a:bodyPr wrap="square" rtlCol="0">
            <a:spAutoFit/>
            <a:scene3d>
              <a:camera prst="orthographicFront"/>
              <a:lightRig rig="threePt" dir="t"/>
            </a:scene3d>
            <a:sp3d contourW="12700"/>
          </a:bodyPr>
          <a:lstStyle/>
          <a:p>
            <a:pPr algn="ctr"/>
            <a:r>
              <a:rPr lang="en-US" altLang="zh-CN" sz="13800" dirty="0">
                <a:solidFill>
                  <a:srgbClr val="A72020"/>
                </a:solidFill>
                <a:latin typeface="Agency FB" panose="020B0503020202020204" pitchFamily="34" charset="0"/>
              </a:rPr>
              <a:t>1</a:t>
            </a:r>
            <a:endParaRPr lang="en-US" altLang="zh-CN" sz="13800" dirty="0">
              <a:solidFill>
                <a:srgbClr val="A72020"/>
              </a:solidFill>
              <a:latin typeface="Agency FB" panose="020B0503020202020204" pitchFamily="34" charset="0"/>
            </a:endParaRPr>
          </a:p>
        </p:txBody>
      </p:sp>
      <p:sp>
        <p:nvSpPr>
          <p:cNvPr id="11" name="文本框 10"/>
          <p:cNvSpPr txBox="1"/>
          <p:nvPr/>
        </p:nvSpPr>
        <p:spPr>
          <a:xfrm>
            <a:off x="5402262" y="2959430"/>
            <a:ext cx="3904343" cy="829945"/>
          </a:xfrm>
          <a:prstGeom prst="rect">
            <a:avLst/>
          </a:prstGeom>
          <a:noFill/>
        </p:spPr>
        <p:txBody>
          <a:bodyPr wrap="square" rtlCol="0">
            <a:spAutoFit/>
            <a:scene3d>
              <a:camera prst="orthographicFront"/>
              <a:lightRig rig="threePt" dir="t"/>
            </a:scene3d>
            <a:sp3d contourW="12700"/>
          </a:bodyPr>
          <a:lstStyle>
            <a:defPPr>
              <a:defRPr lang="en-US"/>
            </a:defPPr>
            <a:lvl1pPr algn="ctr">
              <a:defRPr sz="2800" b="1">
                <a:solidFill>
                  <a:schemeClr val="tx1">
                    <a:lumMod val="75000"/>
                    <a:lumOff val="25000"/>
                  </a:schemeClr>
                </a:solidFill>
                <a:latin typeface="Century Gothic" panose="020B0502020202020204" pitchFamily="34" charset="0"/>
              </a:defRPr>
            </a:lvl1pPr>
          </a:lstStyle>
          <a:p>
            <a:r>
              <a:rPr lang="zh-CN" altLang="en-US" sz="4800" dirty="0">
                <a:solidFill>
                  <a:srgbClr val="A72020"/>
                </a:solidFill>
                <a:latin typeface="微软雅黑" panose="020B0503020204020204" pitchFamily="34" charset="-122"/>
                <a:ea typeface="微软雅黑" panose="020B0503020204020204" pitchFamily="34" charset="-122"/>
              </a:rPr>
              <a:t>题目重述</a:t>
            </a:r>
            <a:endParaRPr lang="zh-CN" altLang="en-US" sz="4800" dirty="0">
              <a:solidFill>
                <a:srgbClr val="A7202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3757478" y="3291487"/>
            <a:ext cx="1215388" cy="400110"/>
          </a:xfrm>
          <a:prstGeom prst="rect">
            <a:avLst/>
          </a:prstGeom>
          <a:solidFill>
            <a:srgbClr val="FCFCFC"/>
          </a:solidFill>
        </p:spPr>
        <p:txBody>
          <a:bodyPr wrap="square" rtlCol="0">
            <a:spAutoFit/>
            <a:scene3d>
              <a:camera prst="orthographicFront"/>
              <a:lightRig rig="threePt" dir="t"/>
            </a:scene3d>
            <a:sp3d contourW="12700"/>
          </a:bodyPr>
          <a:lstStyle/>
          <a:p>
            <a:pPr algn="ctr"/>
            <a:r>
              <a:rPr lang="en-US" altLang="zh-CN" sz="2000" b="1" dirty="0">
                <a:solidFill>
                  <a:srgbClr val="A72020"/>
                </a:solidFill>
                <a:latin typeface="Century Gothic" panose="020B0502020202020204" pitchFamily="34" charset="0"/>
              </a:rPr>
              <a:t>PART 01</a:t>
            </a:r>
            <a:endParaRPr lang="en-US" altLang="zh-CN" sz="2000" b="1" dirty="0">
              <a:solidFill>
                <a:srgbClr val="A72020"/>
              </a:solidFill>
              <a:latin typeface="Century Gothic" panose="020B0502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1000"/>
                                        <p:tgtEl>
                                          <p:spTgt spid="12"/>
                                        </p:tgtEl>
                                      </p:cBhvr>
                                    </p:animEffect>
                                    <p:anim calcmode="lin" valueType="num">
                                      <p:cBhvr>
                                        <p:cTn id="28" dur="1000" fill="hold"/>
                                        <p:tgtEl>
                                          <p:spTgt spid="12"/>
                                        </p:tgtEl>
                                        <p:attrNameLst>
                                          <p:attrName>ppt_x</p:attrName>
                                        </p:attrNameLst>
                                      </p:cBhvr>
                                      <p:tavLst>
                                        <p:tav tm="0">
                                          <p:val>
                                            <p:strVal val="#ppt_x"/>
                                          </p:val>
                                        </p:tav>
                                        <p:tav tm="100000">
                                          <p:val>
                                            <p:strVal val="#ppt_x"/>
                                          </p:val>
                                        </p:tav>
                                      </p:tavLst>
                                    </p:anim>
                                    <p:anim calcmode="lin" valueType="num">
                                      <p:cBhvr>
                                        <p:cTn id="2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P spid="11" grpId="0"/>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ABB8F404-4D68-4CF1-A1D1-4545FFCFAAD6}" type="slidenum">
              <a:rPr lang="zh-CN" altLang="en-US" smtClean="0"/>
            </a:fld>
            <a:endParaRPr lang="zh-CN" altLang="en-US" dirty="0"/>
          </a:p>
        </p:txBody>
      </p:sp>
      <p:sp>
        <p:nvSpPr>
          <p:cNvPr id="4" name="矩形 3"/>
          <p:cNvSpPr/>
          <p:nvPr/>
        </p:nvSpPr>
        <p:spPr>
          <a:xfrm>
            <a:off x="1170301" y="1030830"/>
            <a:ext cx="9560452" cy="2676525"/>
          </a:xfrm>
          <a:prstGeom prst="rect">
            <a:avLst/>
          </a:prstGeom>
        </p:spPr>
        <p:txBody>
          <a:bodyPr wrap="square">
            <a:spAutoFit/>
          </a:bodyPr>
          <a:lstStyle/>
          <a:p>
            <a:pPr algn="just"/>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Wilberforce Pendulum</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2021 IYPT Q12</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a:p>
            <a:pPr algn="just" fontAlgn="base"/>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 Wilberforce pendulum consists of </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 mass</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 hanging from </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 vertically oriented helical spring</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 The mass can both </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move up and down</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 on the spring and </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rotate about its vertical axis</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 Investigate the behaviour of such a pendulum and how it depends on relevant parameters.</a:t>
            </a:r>
            <a:endParaRPr lang="en-US"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a:p>
            <a:pPr algn="just" fontAlgn="base"/>
            <a:endParaRPr lang="en-US" altLang="zh-CN" sz="2400" b="1" dirty="0">
              <a:latin typeface="华文楷体" panose="02010600040101010101" pitchFamily="2" charset="-122"/>
              <a:ea typeface="华文楷体" panose="02010600040101010101" pitchFamily="2" charset="-122"/>
            </a:endParaRPr>
          </a:p>
          <a:p>
            <a:pPr algn="just" fontAlgn="base"/>
            <a:endParaRPr lang="en-US" altLang="zh-CN" sz="2400" b="1" dirty="0">
              <a:latin typeface="华文楷体" panose="02010600040101010101" pitchFamily="2" charset="-122"/>
              <a:ea typeface="华文楷体" panose="02010600040101010101" pitchFamily="2" charset="-122"/>
            </a:endParaRPr>
          </a:p>
        </p:txBody>
      </p:sp>
      <p:sp>
        <p:nvSpPr>
          <p:cNvPr id="5" name="矩形 4"/>
          <p:cNvSpPr/>
          <p:nvPr/>
        </p:nvSpPr>
        <p:spPr>
          <a:xfrm>
            <a:off x="1170300" y="3088359"/>
            <a:ext cx="4948111" cy="2861310"/>
          </a:xfrm>
          <a:prstGeom prst="rect">
            <a:avLst/>
          </a:prstGeom>
        </p:spPr>
        <p:txBody>
          <a:bodyPr wrap="square">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韦氏摆（</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2021 IYPT Q12</a:t>
            </a:r>
            <a:r>
              <a:rPr lang="zh-CN" altLang="en-US" sz="2000" b="1" dirty="0">
                <a:latin typeface="微软雅黑" panose="020B0503020204020204" pitchFamily="34" charset="-122"/>
                <a:ea typeface="微软雅黑" panose="020B0503020204020204" pitchFamily="34" charset="-122"/>
              </a:rPr>
              <a:t>） </a:t>
            </a:r>
            <a:endParaRPr lang="en-US" altLang="zh-CN" sz="2000" b="1" dirty="0">
              <a:latin typeface="微软雅黑" panose="020B0503020204020204" pitchFamily="34" charset="-122"/>
              <a:ea typeface="微软雅黑" panose="020B0503020204020204" pitchFamily="34" charset="-122"/>
            </a:endParaRPr>
          </a:p>
          <a:p>
            <a:pPr>
              <a:lnSpc>
                <a:spcPct val="150000"/>
              </a:lnSpc>
            </a:pPr>
            <a:r>
              <a:rPr lang="zh-CN" altLang="en-US" sz="2000" b="1" dirty="0">
                <a:latin typeface="微软雅黑" panose="020B0503020204020204" pitchFamily="34" charset="-122"/>
                <a:ea typeface="微软雅黑" panose="020B0503020204020204" pitchFamily="34" charset="-122"/>
              </a:rPr>
              <a:t>韦氏摆由悬挂在</a:t>
            </a:r>
            <a:r>
              <a:rPr lang="zh-CN" altLang="en-US" sz="2000" b="1" dirty="0">
                <a:solidFill>
                  <a:srgbClr val="FF0000"/>
                </a:solidFill>
                <a:latin typeface="微软雅黑" panose="020B0503020204020204" pitchFamily="34" charset="-122"/>
                <a:ea typeface="微软雅黑" panose="020B0503020204020204" pitchFamily="34" charset="-122"/>
              </a:rPr>
              <a:t>竖直方向的螺旋弹簧</a:t>
            </a:r>
            <a:r>
              <a:rPr lang="zh-CN" altLang="en-US" sz="2000" b="1" dirty="0">
                <a:latin typeface="微软雅黑" panose="020B0503020204020204" pitchFamily="34" charset="-122"/>
                <a:ea typeface="微软雅黑" panose="020B0503020204020204" pitchFamily="34" charset="-122"/>
              </a:rPr>
              <a:t>和连接在弹簧末端的</a:t>
            </a:r>
            <a:r>
              <a:rPr lang="zh-CN" altLang="en-US" sz="2000" b="1" dirty="0">
                <a:solidFill>
                  <a:srgbClr val="FF0000"/>
                </a:solidFill>
                <a:latin typeface="微软雅黑" panose="020B0503020204020204" pitchFamily="34" charset="-122"/>
                <a:ea typeface="微软雅黑" panose="020B0503020204020204" pitchFamily="34" charset="-122"/>
              </a:rPr>
              <a:t>物块</a:t>
            </a:r>
            <a:r>
              <a:rPr lang="zh-CN" altLang="en-US" sz="2000" b="1" dirty="0">
                <a:latin typeface="微软雅黑" panose="020B0503020204020204" pitchFamily="34" charset="-122"/>
                <a:ea typeface="微软雅黑" panose="020B0503020204020204" pitchFamily="34" charset="-122"/>
              </a:rPr>
              <a:t>组成。物块既能在弹簧上</a:t>
            </a:r>
            <a:r>
              <a:rPr lang="zh-CN" altLang="en-US" sz="2000" b="1" dirty="0">
                <a:solidFill>
                  <a:srgbClr val="FF0000"/>
                </a:solidFill>
                <a:latin typeface="微软雅黑" panose="020B0503020204020204" pitchFamily="34" charset="-122"/>
                <a:ea typeface="微软雅黑" panose="020B0503020204020204" pitchFamily="34" charset="-122"/>
              </a:rPr>
              <a:t>上下运动</a:t>
            </a:r>
            <a:r>
              <a:rPr lang="zh-CN" altLang="en-US" sz="2000" b="1" dirty="0">
                <a:latin typeface="微软雅黑" panose="020B0503020204020204" pitchFamily="34" charset="-122"/>
                <a:ea typeface="微软雅黑" panose="020B0503020204020204" pitchFamily="34" charset="-122"/>
              </a:rPr>
              <a:t>，又能</a:t>
            </a:r>
            <a:r>
              <a:rPr lang="zh-CN" altLang="en-US" sz="2000" b="1" dirty="0">
                <a:solidFill>
                  <a:srgbClr val="FF0000"/>
                </a:solidFill>
                <a:latin typeface="微软雅黑" panose="020B0503020204020204" pitchFamily="34" charset="-122"/>
                <a:ea typeface="微软雅黑" panose="020B0503020204020204" pitchFamily="34" charset="-122"/>
              </a:rPr>
              <a:t>绕其竖直轴旋转</a:t>
            </a:r>
            <a:r>
              <a:rPr lang="zh-CN" altLang="en-US" sz="2000" b="1" dirty="0">
                <a:latin typeface="微软雅黑" panose="020B0503020204020204" pitchFamily="34" charset="-122"/>
                <a:ea typeface="微软雅黑" panose="020B0503020204020204" pitchFamily="34" charset="-122"/>
              </a:rPr>
              <a:t>。探究这种摆的运动行为，以及它是如何依赖于相关参数的。</a:t>
            </a:r>
            <a:endParaRPr lang="zh-CN" altLang="en-US" sz="2000" b="1" dirty="0">
              <a:latin typeface="微软雅黑" panose="020B0503020204020204" pitchFamily="34" charset="-122"/>
              <a:ea typeface="微软雅黑" panose="020B0503020204020204" pitchFamily="34" charset="-122"/>
            </a:endParaRPr>
          </a:p>
        </p:txBody>
      </p:sp>
      <p:grpSp>
        <p:nvGrpSpPr>
          <p:cNvPr id="8" name="组合 7"/>
          <p:cNvGrpSpPr/>
          <p:nvPr/>
        </p:nvGrpSpPr>
        <p:grpSpPr>
          <a:xfrm>
            <a:off x="-1" y="392113"/>
            <a:ext cx="3254189" cy="523220"/>
            <a:chOff x="0" y="392113"/>
            <a:chExt cx="2650036" cy="523220"/>
          </a:xfrm>
        </p:grpSpPr>
        <p:sp>
          <p:nvSpPr>
            <p:cNvPr id="9" name="文本框 10"/>
            <p:cNvSpPr txBox="1">
              <a:spLocks noChangeArrowheads="1"/>
            </p:cNvSpPr>
            <p:nvPr/>
          </p:nvSpPr>
          <p:spPr bwMode="auto">
            <a:xfrm>
              <a:off x="343837" y="392113"/>
              <a:ext cx="230619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题目重述</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 name="矩形 1"/>
            <p:cNvSpPr>
              <a:spLocks noChangeArrowheads="1"/>
            </p:cNvSpPr>
            <p:nvPr/>
          </p:nvSpPr>
          <p:spPr bwMode="auto">
            <a:xfrm>
              <a:off x="0" y="392113"/>
              <a:ext cx="290286" cy="463550"/>
            </a:xfrm>
            <a:prstGeom prst="rect">
              <a:avLst/>
            </a:prstGeom>
            <a:solidFill>
              <a:srgbClr val="9A0000"/>
            </a:soli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3" name="图片 2"/>
          <p:cNvPicPr>
            <a:picLocks noChangeAspect="1"/>
          </p:cNvPicPr>
          <p:nvPr/>
        </p:nvPicPr>
        <p:blipFill>
          <a:blip r:embed="rId1"/>
          <a:stretch>
            <a:fillRect/>
          </a:stretch>
        </p:blipFill>
        <p:spPr>
          <a:xfrm>
            <a:off x="6616065" y="3088640"/>
            <a:ext cx="3750310" cy="28041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ABB8F404-4D68-4CF1-A1D1-4545FFCFAAD6}" type="slidenum">
              <a:rPr lang="zh-CN" altLang="en-US" smtClean="0"/>
            </a:fld>
            <a:endParaRPr lang="zh-CN" altLang="en-US" dirty="0"/>
          </a:p>
        </p:txBody>
      </p:sp>
      <p:sp>
        <p:nvSpPr>
          <p:cNvPr id="13" name="菱形 12"/>
          <p:cNvSpPr/>
          <p:nvPr/>
        </p:nvSpPr>
        <p:spPr>
          <a:xfrm>
            <a:off x="3057934" y="2107066"/>
            <a:ext cx="2643868" cy="2643868"/>
          </a:xfrm>
          <a:prstGeom prst="diamond">
            <a:avLst/>
          </a:prstGeom>
          <a:noFill/>
          <a:ln w="2857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菱形 13"/>
          <p:cNvSpPr/>
          <p:nvPr/>
        </p:nvSpPr>
        <p:spPr>
          <a:xfrm>
            <a:off x="5132161" y="1279752"/>
            <a:ext cx="4298496" cy="4298496"/>
          </a:xfrm>
          <a:prstGeom prst="diamond">
            <a:avLst/>
          </a:prstGeom>
          <a:noFill/>
          <a:ln w="2857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A72020"/>
              </a:solidFill>
            </a:endParaRPr>
          </a:p>
        </p:txBody>
      </p:sp>
      <p:sp>
        <p:nvSpPr>
          <p:cNvPr id="15" name="文本框 14"/>
          <p:cNvSpPr txBox="1"/>
          <p:nvPr/>
        </p:nvSpPr>
        <p:spPr>
          <a:xfrm>
            <a:off x="3822112" y="2321004"/>
            <a:ext cx="1057092" cy="2214880"/>
          </a:xfrm>
          <a:prstGeom prst="rect">
            <a:avLst/>
          </a:prstGeom>
          <a:noFill/>
        </p:spPr>
        <p:txBody>
          <a:bodyPr wrap="square" rtlCol="0">
            <a:spAutoFit/>
            <a:scene3d>
              <a:camera prst="orthographicFront"/>
              <a:lightRig rig="threePt" dir="t"/>
            </a:scene3d>
            <a:sp3d contourW="12700"/>
          </a:bodyPr>
          <a:lstStyle/>
          <a:p>
            <a:pPr algn="ctr"/>
            <a:r>
              <a:rPr lang="en-US" altLang="zh-CN" sz="13800" dirty="0">
                <a:solidFill>
                  <a:srgbClr val="A72020"/>
                </a:solidFill>
                <a:latin typeface="Agency FB" panose="020B0503020202020204" pitchFamily="34" charset="0"/>
              </a:rPr>
              <a:t>2</a:t>
            </a:r>
            <a:endParaRPr lang="en-US" altLang="zh-CN" sz="13800" dirty="0">
              <a:solidFill>
                <a:srgbClr val="A72020"/>
              </a:solidFill>
              <a:latin typeface="Agency FB" panose="020B0503020202020204" pitchFamily="34" charset="0"/>
            </a:endParaRPr>
          </a:p>
        </p:txBody>
      </p:sp>
      <p:sp>
        <p:nvSpPr>
          <p:cNvPr id="16" name="文本框 15"/>
          <p:cNvSpPr txBox="1"/>
          <p:nvPr/>
        </p:nvSpPr>
        <p:spPr>
          <a:xfrm>
            <a:off x="5402262" y="2959430"/>
            <a:ext cx="3904343" cy="829945"/>
          </a:xfrm>
          <a:prstGeom prst="rect">
            <a:avLst/>
          </a:prstGeom>
          <a:noFill/>
        </p:spPr>
        <p:txBody>
          <a:bodyPr wrap="square" rtlCol="0">
            <a:spAutoFit/>
            <a:scene3d>
              <a:camera prst="orthographicFront"/>
              <a:lightRig rig="threePt" dir="t"/>
            </a:scene3d>
            <a:sp3d contourW="12700"/>
          </a:bodyPr>
          <a:lstStyle>
            <a:defPPr>
              <a:defRPr lang="en-US"/>
            </a:defPPr>
            <a:lvl1pPr algn="ctr">
              <a:defRPr sz="2800" b="1">
                <a:solidFill>
                  <a:schemeClr val="tx1">
                    <a:lumMod val="75000"/>
                    <a:lumOff val="25000"/>
                  </a:schemeClr>
                </a:solidFill>
                <a:latin typeface="Century Gothic" panose="020B0502020202020204" pitchFamily="34" charset="0"/>
              </a:defRPr>
            </a:lvl1pPr>
          </a:lstStyle>
          <a:p>
            <a:r>
              <a:rPr lang="zh-CN" altLang="en-US" sz="4800" dirty="0">
                <a:solidFill>
                  <a:srgbClr val="A72020"/>
                </a:solidFill>
                <a:latin typeface="微软雅黑" panose="020B0503020204020204" pitchFamily="34" charset="-122"/>
                <a:ea typeface="微软雅黑" panose="020B0503020204020204" pitchFamily="34" charset="-122"/>
              </a:rPr>
              <a:t>初步探究</a:t>
            </a:r>
            <a:endParaRPr lang="zh-CN" altLang="en-US" sz="4800" dirty="0">
              <a:solidFill>
                <a:srgbClr val="A72020"/>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3692525" y="3283585"/>
            <a:ext cx="1374775" cy="398780"/>
          </a:xfrm>
          <a:prstGeom prst="rect">
            <a:avLst/>
          </a:prstGeom>
          <a:solidFill>
            <a:srgbClr val="FCFCFC"/>
          </a:solidFill>
        </p:spPr>
        <p:txBody>
          <a:bodyPr wrap="square" rtlCol="0">
            <a:spAutoFit/>
            <a:scene3d>
              <a:camera prst="orthographicFront"/>
              <a:lightRig rig="threePt" dir="t"/>
            </a:scene3d>
            <a:sp3d contourW="12700"/>
          </a:bodyPr>
          <a:lstStyle/>
          <a:p>
            <a:pPr algn="ctr"/>
            <a:r>
              <a:rPr lang="en-US" altLang="zh-CN" sz="2000" b="1" dirty="0">
                <a:solidFill>
                  <a:srgbClr val="A72020"/>
                </a:solidFill>
                <a:latin typeface="Century Gothic" panose="020B0502020202020204" pitchFamily="34" charset="0"/>
              </a:rPr>
              <a:t>PART 02</a:t>
            </a:r>
            <a:endParaRPr lang="en-US" altLang="zh-CN" sz="2000" b="1" dirty="0">
              <a:solidFill>
                <a:srgbClr val="A72020"/>
              </a:solidFill>
              <a:latin typeface="Century Gothic" panose="020B0502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1000"/>
                                        <p:tgtEl>
                                          <p:spTgt spid="16"/>
                                        </p:tgtEl>
                                      </p:cBhvr>
                                    </p:animEffect>
                                    <p:anim calcmode="lin" valueType="num">
                                      <p:cBhvr>
                                        <p:cTn id="23" dur="1000" fill="hold"/>
                                        <p:tgtEl>
                                          <p:spTgt spid="16"/>
                                        </p:tgtEl>
                                        <p:attrNameLst>
                                          <p:attrName>ppt_x</p:attrName>
                                        </p:attrNameLst>
                                      </p:cBhvr>
                                      <p:tavLst>
                                        <p:tav tm="0">
                                          <p:val>
                                            <p:strVal val="#ppt_x"/>
                                          </p:val>
                                        </p:tav>
                                        <p:tav tm="100000">
                                          <p:val>
                                            <p:strVal val="#ppt_x"/>
                                          </p:val>
                                        </p:tav>
                                      </p:tavLst>
                                    </p:anim>
                                    <p:anim calcmode="lin" valueType="num">
                                      <p:cBhvr>
                                        <p:cTn id="24" dur="1000" fill="hold"/>
                                        <p:tgtEl>
                                          <p:spTgt spid="1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1000"/>
                                        <p:tgtEl>
                                          <p:spTgt spid="17"/>
                                        </p:tgtEl>
                                      </p:cBhvr>
                                    </p:animEffect>
                                    <p:anim calcmode="lin" valueType="num">
                                      <p:cBhvr>
                                        <p:cTn id="28" dur="1000" fill="hold"/>
                                        <p:tgtEl>
                                          <p:spTgt spid="17"/>
                                        </p:tgtEl>
                                        <p:attrNameLst>
                                          <p:attrName>ppt_x</p:attrName>
                                        </p:attrNameLst>
                                      </p:cBhvr>
                                      <p:tavLst>
                                        <p:tav tm="0">
                                          <p:val>
                                            <p:strVal val="#ppt_x"/>
                                          </p:val>
                                        </p:tav>
                                        <p:tav tm="100000">
                                          <p:val>
                                            <p:strVal val="#ppt_x"/>
                                          </p:val>
                                        </p:tav>
                                      </p:tavLst>
                                    </p:anim>
                                    <p:anim calcmode="lin" valueType="num">
                                      <p:cBhvr>
                                        <p:cTn id="2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1" y="392113"/>
            <a:ext cx="3254189" cy="523220"/>
            <a:chOff x="0" y="392113"/>
            <a:chExt cx="2650036" cy="523220"/>
          </a:xfrm>
        </p:grpSpPr>
        <p:sp>
          <p:nvSpPr>
            <p:cNvPr id="9" name="文本框 10"/>
            <p:cNvSpPr txBox="1">
              <a:spLocks noChangeArrowheads="1"/>
            </p:cNvSpPr>
            <p:nvPr/>
          </p:nvSpPr>
          <p:spPr bwMode="auto">
            <a:xfrm>
              <a:off x="343837" y="392113"/>
              <a:ext cx="230619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现象重现</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 name="矩形 1"/>
            <p:cNvSpPr>
              <a:spLocks noChangeArrowheads="1"/>
            </p:cNvSpPr>
            <p:nvPr/>
          </p:nvSpPr>
          <p:spPr bwMode="auto">
            <a:xfrm>
              <a:off x="0" y="392113"/>
              <a:ext cx="290286" cy="463550"/>
            </a:xfrm>
            <a:prstGeom prst="rect">
              <a:avLst/>
            </a:prstGeom>
            <a:solidFill>
              <a:srgbClr val="9A0000"/>
            </a:soli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2" name="灯片编号占位符 1"/>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BB8F404-4D68-4CF1-A1D1-4545FFCFAAD6}" type="slidenum">
              <a:rPr kumimoji="0" lang="zh-CN" altLang="en-US" sz="2400" b="0" i="0" u="none" strike="noStrike" kern="1200" cap="none" spc="0" normalizeH="0" baseline="0" noProof="0" smtClean="0">
                <a:ln>
                  <a:noFill/>
                </a:ln>
                <a:solidFill>
                  <a:srgbClr val="9A0000"/>
                </a:solidFill>
                <a:effectLst/>
                <a:uLnTx/>
                <a:uFillTx/>
                <a:latin typeface="Calibri" panose="020F0502020204030204" pitchFamily="34" charset="0"/>
                <a:ea typeface="宋体" panose="02010600030101010101" pitchFamily="2" charset="-122"/>
                <a:cs typeface="+mn-cs"/>
              </a:rPr>
            </a:fld>
            <a:endParaRPr kumimoji="0" lang="zh-CN" altLang="en-US" sz="2400" b="0" i="0" u="none" strike="noStrike" kern="1200" cap="none" spc="0" normalizeH="0" baseline="0" noProof="0">
              <a:ln>
                <a:noFill/>
              </a:ln>
              <a:solidFill>
                <a:srgbClr val="9A00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BB8F404-4D68-4CF1-A1D1-4545FFCFAAD6}" type="slidenum">
              <a:rPr kumimoji="0" lang="zh-CN" altLang="en-US" sz="2400" b="0" i="0" u="none" strike="noStrike" kern="1200" cap="none" spc="0" normalizeH="0" baseline="0" noProof="0" smtClean="0">
                <a:ln>
                  <a:noFill/>
                </a:ln>
                <a:solidFill>
                  <a:srgbClr val="9A0000"/>
                </a:solidFill>
                <a:effectLst/>
                <a:uLnTx/>
                <a:uFillTx/>
                <a:latin typeface="Calibri" panose="020F0502020204030204" pitchFamily="34" charset="0"/>
                <a:ea typeface="宋体" panose="02010600030101010101" pitchFamily="2" charset="-122"/>
                <a:cs typeface="+mn-cs"/>
              </a:rPr>
            </a:fld>
            <a:endParaRPr kumimoji="0" lang="zh-CN" altLang="en-US" sz="2400" b="0" i="0" u="none" strike="noStrike" kern="1200" cap="none" spc="0" normalizeH="0" baseline="0" noProof="0">
              <a:ln>
                <a:noFill/>
              </a:ln>
              <a:solidFill>
                <a:srgbClr val="9A0000"/>
              </a:solidFill>
              <a:effectLst/>
              <a:uLnTx/>
              <a:uFillTx/>
              <a:latin typeface="Calibri" panose="020F0502020204030204" pitchFamily="34" charset="0"/>
              <a:ea typeface="宋体" panose="02010600030101010101" pitchFamily="2" charset="-122"/>
              <a:cs typeface="+mn-cs"/>
            </a:endParaRPr>
          </a:p>
        </p:txBody>
      </p:sp>
      <p:grpSp>
        <p:nvGrpSpPr>
          <p:cNvPr id="11" name="组合 10"/>
          <p:cNvGrpSpPr/>
          <p:nvPr/>
        </p:nvGrpSpPr>
        <p:grpSpPr>
          <a:xfrm>
            <a:off x="-1" y="392113"/>
            <a:ext cx="4562273" cy="523220"/>
            <a:chOff x="0" y="392113"/>
            <a:chExt cx="3715269" cy="523220"/>
          </a:xfrm>
        </p:grpSpPr>
        <p:sp>
          <p:nvSpPr>
            <p:cNvPr id="12" name="文本框 10"/>
            <p:cNvSpPr txBox="1">
              <a:spLocks noChangeArrowheads="1"/>
            </p:cNvSpPr>
            <p:nvPr/>
          </p:nvSpPr>
          <p:spPr bwMode="auto">
            <a:xfrm>
              <a:off x="343837" y="392113"/>
              <a:ext cx="337143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lang="zh-CN" altLang="en-US" sz="2800" b="1" dirty="0">
                  <a:solidFill>
                    <a:srgbClr val="000000"/>
                  </a:solidFill>
                  <a:latin typeface="微软雅黑" panose="020B0503020204020204" pitchFamily="34" charset="-122"/>
                  <a:ea typeface="微软雅黑" panose="020B0503020204020204" pitchFamily="34" charset="-122"/>
                </a:rPr>
                <a:t>实验现象观察、初步规律</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 name="矩形 1"/>
            <p:cNvSpPr>
              <a:spLocks noChangeArrowheads="1"/>
            </p:cNvSpPr>
            <p:nvPr/>
          </p:nvSpPr>
          <p:spPr bwMode="auto">
            <a:xfrm>
              <a:off x="0" y="392113"/>
              <a:ext cx="290286" cy="463550"/>
            </a:xfrm>
            <a:prstGeom prst="rect">
              <a:avLst/>
            </a:prstGeom>
            <a:solidFill>
              <a:srgbClr val="9A0000"/>
            </a:soli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6" name="文本框 5"/>
          <p:cNvSpPr txBox="1"/>
          <p:nvPr/>
        </p:nvSpPr>
        <p:spPr>
          <a:xfrm>
            <a:off x="1379406" y="1416647"/>
            <a:ext cx="9253220" cy="2676525"/>
          </a:xfrm>
          <a:prstGeom prst="rect">
            <a:avLst/>
          </a:prstGeom>
          <a:noFill/>
        </p:spPr>
        <p:txBody>
          <a:bodyPr wrap="square" rtlCol="0">
            <a:spAutoFit/>
          </a:bodyPr>
          <a:lstStyle/>
          <a:p>
            <a:r>
              <a:rPr lang="en-US" altLang="zh-CN" sz="2800" dirty="0">
                <a:latin typeface="微软雅黑" panose="020B0503020204020204" pitchFamily="34" charset="-122"/>
                <a:ea typeface="微软雅黑" panose="020B0503020204020204" pitchFamily="34" charset="-122"/>
              </a:rPr>
              <a:t>1. </a:t>
            </a:r>
            <a:r>
              <a:rPr lang="zh-CN" altLang="en-US" sz="2800" dirty="0">
                <a:latin typeface="微软雅黑" panose="020B0503020204020204" pitchFamily="34" charset="-122"/>
                <a:ea typeface="微软雅黑" panose="020B0503020204020204" pitchFamily="34" charset="-122"/>
              </a:rPr>
              <a:t>韦氏摆在运动过程中</a:t>
            </a:r>
            <a:r>
              <a:rPr lang="zh-CN" altLang="en-US" sz="2800" dirty="0">
                <a:solidFill>
                  <a:schemeClr val="accent1"/>
                </a:solidFill>
                <a:latin typeface="微软雅黑" panose="020B0503020204020204" pitchFamily="34" charset="-122"/>
                <a:ea typeface="微软雅黑" panose="020B0503020204020204" pitchFamily="34" charset="-122"/>
              </a:rPr>
              <a:t>同时</a:t>
            </a:r>
            <a:r>
              <a:rPr lang="zh-CN" altLang="en-US" sz="2800" dirty="0">
                <a:latin typeface="微软雅黑" panose="020B0503020204020204" pitchFamily="34" charset="-122"/>
                <a:ea typeface="微软雅黑" panose="020B0503020204020204" pitchFamily="34" charset="-122"/>
              </a:rPr>
              <a:t>进行上下振动和扭转运动。</a:t>
            </a:r>
            <a:endParaRPr lang="zh-CN" altLang="en-US" sz="2800" dirty="0">
              <a:latin typeface="微软雅黑" panose="020B0503020204020204" pitchFamily="34" charset="-122"/>
              <a:ea typeface="微软雅黑" panose="020B0503020204020204" pitchFamily="34" charset="-122"/>
            </a:endParaRPr>
          </a:p>
          <a:p>
            <a:endParaRPr lang="zh-CN" altLang="en-US" sz="2800" dirty="0">
              <a:latin typeface="微软雅黑" panose="020B0503020204020204" pitchFamily="34" charset="-122"/>
              <a:ea typeface="微软雅黑" panose="020B0503020204020204" pitchFamily="34" charset="-122"/>
            </a:endParaRPr>
          </a:p>
          <a:p>
            <a:r>
              <a:rPr lang="en-US" altLang="zh-CN" sz="2800" dirty="0">
                <a:latin typeface="微软雅黑" panose="020B0503020204020204" pitchFamily="34" charset="-122"/>
                <a:ea typeface="微软雅黑" panose="020B0503020204020204" pitchFamily="34" charset="-122"/>
              </a:rPr>
              <a:t>2. </a:t>
            </a:r>
            <a:r>
              <a:rPr lang="zh-CN" altLang="en-US" sz="2800" dirty="0">
                <a:latin typeface="微软雅黑" panose="020B0503020204020204" pitchFamily="34" charset="-122"/>
                <a:ea typeface="微软雅黑" panose="020B0503020204020204" pitchFamily="34" charset="-122"/>
              </a:rPr>
              <a:t>这两种运动的振幅是不断变化的，且在上下振动振幅达到最大时，扭转运动振幅达到最小；上下振动振幅达到最小时，扭转运动振幅达到最大。</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这说明两种运动间存在能量的转换。</a:t>
            </a: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BB8F404-4D68-4CF1-A1D1-4545FFCFAAD6}" type="slidenum">
              <a:rPr kumimoji="0" lang="zh-CN" altLang="en-US" sz="2400" b="0" i="0" u="none" strike="noStrike" kern="1200" cap="none" spc="0" normalizeH="0" baseline="0" noProof="0" smtClean="0">
                <a:ln>
                  <a:noFill/>
                </a:ln>
                <a:solidFill>
                  <a:srgbClr val="9A0000"/>
                </a:solidFill>
                <a:effectLst/>
                <a:uLnTx/>
                <a:uFillTx/>
                <a:latin typeface="Calibri" panose="020F0502020204030204" pitchFamily="34" charset="0"/>
                <a:ea typeface="宋体" panose="02010600030101010101" pitchFamily="2" charset="-122"/>
                <a:cs typeface="+mn-cs"/>
              </a:rPr>
            </a:fld>
            <a:endParaRPr kumimoji="0" lang="zh-CN" altLang="en-US" sz="2400" b="0" i="0" u="none" strike="noStrike" kern="1200" cap="none" spc="0" normalizeH="0" baseline="0" noProof="0">
              <a:ln>
                <a:noFill/>
              </a:ln>
              <a:solidFill>
                <a:srgbClr val="9A0000"/>
              </a:solidFill>
              <a:effectLst/>
              <a:uLnTx/>
              <a:uFillTx/>
              <a:latin typeface="Calibri" panose="020F0502020204030204" pitchFamily="34" charset="0"/>
              <a:ea typeface="宋体" panose="02010600030101010101" pitchFamily="2" charset="-122"/>
              <a:cs typeface="+mn-cs"/>
            </a:endParaRPr>
          </a:p>
        </p:txBody>
      </p:sp>
      <p:grpSp>
        <p:nvGrpSpPr>
          <p:cNvPr id="11" name="组合 10"/>
          <p:cNvGrpSpPr/>
          <p:nvPr/>
        </p:nvGrpSpPr>
        <p:grpSpPr>
          <a:xfrm>
            <a:off x="-1" y="392113"/>
            <a:ext cx="3254189" cy="523220"/>
            <a:chOff x="0" y="392113"/>
            <a:chExt cx="2650036" cy="523220"/>
          </a:xfrm>
        </p:grpSpPr>
        <p:sp>
          <p:nvSpPr>
            <p:cNvPr id="12" name="文本框 10"/>
            <p:cNvSpPr txBox="1">
              <a:spLocks noChangeArrowheads="1"/>
            </p:cNvSpPr>
            <p:nvPr/>
          </p:nvSpPr>
          <p:spPr bwMode="auto">
            <a:xfrm>
              <a:off x="343837" y="392113"/>
              <a:ext cx="230619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变量分析</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 name="矩形 1"/>
            <p:cNvSpPr>
              <a:spLocks noChangeArrowheads="1"/>
            </p:cNvSpPr>
            <p:nvPr/>
          </p:nvSpPr>
          <p:spPr bwMode="auto">
            <a:xfrm>
              <a:off x="0" y="392113"/>
              <a:ext cx="290286" cy="463550"/>
            </a:xfrm>
            <a:prstGeom prst="rect">
              <a:avLst/>
            </a:prstGeom>
            <a:solidFill>
              <a:srgbClr val="9A0000"/>
            </a:soli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mc:AlternateContent xmlns:mc="http://schemas.openxmlformats.org/markup-compatibility/2006">
        <mc:Choice xmlns:a14="http://schemas.microsoft.com/office/drawing/2010/main" Requires="a14">
          <p:sp>
            <p:nvSpPr>
              <p:cNvPr id="22" name="文本框 21"/>
              <p:cNvSpPr txBox="1"/>
              <p:nvPr/>
            </p:nvSpPr>
            <p:spPr>
              <a:xfrm>
                <a:off x="779826" y="1192276"/>
                <a:ext cx="5389664" cy="3046095"/>
              </a:xfrm>
              <a:prstGeom prst="rect">
                <a:avLst/>
              </a:prstGeom>
              <a:noFill/>
            </p:spPr>
            <p:txBody>
              <a:bodyPr wrap="square" rtlCol="0">
                <a:spAutoFit/>
              </a:bodyPr>
              <a:lstStyle/>
              <a:p>
                <a:pPr marL="457200" indent="-457200">
                  <a:buFont typeface="Arial" panose="020B0604020202020204" pitchFamily="34" charset="0"/>
                  <a:buChar char="•"/>
                </a:pPr>
                <a:r>
                  <a:rPr lang="zh-CN" altLang="en-US" sz="3200" dirty="0">
                    <a:latin typeface="Times New Roman" panose="02020603050405020304" pitchFamily="18" charset="0"/>
                    <a:ea typeface="微软雅黑" panose="020B0503020204020204" pitchFamily="34" charset="-122"/>
                    <a:cs typeface="Times New Roman" panose="02020603050405020304" pitchFamily="18" charset="0"/>
                  </a:rPr>
                  <a:t>摆的质量 </a:t>
                </a:r>
                <a:r>
                  <a:rPr lang="en-US" altLang="zh-CN" sz="320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3200"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3200" dirty="0">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buFont typeface="Arial" panose="020B0604020202020204" pitchFamily="34" charset="0"/>
                  <a:buChar char="•"/>
                </a:pPr>
                <a:r>
                  <a:rPr lang="zh-CN" altLang="en-US" sz="3200" dirty="0">
                    <a:latin typeface="Times New Roman" panose="02020603050405020304" pitchFamily="18" charset="0"/>
                    <a:ea typeface="微软雅黑" panose="020B0503020204020204" pitchFamily="34" charset="-122"/>
                    <a:cs typeface="Times New Roman" panose="02020603050405020304" pitchFamily="18" charset="0"/>
                    <a:sym typeface="+mn-ea"/>
                  </a:rPr>
                  <a:t>摆的转动惯量</a:t>
                </a:r>
                <a:r>
                  <a:rPr lang="zh-CN" altLang="en-US" sz="3200" dirty="0">
                    <a:latin typeface="Times New Roman" panose="02020603050405020304" pitchFamily="18" charset="0"/>
                    <a:ea typeface="微软雅黑" panose="020B0503020204020204" pitchFamily="34" charset="-122"/>
                    <a:cs typeface="Times New Roman" panose="02020603050405020304" pitchFamily="18" charset="0"/>
                  </a:rPr>
                  <a:t> </a:t>
                </a:r>
                <a14:m>
                  <m:oMath xmlns:m="http://schemas.openxmlformats.org/officeDocument/2006/math">
                    <m:r>
                      <a:rPr lang="en-US" altLang="zh-CN" sz="3200" i="1" dirty="0">
                        <a:latin typeface="Cambria Math" panose="02040503050406030204" pitchFamily="18" charset="0"/>
                        <a:ea typeface="微软雅黑" panose="020B0503020204020204" pitchFamily="34" charset="-122"/>
                        <a:cs typeface="Cambria Math" panose="02040503050406030204" pitchFamily="18" charset="0"/>
                      </a:rPr>
                      <m:t>𝐼</m:t>
                    </m:r>
                  </m:oMath>
                </a14:m>
                <a:endParaRPr lang="en-US" altLang="zh-CN" sz="3200" i="1" dirty="0">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buFont typeface="Arial" panose="020B0604020202020204" pitchFamily="34" charset="0"/>
                  <a:buChar char="•"/>
                </a:pPr>
                <a:r>
                  <a:rPr lang="zh-CN" altLang="en-US" sz="3200" dirty="0">
                    <a:latin typeface="微软雅黑" panose="020B0503020204020204" pitchFamily="34" charset="-122"/>
                    <a:ea typeface="微软雅黑" panose="020B0503020204020204" pitchFamily="34" charset="-122"/>
                  </a:rPr>
                  <a:t>弹簧的劲度系数</a:t>
                </a:r>
                <a:r>
                  <a:rPr lang="en-US" altLang="zh-CN" sz="3200" dirty="0">
                    <a:latin typeface="微软雅黑" panose="020B0503020204020204" pitchFamily="34" charset="-122"/>
                    <a:ea typeface="微软雅黑" panose="020B0503020204020204" pitchFamily="34" charset="-122"/>
                  </a:rPr>
                  <a:t> </a:t>
                </a:r>
                <a14:m>
                  <m:oMath xmlns:m="http://schemas.openxmlformats.org/officeDocument/2006/math">
                    <m:r>
                      <a:rPr lang="en-US" altLang="zh-CN" sz="3200" i="1" dirty="0">
                        <a:latin typeface="Cambria Math" panose="02040503050406030204" pitchFamily="18" charset="0"/>
                        <a:ea typeface="微软雅黑" panose="020B0503020204020204" pitchFamily="34" charset="-122"/>
                        <a:cs typeface="Cambria Math" panose="02040503050406030204" pitchFamily="18" charset="0"/>
                      </a:rPr>
                      <m:t>𝑘</m:t>
                    </m:r>
                  </m:oMath>
                </a14:m>
                <a:endParaRPr lang="en-US" altLang="zh-CN" sz="3200" i="1" dirty="0">
                  <a:latin typeface="Cambria Math" panose="02040503050406030204" pitchFamily="18" charset="0"/>
                  <a:ea typeface="微软雅黑" panose="020B0503020204020204" pitchFamily="34" charset="-122"/>
                  <a:cs typeface="Cambria Math" panose="02040503050406030204" pitchFamily="18" charset="0"/>
                </a:endParaRPr>
              </a:p>
              <a:p>
                <a:pPr marL="457200" indent="-457200">
                  <a:buFont typeface="Arial" panose="020B0604020202020204" pitchFamily="34" charset="0"/>
                  <a:buChar char="•"/>
                </a:pPr>
                <a:r>
                  <a:rPr lang="zh-CN" altLang="en-US" sz="3200" dirty="0">
                    <a:latin typeface="微软雅黑" panose="020B0503020204020204" pitchFamily="34" charset="-122"/>
                    <a:ea typeface="微软雅黑" panose="020B0503020204020204" pitchFamily="34" charset="-122"/>
                    <a:sym typeface="+mn-ea"/>
                  </a:rPr>
                  <a:t>弹簧的扭转系数</a:t>
                </a:r>
                <a:r>
                  <a:rPr lang="en-US" altLang="zh-CN" sz="3200" dirty="0">
                    <a:latin typeface="微软雅黑" panose="020B0503020204020204" pitchFamily="34" charset="-122"/>
                    <a:ea typeface="微软雅黑" panose="020B0503020204020204" pitchFamily="34" charset="-122"/>
                    <a:sym typeface="+mn-ea"/>
                  </a:rPr>
                  <a:t> </a:t>
                </a:r>
                <a14:m>
                  <m:oMath xmlns:m="http://schemas.openxmlformats.org/officeDocument/2006/math">
                    <m:r>
                      <a:rPr lang="en-US" altLang="zh-CN" sz="3200" i="1" dirty="0">
                        <a:latin typeface="Cambria Math" panose="02040503050406030204" pitchFamily="18" charset="0"/>
                        <a:ea typeface="微软雅黑" panose="020B0503020204020204" pitchFamily="34" charset="-122"/>
                        <a:cs typeface="Cambria Math" panose="02040503050406030204" pitchFamily="18" charset="0"/>
                        <a:sym typeface="+mn-ea"/>
                      </a:rPr>
                      <m:t>𝛿</m:t>
                    </m:r>
                  </m:oMath>
                </a14:m>
                <a:endParaRPr lang="en-US" altLang="zh-CN" sz="3200" dirty="0">
                  <a:latin typeface="微软雅黑" panose="020B0503020204020204" pitchFamily="34" charset="-122"/>
                  <a:ea typeface="微软雅黑" panose="020B0503020204020204" pitchFamily="34" charset="-122"/>
                </a:endParaRPr>
              </a:p>
              <a:p>
                <a:pPr marL="457200" indent="-457200">
                  <a:buFont typeface="Arial" panose="020B0604020202020204" pitchFamily="34" charset="0"/>
                  <a:buChar char="•"/>
                </a:pPr>
                <a:r>
                  <a:rPr lang="zh-CN" altLang="en-US" sz="3200" dirty="0">
                    <a:latin typeface="微软雅黑" panose="020B0503020204020204" pitchFamily="34" charset="-122"/>
                    <a:ea typeface="微软雅黑" panose="020B0503020204020204" pitchFamily="34" charset="-122"/>
                  </a:rPr>
                  <a:t>初始纵向位移</a:t>
                </a:r>
                <a:r>
                  <a:rPr lang="en-US" altLang="zh-CN" sz="320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32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3200" i="1" dirty="0">
                            <a:latin typeface="Cambria Math" panose="02040503050406030204" pitchFamily="18" charset="0"/>
                            <a:ea typeface="微软雅黑" panose="020B0503020204020204" pitchFamily="34" charset="-122"/>
                            <a:cs typeface="Cambria Math" panose="02040503050406030204" pitchFamily="18" charset="0"/>
                          </a:rPr>
                          <m:t>𝑧</m:t>
                        </m:r>
                      </m:e>
                      <m:sub>
                        <m:r>
                          <a:rPr lang="en-US" altLang="zh-CN" sz="3200" i="1" dirty="0">
                            <a:latin typeface="Cambria Math" panose="02040503050406030204" pitchFamily="18" charset="0"/>
                            <a:ea typeface="微软雅黑" panose="020B0503020204020204" pitchFamily="34" charset="-122"/>
                            <a:cs typeface="Cambria Math" panose="02040503050406030204" pitchFamily="18" charset="0"/>
                          </a:rPr>
                          <m:t>0</m:t>
                        </m:r>
                      </m:sub>
                    </m:sSub>
                  </m:oMath>
                </a14:m>
                <a:endParaRPr lang="en-US" altLang="zh-CN" sz="3200" i="1" dirty="0">
                  <a:latin typeface="Cambria Math" panose="02040503050406030204" pitchFamily="18" charset="0"/>
                  <a:ea typeface="微软雅黑" panose="020B0503020204020204" pitchFamily="34" charset="-122"/>
                  <a:cs typeface="Cambria Math" panose="02040503050406030204" pitchFamily="18" charset="0"/>
                </a:endParaRPr>
              </a:p>
              <a:p>
                <a:pPr marL="457200" indent="-457200">
                  <a:buFont typeface="Arial" panose="020B0604020202020204" pitchFamily="34" charset="0"/>
                  <a:buChar char="•"/>
                </a:pPr>
                <a:r>
                  <a:rPr lang="zh-CN" altLang="en-US" sz="3200" dirty="0">
                    <a:latin typeface="微软雅黑" panose="020B0503020204020204" pitchFamily="34" charset="-122"/>
                    <a:ea typeface="微软雅黑" panose="020B0503020204020204" pitchFamily="34" charset="-122"/>
                  </a:rPr>
                  <a:t>初始扭转角度</a:t>
                </a:r>
                <a:r>
                  <a:rPr lang="en-US" altLang="zh-CN" sz="320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32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3200" i="1" dirty="0">
                            <a:latin typeface="Cambria Math" panose="02040503050406030204" pitchFamily="18" charset="0"/>
                            <a:ea typeface="微软雅黑" panose="020B0503020204020204" pitchFamily="34" charset="-122"/>
                            <a:cs typeface="Cambria Math" panose="02040503050406030204" pitchFamily="18" charset="0"/>
                          </a:rPr>
                          <m:t>𝜃</m:t>
                        </m:r>
                      </m:e>
                      <m:sub>
                        <m:r>
                          <a:rPr lang="en-US" altLang="zh-CN" sz="3200" i="1" dirty="0">
                            <a:latin typeface="Cambria Math" panose="02040503050406030204" pitchFamily="18" charset="0"/>
                            <a:ea typeface="微软雅黑" panose="020B0503020204020204" pitchFamily="34" charset="-122"/>
                            <a:cs typeface="Cambria Math" panose="02040503050406030204" pitchFamily="18" charset="0"/>
                          </a:rPr>
                          <m:t>0</m:t>
                        </m:r>
                      </m:sub>
                    </m:sSub>
                  </m:oMath>
                </a14:m>
                <a:endParaRPr lang="en-US" altLang="zh-CN" sz="3200" dirty="0">
                  <a:latin typeface="微软雅黑" panose="020B0503020204020204" pitchFamily="34" charset="-122"/>
                  <a:ea typeface="微软雅黑" panose="020B0503020204020204" pitchFamily="34" charset="-122"/>
                </a:endParaRPr>
              </a:p>
            </p:txBody>
          </p:sp>
        </mc:Choice>
        <mc:Fallback>
          <p:sp>
            <p:nvSpPr>
              <p:cNvPr id="22" name="文本框 21"/>
              <p:cNvSpPr txBox="1">
                <a:spLocks noRot="1" noChangeAspect="1" noMove="1" noResize="1" noEditPoints="1" noAdjustHandles="1" noChangeArrowheads="1" noChangeShapeType="1" noTextEdit="1"/>
              </p:cNvSpPr>
              <p:nvPr/>
            </p:nvSpPr>
            <p:spPr>
              <a:xfrm>
                <a:off x="779826" y="1192276"/>
                <a:ext cx="5389664" cy="3046095"/>
              </a:xfrm>
              <a:prstGeom prst="rect">
                <a:avLst/>
              </a:prstGeom>
              <a:blipFill rotWithShape="1">
                <a:blip r:embed="rId1"/>
                <a:stretch>
                  <a:fillRect l="-1" t="-13" r="9" b="13"/>
                </a:stretch>
              </a:blipFill>
            </p:spPr>
            <p:txBody>
              <a:bodyPr/>
              <a:lstStyle/>
              <a:p>
                <a:r>
                  <a:rPr lang="zh-CN" alt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ABB8F404-4D68-4CF1-A1D1-4545FFCFAAD6}" type="slidenum">
              <a:rPr lang="zh-CN" altLang="en-US" smtClean="0"/>
            </a:fld>
            <a:endParaRPr lang="zh-CN" altLang="en-US" dirty="0"/>
          </a:p>
        </p:txBody>
      </p:sp>
      <p:sp>
        <p:nvSpPr>
          <p:cNvPr id="8" name="菱形 7"/>
          <p:cNvSpPr/>
          <p:nvPr/>
        </p:nvSpPr>
        <p:spPr>
          <a:xfrm>
            <a:off x="3057934" y="2107066"/>
            <a:ext cx="2643868" cy="2643868"/>
          </a:xfrm>
          <a:prstGeom prst="diamond">
            <a:avLst/>
          </a:prstGeom>
          <a:noFill/>
          <a:ln w="2857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菱形 8"/>
          <p:cNvSpPr/>
          <p:nvPr/>
        </p:nvSpPr>
        <p:spPr>
          <a:xfrm>
            <a:off x="5132161" y="1279752"/>
            <a:ext cx="4298496" cy="4298496"/>
          </a:xfrm>
          <a:prstGeom prst="diamond">
            <a:avLst/>
          </a:prstGeom>
          <a:noFill/>
          <a:ln w="2857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A72020"/>
              </a:solidFill>
            </a:endParaRPr>
          </a:p>
        </p:txBody>
      </p:sp>
      <p:sp>
        <p:nvSpPr>
          <p:cNvPr id="10" name="文本框 9"/>
          <p:cNvSpPr txBox="1"/>
          <p:nvPr/>
        </p:nvSpPr>
        <p:spPr>
          <a:xfrm>
            <a:off x="3822112" y="2321004"/>
            <a:ext cx="1057092" cy="2214880"/>
          </a:xfrm>
          <a:prstGeom prst="rect">
            <a:avLst/>
          </a:prstGeom>
          <a:noFill/>
        </p:spPr>
        <p:txBody>
          <a:bodyPr wrap="square" rtlCol="0">
            <a:spAutoFit/>
            <a:scene3d>
              <a:camera prst="orthographicFront"/>
              <a:lightRig rig="threePt" dir="t"/>
            </a:scene3d>
            <a:sp3d contourW="12700"/>
          </a:bodyPr>
          <a:lstStyle/>
          <a:p>
            <a:pPr algn="ctr"/>
            <a:r>
              <a:rPr lang="en-US" altLang="zh-CN" sz="13800" dirty="0">
                <a:solidFill>
                  <a:srgbClr val="A72020"/>
                </a:solidFill>
                <a:latin typeface="Agency FB" panose="020B0503020202020204" pitchFamily="34" charset="0"/>
              </a:rPr>
              <a:t>3</a:t>
            </a:r>
            <a:endParaRPr lang="en-US" altLang="zh-CN" sz="13800" dirty="0">
              <a:solidFill>
                <a:srgbClr val="A72020"/>
              </a:solidFill>
              <a:latin typeface="Agency FB" panose="020B0503020202020204" pitchFamily="34" charset="0"/>
            </a:endParaRPr>
          </a:p>
        </p:txBody>
      </p:sp>
      <p:sp>
        <p:nvSpPr>
          <p:cNvPr id="11" name="文本框 10"/>
          <p:cNvSpPr txBox="1"/>
          <p:nvPr/>
        </p:nvSpPr>
        <p:spPr>
          <a:xfrm>
            <a:off x="5402262" y="2959430"/>
            <a:ext cx="3904343" cy="829945"/>
          </a:xfrm>
          <a:prstGeom prst="rect">
            <a:avLst/>
          </a:prstGeom>
          <a:noFill/>
        </p:spPr>
        <p:txBody>
          <a:bodyPr wrap="square" rtlCol="0">
            <a:spAutoFit/>
            <a:scene3d>
              <a:camera prst="orthographicFront"/>
              <a:lightRig rig="threePt" dir="t"/>
            </a:scene3d>
            <a:sp3d contourW="12700"/>
          </a:bodyPr>
          <a:lstStyle>
            <a:defPPr>
              <a:defRPr lang="en-US"/>
            </a:defPPr>
            <a:lvl1pPr algn="ctr">
              <a:defRPr sz="2800" b="1">
                <a:solidFill>
                  <a:schemeClr val="tx1">
                    <a:lumMod val="75000"/>
                    <a:lumOff val="25000"/>
                  </a:schemeClr>
                </a:solidFill>
                <a:latin typeface="Century Gothic" panose="020B0502020202020204" pitchFamily="34" charset="0"/>
              </a:defRPr>
            </a:lvl1pPr>
          </a:lstStyle>
          <a:p>
            <a:r>
              <a:rPr lang="zh-CN" altLang="en-US" sz="4800" dirty="0">
                <a:solidFill>
                  <a:srgbClr val="A72020"/>
                </a:solidFill>
                <a:latin typeface="微软雅黑" panose="020B0503020204020204" pitchFamily="34" charset="-122"/>
                <a:ea typeface="微软雅黑" panose="020B0503020204020204" pitchFamily="34" charset="-122"/>
              </a:rPr>
              <a:t>理论</a:t>
            </a:r>
            <a:r>
              <a:rPr lang="en-US" altLang="zh-CN" sz="4800" dirty="0">
                <a:solidFill>
                  <a:srgbClr val="A72020"/>
                </a:solidFill>
                <a:latin typeface="微软雅黑" panose="020B0503020204020204" pitchFamily="34" charset="-122"/>
                <a:ea typeface="微软雅黑" panose="020B0503020204020204" pitchFamily="34" charset="-122"/>
              </a:rPr>
              <a:t>&amp;</a:t>
            </a:r>
            <a:r>
              <a:rPr lang="zh-CN" altLang="en-US" sz="4800" dirty="0">
                <a:solidFill>
                  <a:srgbClr val="A72020"/>
                </a:solidFill>
                <a:latin typeface="微软雅黑" panose="020B0503020204020204" pitchFamily="34" charset="-122"/>
                <a:ea typeface="微软雅黑" panose="020B0503020204020204" pitchFamily="34" charset="-122"/>
              </a:rPr>
              <a:t>实验</a:t>
            </a:r>
            <a:endParaRPr lang="zh-CN" altLang="en-US" sz="4800" dirty="0">
              <a:solidFill>
                <a:srgbClr val="A7202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3692525" y="3283585"/>
            <a:ext cx="1374775" cy="398780"/>
          </a:xfrm>
          <a:prstGeom prst="rect">
            <a:avLst/>
          </a:prstGeom>
          <a:solidFill>
            <a:srgbClr val="FCFCFC"/>
          </a:solidFill>
        </p:spPr>
        <p:txBody>
          <a:bodyPr wrap="square" rtlCol="0">
            <a:spAutoFit/>
            <a:scene3d>
              <a:camera prst="orthographicFront"/>
              <a:lightRig rig="threePt" dir="t"/>
            </a:scene3d>
            <a:sp3d contourW="12700"/>
          </a:bodyPr>
          <a:lstStyle/>
          <a:p>
            <a:pPr algn="ctr"/>
            <a:r>
              <a:rPr lang="en-US" altLang="zh-CN" sz="2000" b="1" dirty="0">
                <a:solidFill>
                  <a:srgbClr val="A72020"/>
                </a:solidFill>
                <a:latin typeface="Century Gothic" panose="020B0502020202020204" pitchFamily="34" charset="0"/>
              </a:rPr>
              <a:t>PART 03</a:t>
            </a:r>
            <a:endParaRPr lang="en-US" altLang="zh-CN" sz="2000" b="1" dirty="0">
              <a:solidFill>
                <a:srgbClr val="A72020"/>
              </a:solidFill>
              <a:latin typeface="Century Gothic" panose="020B0502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1000"/>
                                        <p:tgtEl>
                                          <p:spTgt spid="12"/>
                                        </p:tgtEl>
                                      </p:cBhvr>
                                    </p:animEffect>
                                    <p:anim calcmode="lin" valueType="num">
                                      <p:cBhvr>
                                        <p:cTn id="28" dur="1000" fill="hold"/>
                                        <p:tgtEl>
                                          <p:spTgt spid="12"/>
                                        </p:tgtEl>
                                        <p:attrNameLst>
                                          <p:attrName>ppt_x</p:attrName>
                                        </p:attrNameLst>
                                      </p:cBhvr>
                                      <p:tavLst>
                                        <p:tav tm="0">
                                          <p:val>
                                            <p:strVal val="#ppt_x"/>
                                          </p:val>
                                        </p:tav>
                                        <p:tav tm="100000">
                                          <p:val>
                                            <p:strVal val="#ppt_x"/>
                                          </p:val>
                                        </p:tav>
                                      </p:tavLst>
                                    </p:anim>
                                    <p:anim calcmode="lin" valueType="num">
                                      <p:cBhvr>
                                        <p:cTn id="2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P spid="11" grpId="0"/>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BB8F404-4D68-4CF1-A1D1-4545FFCFAAD6}" type="slidenum">
              <a:rPr kumimoji="0" lang="zh-CN" altLang="en-US" sz="2400" b="0" i="0" u="none" strike="noStrike" kern="1200" cap="none" spc="0" normalizeH="0" baseline="0" noProof="0" smtClean="0">
                <a:ln>
                  <a:noFill/>
                </a:ln>
                <a:solidFill>
                  <a:srgbClr val="9A0000"/>
                </a:solidFill>
                <a:effectLst/>
                <a:uLnTx/>
                <a:uFillTx/>
                <a:latin typeface="Calibri" panose="020F0502020204030204" pitchFamily="34" charset="0"/>
                <a:ea typeface="宋体" panose="02010600030101010101" pitchFamily="2" charset="-122"/>
                <a:cs typeface="+mn-cs"/>
              </a:rPr>
            </a:fld>
            <a:endParaRPr kumimoji="0" lang="zh-CN" altLang="en-US" sz="2400" b="0" i="0" u="none" strike="noStrike" kern="1200" cap="none" spc="0" normalizeH="0" baseline="0" noProof="0">
              <a:ln>
                <a:noFill/>
              </a:ln>
              <a:solidFill>
                <a:srgbClr val="9A0000"/>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mc:Choice xmlns:a14="http://schemas.microsoft.com/office/drawing/2010/main" Requires="a14">
          <p:sp>
            <p:nvSpPr>
              <p:cNvPr id="3" name="文本框 2"/>
              <p:cNvSpPr txBox="1"/>
              <p:nvPr/>
            </p:nvSpPr>
            <p:spPr>
              <a:xfrm>
                <a:off x="538249" y="1240090"/>
                <a:ext cx="11380700" cy="3415030"/>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理论假设：</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弹簧</a:t>
                </a:r>
                <a:r>
                  <a:rPr lang="zh-CN" altLang="en-US" sz="2400" dirty="0">
                    <a:solidFill>
                      <a:srgbClr val="4886D8"/>
                    </a:solidFill>
                    <a:latin typeface="微软雅黑" panose="020B0503020204020204" pitchFamily="34" charset="-122"/>
                    <a:ea typeface="微软雅黑" panose="020B0503020204020204" pitchFamily="34" charset="-122"/>
                  </a:rPr>
                  <a:t>无质量</a:t>
                </a:r>
                <a:r>
                  <a:rPr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a:p>
                <a:pPr>
                  <a:lnSpc>
                    <a:spcPct val="150000"/>
                  </a:lnSpc>
                </a:pP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韦氏摆在运动的过程中</a:t>
                </a:r>
                <a:r>
                  <a:rPr lang="zh-CN" altLang="en-US" sz="2400" dirty="0">
                    <a:solidFill>
                      <a:srgbClr val="4886D8"/>
                    </a:solidFill>
                    <a:latin typeface="微软雅黑" panose="020B0503020204020204" pitchFamily="34" charset="-122"/>
                    <a:ea typeface="微软雅黑" panose="020B0503020204020204" pitchFamily="34" charset="-122"/>
                  </a:rPr>
                  <a:t>能量没有损失</a:t>
                </a:r>
                <a:r>
                  <a:rPr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a:p>
                <a:pPr>
                  <a:lnSpc>
                    <a:spcPct val="150000"/>
                  </a:lnSpc>
                </a:pP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韦氏摆在运动时</a:t>
                </a:r>
                <a:r>
                  <a:rPr lang="zh-CN" altLang="en-US" sz="2400" dirty="0">
                    <a:solidFill>
                      <a:srgbClr val="4886D8"/>
                    </a:solidFill>
                    <a:latin typeface="微软雅黑" panose="020B0503020204020204" pitchFamily="34" charset="-122"/>
                    <a:ea typeface="微软雅黑" panose="020B0503020204020204" pitchFamily="34" charset="-122"/>
                  </a:rPr>
                  <a:t>没有</a:t>
                </a:r>
                <a:r>
                  <a:rPr lang="en-US" altLang="zh-CN" sz="2400" dirty="0">
                    <a:solidFill>
                      <a:srgbClr val="4886D8"/>
                    </a:solidFill>
                    <a:latin typeface="微软雅黑" panose="020B0503020204020204" pitchFamily="34" charset="-122"/>
                    <a:ea typeface="微软雅黑" panose="020B0503020204020204" pitchFamily="34" charset="-122"/>
                  </a:rPr>
                  <a:t> </a:t>
                </a:r>
                <a14:m>
                  <m:oMath xmlns:m="http://schemas.openxmlformats.org/officeDocument/2006/math">
                    <m:r>
                      <a:rPr lang="en-US" altLang="zh-CN" sz="2400" i="1" dirty="0">
                        <a:solidFill>
                          <a:srgbClr val="4886D8"/>
                        </a:solidFill>
                        <a:latin typeface="Cambria Math" panose="02040503050406030204" pitchFamily="18" charset="0"/>
                        <a:ea typeface="微软雅黑" panose="020B0503020204020204" pitchFamily="34" charset="-122"/>
                        <a:cs typeface="Cambria Math" panose="02040503050406030204" pitchFamily="18" charset="0"/>
                      </a:rPr>
                      <m:t>𝑥𝑦</m:t>
                    </m:r>
                  </m:oMath>
                </a14:m>
                <a:r>
                  <a:rPr lang="en-US" altLang="zh-CN" sz="2400" dirty="0">
                    <a:solidFill>
                      <a:srgbClr val="4886D8"/>
                    </a:solidFill>
                    <a:latin typeface="微软雅黑" panose="020B0503020204020204" pitchFamily="34" charset="-122"/>
                    <a:ea typeface="微软雅黑" panose="020B0503020204020204" pitchFamily="34" charset="-122"/>
                  </a:rPr>
                  <a:t> </a:t>
                </a:r>
                <a:r>
                  <a:rPr lang="zh-CN" altLang="en-US" sz="2400" dirty="0">
                    <a:solidFill>
                      <a:srgbClr val="4886D8"/>
                    </a:solidFill>
                    <a:latin typeface="微软雅黑" panose="020B0503020204020204" pitchFamily="34" charset="-122"/>
                    <a:ea typeface="微软雅黑" panose="020B0503020204020204" pitchFamily="34" charset="-122"/>
                  </a:rPr>
                  <a:t>平面内的位移</a:t>
                </a:r>
                <a:r>
                  <a:rPr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a:p>
                <a:pPr>
                  <a:lnSpc>
                    <a:spcPct val="150000"/>
                  </a:lnSpc>
                </a:pP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sym typeface="+mn-ea"/>
                  </a:rPr>
                  <a:t>韦氏摆的耦合属于</a:t>
                </a:r>
                <a:r>
                  <a:rPr lang="zh-CN" altLang="en-US" sz="2400" dirty="0">
                    <a:solidFill>
                      <a:srgbClr val="4886D8"/>
                    </a:solidFill>
                    <a:latin typeface="微软雅黑" panose="020B0503020204020204" pitchFamily="34" charset="-122"/>
                    <a:ea typeface="微软雅黑" panose="020B0503020204020204" pitchFamily="34" charset="-122"/>
                    <a:sym typeface="+mn-ea"/>
                  </a:rPr>
                  <a:t>线性耦合</a:t>
                </a:r>
                <a:r>
                  <a:rPr lang="en-US" altLang="zh-CN" sz="2400" dirty="0">
                    <a:latin typeface="微软雅黑" panose="020B0503020204020204" pitchFamily="34" charset="-122"/>
                    <a:ea typeface="微软雅黑" panose="020B0503020204020204" pitchFamily="34" charset="-122"/>
                    <a:sym typeface="+mn-ea"/>
                  </a:rPr>
                  <a:t>[1]</a:t>
                </a:r>
                <a:r>
                  <a:rPr lang="zh-CN" altLang="en-US" sz="2400" dirty="0">
                    <a:latin typeface="微软雅黑" panose="020B0503020204020204" pitchFamily="34" charset="-122"/>
                    <a:ea typeface="微软雅黑" panose="020B0503020204020204" pitchFamily="34" charset="-122"/>
                    <a:sym typeface="+mn-ea"/>
                  </a:rPr>
                  <a:t>。</a:t>
                </a:r>
                <a:endParaRPr lang="zh-CN" altLang="en-US" sz="2400" dirty="0">
                  <a:latin typeface="微软雅黑" panose="020B0503020204020204" pitchFamily="34" charset="-122"/>
                  <a:ea typeface="微软雅黑" panose="020B0503020204020204" pitchFamily="34" charset="-122"/>
                  <a:sym typeface="+mn-ea"/>
                </a:endParaRPr>
              </a:p>
              <a:p>
                <a:pPr>
                  <a:lnSpc>
                    <a:spcPct val="150000"/>
                  </a:lnSpc>
                </a:pPr>
                <a:r>
                  <a:rPr lang="en-US" altLang="zh-CN" sz="2400" dirty="0">
                    <a:latin typeface="微软雅黑" panose="020B0503020204020204" pitchFamily="34" charset="-122"/>
                    <a:ea typeface="微软雅黑" panose="020B0503020204020204" pitchFamily="34" charset="-122"/>
                    <a:sym typeface="+mn-ea"/>
                  </a:rPr>
                  <a:t>5.</a:t>
                </a:r>
                <a:r>
                  <a:rPr lang="zh-CN" altLang="en-US" sz="2400" dirty="0">
                    <a:latin typeface="微软雅黑" panose="020B0503020204020204" pitchFamily="34" charset="-122"/>
                    <a:ea typeface="微软雅黑" panose="020B0503020204020204" pitchFamily="34" charset="-122"/>
                    <a:sym typeface="+mn-ea"/>
                  </a:rPr>
                  <a:t>韦氏摆</a:t>
                </a:r>
                <a:r>
                  <a:rPr lang="zh-CN" altLang="en-US" sz="2400" dirty="0">
                    <a:solidFill>
                      <a:srgbClr val="4886D8"/>
                    </a:solidFill>
                    <a:latin typeface="微软雅黑" panose="020B0503020204020204" pitchFamily="34" charset="-122"/>
                    <a:ea typeface="微软雅黑" panose="020B0503020204020204" pitchFamily="34" charset="-122"/>
                    <a:sym typeface="+mn-ea"/>
                  </a:rPr>
                  <a:t>初始释放时没有速度</a:t>
                </a:r>
                <a:r>
                  <a:rPr lang="zh-CN" altLang="en-US" sz="2400" dirty="0">
                    <a:latin typeface="微软雅黑" panose="020B0503020204020204" pitchFamily="34" charset="-122"/>
                    <a:ea typeface="微软雅黑" panose="020B0503020204020204" pitchFamily="34" charset="-122"/>
                    <a:sym typeface="+mn-ea"/>
                  </a:rPr>
                  <a:t>。</a:t>
                </a:r>
                <a:endParaRPr lang="zh-CN" altLang="en-US" sz="2400" dirty="0">
                  <a:latin typeface="微软雅黑" panose="020B0503020204020204" pitchFamily="34" charset="-122"/>
                  <a:ea typeface="微软雅黑" panose="020B0503020204020204" pitchFamily="34" charset="-122"/>
                  <a:sym typeface="+mn-ea"/>
                </a:endParaRPr>
              </a:p>
            </p:txBody>
          </p:sp>
        </mc:Choice>
        <mc:Fallback>
          <p:sp>
            <p:nvSpPr>
              <p:cNvPr id="3" name="文本框 2"/>
              <p:cNvSpPr txBox="1">
                <a:spLocks noRot="1" noChangeAspect="1" noMove="1" noResize="1" noEditPoints="1" noAdjustHandles="1" noChangeArrowheads="1" noChangeShapeType="1" noTextEdit="1"/>
              </p:cNvSpPr>
              <p:nvPr/>
            </p:nvSpPr>
            <p:spPr>
              <a:xfrm>
                <a:off x="538249" y="1240090"/>
                <a:ext cx="11380700" cy="3415030"/>
              </a:xfrm>
              <a:prstGeom prst="rect">
                <a:avLst/>
              </a:prstGeom>
              <a:blipFill rotWithShape="1">
                <a:blip r:embed="rId1"/>
                <a:stretch>
                  <a:fillRect l="-4" t="-17" r="6" b="17"/>
                </a:stretch>
              </a:blipFill>
            </p:spPr>
            <p:txBody>
              <a:bodyPr/>
              <a:lstStyle/>
              <a:p>
                <a:r>
                  <a:rPr lang="zh-CN" altLang="en-US">
                    <a:noFill/>
                  </a:rPr>
                  <a:t> </a:t>
                </a:r>
              </a:p>
            </p:txBody>
          </p:sp>
        </mc:Fallback>
      </mc:AlternateContent>
      <p:grpSp>
        <p:nvGrpSpPr>
          <p:cNvPr id="7" name="组合 6"/>
          <p:cNvGrpSpPr/>
          <p:nvPr/>
        </p:nvGrpSpPr>
        <p:grpSpPr>
          <a:xfrm>
            <a:off x="-1" y="392113"/>
            <a:ext cx="3254189" cy="523220"/>
            <a:chOff x="0" y="392113"/>
            <a:chExt cx="2650036" cy="523220"/>
          </a:xfrm>
        </p:grpSpPr>
        <p:sp>
          <p:nvSpPr>
            <p:cNvPr id="8" name="文本框 10"/>
            <p:cNvSpPr txBox="1">
              <a:spLocks noChangeArrowheads="1"/>
            </p:cNvSpPr>
            <p:nvPr/>
          </p:nvSpPr>
          <p:spPr bwMode="auto">
            <a:xfrm>
              <a:off x="343837" y="392113"/>
              <a:ext cx="230619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lvl="0" eaLnBrk="1" hangingPunct="1">
                <a:defRPr/>
              </a:pPr>
              <a:r>
                <a:rPr lang="zh-CN" altLang="en-US" sz="2800" b="1" noProof="0" dirty="0">
                  <a:solidFill>
                    <a:srgbClr val="000000"/>
                  </a:solidFill>
                  <a:latin typeface="微软雅黑" panose="020B0503020204020204" pitchFamily="34" charset="-122"/>
                  <a:ea typeface="微软雅黑" panose="020B0503020204020204" pitchFamily="34" charset="-122"/>
                </a:rPr>
                <a:t>理论</a:t>
              </a:r>
              <a:r>
                <a:rPr lang="en-US" altLang="zh-CN" sz="2800" b="1" dirty="0">
                  <a:solidFill>
                    <a:srgbClr val="000000"/>
                  </a:solidFill>
                  <a:latin typeface="微软雅黑" panose="020B0503020204020204" pitchFamily="34" charset="-122"/>
                  <a:ea typeface="微软雅黑" panose="020B0503020204020204" pitchFamily="34" charset="-122"/>
                </a:rPr>
                <a:t>·</a:t>
              </a:r>
              <a:r>
                <a:rPr lang="zh-CN" altLang="en-US" sz="2800" b="1" dirty="0">
                  <a:solidFill>
                    <a:srgbClr val="000000"/>
                  </a:solidFill>
                  <a:latin typeface="微软雅黑" panose="020B0503020204020204" pitchFamily="34" charset="-122"/>
                  <a:ea typeface="微软雅黑" panose="020B0503020204020204" pitchFamily="34" charset="-122"/>
                </a:rPr>
                <a:t>假设</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1" name="矩形 1"/>
            <p:cNvSpPr>
              <a:spLocks noChangeArrowheads="1"/>
            </p:cNvSpPr>
            <p:nvPr/>
          </p:nvSpPr>
          <p:spPr bwMode="auto">
            <a:xfrm>
              <a:off x="0" y="392113"/>
              <a:ext cx="290286" cy="463550"/>
            </a:xfrm>
            <a:prstGeom prst="rect">
              <a:avLst/>
            </a:prstGeom>
            <a:solidFill>
              <a:srgbClr val="9A0000"/>
            </a:soli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mc:AlternateContent xmlns:mc="http://schemas.openxmlformats.org/markup-compatibility/2006">
        <mc:Choice xmlns:a14="http://schemas.microsoft.com/office/drawing/2010/main" Requires="a14">
          <p:sp>
            <p:nvSpPr>
              <p:cNvPr id="5" name="矩形 4"/>
              <p:cNvSpPr/>
              <p:nvPr/>
            </p:nvSpPr>
            <p:spPr>
              <a:xfrm>
                <a:off x="538551" y="4897614"/>
                <a:ext cx="10577395" cy="1198880"/>
              </a:xfrm>
              <a:prstGeom prst="rect">
                <a:avLst/>
              </a:prstGeom>
            </p:spPr>
            <p:txBody>
              <a:bodyPr wrap="square">
                <a:spAutoFit/>
              </a:bodyPr>
              <a:lstStyle/>
              <a:p>
                <a:r>
                  <a:rPr lang="zh-CN" altLang="en-US" sz="2400" b="1" dirty="0">
                    <a:latin typeface="微软雅黑" panose="020B0503020204020204" pitchFamily="34" charset="-122"/>
                    <a:ea typeface="微软雅黑" panose="020B0503020204020204" pitchFamily="34" charset="-122"/>
                  </a:rPr>
                  <a:t>参数：</a:t>
                </a:r>
                <a:endParaRPr lang="en-US" altLang="zh-CN" sz="2400" b="1" dirty="0">
                  <a:latin typeface="微软雅黑" panose="020B0503020204020204" pitchFamily="34" charset="-122"/>
                  <a:ea typeface="微软雅黑" panose="020B0503020204020204" pitchFamily="34" charset="-122"/>
                </a:endParaRPr>
              </a:p>
              <a:p>
                <a:pPr marL="0" indent="0">
                  <a:buFont typeface="Arial" panose="020B0604020202020204" pitchFamily="34" charset="0"/>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sym typeface="+mn-ea"/>
                  </a:rPr>
                  <a:t>摆的质量 </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sym typeface="+mn-ea"/>
                  </a:rPr>
                  <a:t>m</a:t>
                </a:r>
                <a:r>
                  <a:rPr lang="zh-CN" altLang="en-US" sz="2400" i="1" dirty="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sym typeface="+mn-ea"/>
                  </a:rPr>
                  <a:t>摆的转动惯量 </a:t>
                </a:r>
                <a14:m>
                  <m:oMath xmlns:m="http://schemas.openxmlformats.org/officeDocument/2006/math">
                    <m:r>
                      <a:rPr lang="en-US" altLang="zh-CN" sz="2400" i="1" dirty="0">
                        <a:latin typeface="Cambria Math" panose="02040503050406030204" pitchFamily="18" charset="0"/>
                        <a:ea typeface="微软雅黑" panose="020B0503020204020204" pitchFamily="34" charset="-122"/>
                        <a:cs typeface="Cambria Math" panose="02040503050406030204" pitchFamily="18" charset="0"/>
                      </a:rPr>
                      <m:t>𝐼</m:t>
                    </m:r>
                  </m:oMath>
                </a14:m>
                <a:r>
                  <a:rPr lang="zh-CN" altLang="en-US" sz="2400" dirty="0">
                    <a:latin typeface="Cambria Math" panose="02040503050406030204" pitchFamily="18" charset="0"/>
                    <a:ea typeface="微软雅黑" panose="020B0503020204020204" pitchFamily="34" charset="-122"/>
                    <a:cs typeface="Cambria Math" panose="02040503050406030204" pitchFamily="18" charset="0"/>
                  </a:rPr>
                  <a:t>；</a:t>
                </a:r>
                <a:r>
                  <a:rPr lang="zh-CN" altLang="en-US" sz="2400" dirty="0">
                    <a:latin typeface="微软雅黑" panose="020B0503020204020204" pitchFamily="34" charset="-122"/>
                    <a:ea typeface="微软雅黑" panose="020B0503020204020204" pitchFamily="34" charset="-122"/>
                    <a:sym typeface="+mn-ea"/>
                  </a:rPr>
                  <a:t>弹簧的劲度系数</a:t>
                </a:r>
                <a:r>
                  <a:rPr lang="en-US" altLang="zh-CN" sz="2400" dirty="0">
                    <a:latin typeface="微软雅黑" panose="020B0503020204020204" pitchFamily="34" charset="-122"/>
                    <a:ea typeface="微软雅黑" panose="020B0503020204020204" pitchFamily="34" charset="-122"/>
                    <a:sym typeface="+mn-ea"/>
                  </a:rPr>
                  <a:t> </a:t>
                </a:r>
                <a14:m>
                  <m:oMath xmlns:m="http://schemas.openxmlformats.org/officeDocument/2006/math">
                    <m:r>
                      <a:rPr lang="en-US" altLang="zh-CN" sz="2400" i="1" dirty="0">
                        <a:latin typeface="Cambria Math" panose="02040503050406030204" pitchFamily="18" charset="0"/>
                        <a:ea typeface="微软雅黑" panose="020B0503020204020204" pitchFamily="34" charset="-122"/>
                        <a:cs typeface="Cambria Math" panose="02040503050406030204" pitchFamily="18" charset="0"/>
                      </a:rPr>
                      <m:t>𝑘</m:t>
                    </m:r>
                    <m:r>
                      <a:rPr lang="en-US" altLang="zh-CN" sz="2400" i="1" dirty="0">
                        <a:latin typeface="Cambria Math" panose="02040503050406030204" pitchFamily="18" charset="0"/>
                        <a:ea typeface="微软雅黑" panose="020B0503020204020204" pitchFamily="34" charset="-122"/>
                        <a:cs typeface="Cambria Math" panose="02040503050406030204" pitchFamily="18" charset="0"/>
                      </a:rPr>
                      <m:t>；</m:t>
                    </m:r>
                  </m:oMath>
                </a14:m>
                <a:r>
                  <a:rPr lang="zh-CN" altLang="en-US" sz="2400" dirty="0">
                    <a:latin typeface="微软雅黑" panose="020B0503020204020204" pitchFamily="34" charset="-122"/>
                    <a:ea typeface="微软雅黑" panose="020B0503020204020204" pitchFamily="34" charset="-122"/>
                    <a:sym typeface="+mn-ea"/>
                  </a:rPr>
                  <a:t>弹簧的扭转系数</a:t>
                </a:r>
                <a:r>
                  <a:rPr lang="en-US" altLang="zh-CN" sz="2400" dirty="0">
                    <a:latin typeface="微软雅黑" panose="020B0503020204020204" pitchFamily="34" charset="-122"/>
                    <a:ea typeface="微软雅黑" panose="020B0503020204020204" pitchFamily="34" charset="-122"/>
                    <a:sym typeface="+mn-ea"/>
                  </a:rPr>
                  <a:t> </a:t>
                </a:r>
                <a14:m>
                  <m:oMath xmlns:m="http://schemas.openxmlformats.org/officeDocument/2006/math">
                    <m:r>
                      <a:rPr lang="en-US" altLang="zh-CN" sz="2400" i="1" dirty="0">
                        <a:latin typeface="Cambria Math" panose="02040503050406030204" pitchFamily="18" charset="0"/>
                        <a:ea typeface="微软雅黑" panose="020B0503020204020204" pitchFamily="34" charset="-122"/>
                        <a:cs typeface="Cambria Math" panose="02040503050406030204" pitchFamily="18" charset="0"/>
                        <a:sym typeface="+mn-ea"/>
                      </a:rPr>
                      <m:t>𝛿</m:t>
                    </m:r>
                    <m:r>
                      <a:rPr lang="en-US" altLang="zh-CN" sz="2400" i="1" dirty="0">
                        <a:latin typeface="Cambria Math" panose="02040503050406030204" pitchFamily="18" charset="0"/>
                        <a:ea typeface="微软雅黑" panose="020B0503020204020204" pitchFamily="34" charset="-122"/>
                        <a:cs typeface="Cambria Math" panose="02040503050406030204" pitchFamily="18" charset="0"/>
                        <a:sym typeface="+mn-ea"/>
                      </a:rPr>
                      <m:t>；</m:t>
                    </m:r>
                  </m:oMath>
                </a14:m>
                <a:r>
                  <a:rPr lang="zh-CN" altLang="en-US" sz="2400" dirty="0">
                    <a:latin typeface="微软雅黑" panose="020B0503020204020204" pitchFamily="34" charset="-122"/>
                    <a:ea typeface="微软雅黑" panose="020B0503020204020204" pitchFamily="34" charset="-122"/>
                    <a:sym typeface="+mn-ea"/>
                  </a:rPr>
                  <a:t>初始纵向位移</a:t>
                </a:r>
                <a:r>
                  <a:rPr lang="en-US" altLang="zh-CN" sz="2400" dirty="0">
                    <a:latin typeface="微软雅黑" panose="020B0503020204020204" pitchFamily="34" charset="-122"/>
                    <a:ea typeface="微软雅黑" panose="020B0503020204020204" pitchFamily="34" charset="-122"/>
                    <a:sym typeface="+mn-ea"/>
                  </a:rPr>
                  <a:t> </a:t>
                </a:r>
                <a14:m>
                  <m:oMath xmlns:m="http://schemas.openxmlformats.org/officeDocument/2006/math">
                    <m:sSub>
                      <m:sSubPr>
                        <m:ctrlPr>
                          <a:rPr lang="en-US" altLang="zh-CN" sz="24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400" i="1" dirty="0">
                            <a:latin typeface="Cambria Math" panose="02040503050406030204" pitchFamily="18" charset="0"/>
                            <a:ea typeface="微软雅黑" panose="020B0503020204020204" pitchFamily="34" charset="-122"/>
                            <a:cs typeface="Cambria Math" panose="02040503050406030204" pitchFamily="18" charset="0"/>
                          </a:rPr>
                          <m:t>𝑧</m:t>
                        </m:r>
                      </m:e>
                      <m:sub>
                        <m:r>
                          <a:rPr lang="en-US" altLang="zh-CN" sz="2400" i="1" dirty="0">
                            <a:latin typeface="Cambria Math" panose="02040503050406030204" pitchFamily="18" charset="0"/>
                            <a:ea typeface="微软雅黑" panose="020B0503020204020204" pitchFamily="34" charset="-122"/>
                            <a:cs typeface="Cambria Math" panose="02040503050406030204" pitchFamily="18" charset="0"/>
                          </a:rPr>
                          <m:t>0</m:t>
                        </m:r>
                      </m:sub>
                    </m:sSub>
                    <m:r>
                      <a:rPr lang="en-US" altLang="zh-CN" sz="2400" i="1" dirty="0">
                        <a:latin typeface="Cambria Math" panose="02040503050406030204" pitchFamily="18" charset="0"/>
                        <a:ea typeface="微软雅黑" panose="020B0503020204020204" pitchFamily="34" charset="-122"/>
                        <a:cs typeface="Cambria Math" panose="02040503050406030204" pitchFamily="18" charset="0"/>
                      </a:rPr>
                      <m:t>；</m:t>
                    </m:r>
                  </m:oMath>
                </a14:m>
                <a:r>
                  <a:rPr lang="zh-CN" altLang="en-US" sz="2400" dirty="0">
                    <a:latin typeface="微软雅黑" panose="020B0503020204020204" pitchFamily="34" charset="-122"/>
                    <a:ea typeface="微软雅黑" panose="020B0503020204020204" pitchFamily="34" charset="-122"/>
                    <a:sym typeface="+mn-ea"/>
                  </a:rPr>
                  <a:t>初始扭转角度</a:t>
                </a:r>
                <a:r>
                  <a:rPr lang="en-US" altLang="zh-CN" sz="2400" dirty="0">
                    <a:latin typeface="微软雅黑" panose="020B0503020204020204" pitchFamily="34" charset="-122"/>
                    <a:ea typeface="微软雅黑" panose="020B0503020204020204" pitchFamily="34" charset="-122"/>
                    <a:sym typeface="+mn-ea"/>
                  </a:rPr>
                  <a:t> </a:t>
                </a:r>
                <a14:m>
                  <m:oMath xmlns:m="http://schemas.openxmlformats.org/officeDocument/2006/math">
                    <m:sSub>
                      <m:sSubPr>
                        <m:ctrlPr>
                          <a:rPr lang="en-US" altLang="zh-CN" sz="24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400" i="1" dirty="0">
                            <a:latin typeface="Cambria Math" panose="02040503050406030204" pitchFamily="18" charset="0"/>
                            <a:ea typeface="微软雅黑" panose="020B0503020204020204" pitchFamily="34" charset="-122"/>
                            <a:cs typeface="Cambria Math" panose="02040503050406030204" pitchFamily="18" charset="0"/>
                          </a:rPr>
                          <m:t>𝜃</m:t>
                        </m:r>
                      </m:e>
                      <m:sub>
                        <m:r>
                          <a:rPr lang="en-US" altLang="zh-CN" sz="2400" i="1" dirty="0">
                            <a:latin typeface="Cambria Math" panose="02040503050406030204" pitchFamily="18" charset="0"/>
                            <a:ea typeface="微软雅黑" panose="020B0503020204020204" pitchFamily="34" charset="-122"/>
                            <a:cs typeface="Cambria Math" panose="02040503050406030204" pitchFamily="18" charset="0"/>
                          </a:rPr>
                          <m:t>0</m:t>
                        </m:r>
                      </m:sub>
                    </m:sSub>
                  </m:oMath>
                </a14:m>
                <a:r>
                  <a:rPr lang="zh-CN" altLang="en-US" sz="2400" dirty="0">
                    <a:latin typeface="Cambria Math" panose="02040503050406030204" pitchFamily="18" charset="0"/>
                    <a:ea typeface="微软雅黑" panose="020B0503020204020204" pitchFamily="34" charset="-122"/>
                    <a:cs typeface="Cambria Math" panose="02040503050406030204" pitchFamily="18" charset="0"/>
                  </a:rPr>
                  <a:t>；耦合系数</a:t>
                </a:r>
                <a:r>
                  <a:rPr lang="en-US" altLang="zh-CN" sz="2400" dirty="0">
                    <a:latin typeface="Cambria Math" panose="02040503050406030204" pitchFamily="18" charset="0"/>
                    <a:ea typeface="微软雅黑" panose="020B0503020204020204" pitchFamily="34" charset="-122"/>
                    <a:cs typeface="Cambria Math" panose="02040503050406030204" pitchFamily="18" charset="0"/>
                  </a:rPr>
                  <a:t> </a:t>
                </a:r>
                <a14:m>
                  <m:oMath xmlns:m="http://schemas.openxmlformats.org/officeDocument/2006/math">
                    <m:r>
                      <a:rPr lang="en-US" altLang="zh-CN" sz="2400" i="1" dirty="0">
                        <a:latin typeface="Cambria Math" panose="02040503050406030204" pitchFamily="18" charset="0"/>
                        <a:ea typeface="微软雅黑" panose="020B0503020204020204" pitchFamily="34" charset="-122"/>
                        <a:cs typeface="Cambria Math" panose="02040503050406030204" pitchFamily="18" charset="0"/>
                      </a:rPr>
                      <m:t>𝜖</m:t>
                    </m:r>
                  </m:oMath>
                </a14:m>
                <a:r>
                  <a:rPr lang="zh-CN" altLang="en-US" sz="2400" dirty="0">
                    <a:latin typeface="Cambria Math" panose="02040503050406030204" pitchFamily="18" charset="0"/>
                    <a:ea typeface="微软雅黑" panose="020B0503020204020204" pitchFamily="34" charset="-122"/>
                    <a:cs typeface="Cambria Math" panose="02040503050406030204" pitchFamily="18" charset="0"/>
                  </a:rPr>
                  <a:t>。</a:t>
                </a:r>
                <a:endParaRPr lang="zh-CN" altLang="en-US" sz="2400" dirty="0">
                  <a:latin typeface="Cambria Math" panose="02040503050406030204" pitchFamily="18" charset="0"/>
                  <a:ea typeface="微软雅黑" panose="020B0503020204020204" pitchFamily="34" charset="-122"/>
                  <a:cs typeface="Cambria Math" panose="02040503050406030204" pitchFamily="18" charset="0"/>
                </a:endParaRPr>
              </a:p>
            </p:txBody>
          </p:sp>
        </mc:Choice>
        <mc:Fallback>
          <p:sp>
            <p:nvSpPr>
              <p:cNvPr id="5" name="矩形 4"/>
              <p:cNvSpPr>
                <a:spLocks noRot="1" noChangeAspect="1" noMove="1" noResize="1" noEditPoints="1" noAdjustHandles="1" noChangeArrowheads="1" noChangeShapeType="1" noTextEdit="1"/>
              </p:cNvSpPr>
              <p:nvPr/>
            </p:nvSpPr>
            <p:spPr>
              <a:xfrm>
                <a:off x="538551" y="4897614"/>
                <a:ext cx="10577395" cy="1198880"/>
              </a:xfrm>
              <a:prstGeom prst="rect">
                <a:avLst/>
              </a:prstGeom>
              <a:blipFill rotWithShape="1">
                <a:blip r:embed="rId2"/>
                <a:stretch>
                  <a:fillRect l="-1" t="-41" r="3" b="41"/>
                </a:stretch>
              </a:blipFill>
            </p:spPr>
            <p:txBody>
              <a:bodyPr/>
              <a:lstStyle/>
              <a:p>
                <a:r>
                  <a:rPr lang="zh-CN"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BB8F404-4D68-4CF1-A1D1-4545FFCFAAD6}" type="slidenum">
              <a:rPr kumimoji="0" lang="zh-CN" altLang="en-US" sz="2400" b="0" i="0" u="none" strike="noStrike" kern="1200" cap="none" spc="0" normalizeH="0" baseline="0" noProof="0" smtClean="0">
                <a:ln>
                  <a:noFill/>
                </a:ln>
                <a:solidFill>
                  <a:srgbClr val="9A0000"/>
                </a:solidFill>
                <a:effectLst/>
                <a:uLnTx/>
                <a:uFillTx/>
                <a:latin typeface="Calibri" panose="020F0502020204030204" pitchFamily="34" charset="0"/>
                <a:ea typeface="宋体" panose="02010600030101010101" pitchFamily="2" charset="-122"/>
                <a:cs typeface="+mn-cs"/>
              </a:rPr>
            </a:fld>
            <a:endParaRPr kumimoji="0" lang="zh-CN" altLang="en-US" sz="2400" b="0" i="0" u="none" strike="noStrike" kern="1200" cap="none" spc="0" normalizeH="0" baseline="0" noProof="0">
              <a:ln>
                <a:noFill/>
              </a:ln>
              <a:solidFill>
                <a:srgbClr val="9A0000"/>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mc:Choice xmlns:a14="http://schemas.microsoft.com/office/drawing/2010/main" Requires="a14">
          <p:sp>
            <p:nvSpPr>
              <p:cNvPr id="3" name="文本框 2"/>
              <p:cNvSpPr txBox="1"/>
              <p:nvPr/>
            </p:nvSpPr>
            <p:spPr>
              <a:xfrm>
                <a:off x="429804" y="1004089"/>
                <a:ext cx="11189314" cy="5458674"/>
              </a:xfrm>
              <a:prstGeom prst="rect">
                <a:avLst/>
              </a:prstGeom>
              <a:noFill/>
            </p:spPr>
            <p:txBody>
              <a:bodyPr wrap="square" rtlCol="0">
                <a:spAutoFit/>
              </a:bodyPr>
              <a:lstStyle/>
              <a:p>
                <a:pPr lvl="0"/>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考虑微小振动的情况，设势能函数</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14:m>
                  <m:oMath xmlns:m="http://schemas.openxmlformats.org/officeDocument/2006/math">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𝑈</m:t>
                    </m:r>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ea typeface="MS Mincho" panose="02020609040205080304" charset="-128"/>
                        <a:cs typeface="Cambria Math" panose="02040503050406030204" pitchFamily="18" charset="0"/>
                      </a:rPr>
                      <m:t>(</m:t>
                    </m:r>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𝑧</m:t>
                    </m:r>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ea typeface="MS Mincho" panose="02020609040205080304" charset="-128"/>
                        <a:cs typeface="Cambria Math" panose="02040503050406030204" pitchFamily="18" charset="0"/>
                      </a:rPr>
                      <m:t>,</m:t>
                    </m:r>
                    <m:r>
                      <a:rPr kumimoji="0" lang="en-US" altLang="zh-CN" sz="2400" i="1" u="none" strike="noStrike" kern="1200" cap="none" spc="0" normalizeH="0" baseline="0" noProof="0" dirty="0">
                        <a:ln>
                          <a:noFill/>
                        </a:ln>
                        <a:solidFill>
                          <a:srgbClr val="000000"/>
                        </a:solidFill>
                        <a:effectLst/>
                        <a:uLnTx/>
                        <a:uFillTx/>
                        <a:latin typeface="Cambria Math" panose="02040503050406030204" pitchFamily="18" charset="0"/>
                        <a:ea typeface="MS Mincho" panose="02020609040205080304" charset="-128"/>
                        <a:cs typeface="Cambria Math" panose="02040503050406030204" pitchFamily="18" charset="0"/>
                      </a:rPr>
                      <m:t>𝜃</m:t>
                    </m:r>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ea typeface="MS Mincho" panose="02020609040205080304" charset="-128"/>
                        <a:cs typeface="Cambria Math" panose="02040503050406030204" pitchFamily="18" charset="0"/>
                      </a:rPr>
                      <m:t>)</m:t>
                    </m:r>
                  </m:oMath>
                </a14:m>
                <a:r>
                  <a:rPr kumimoji="0" lang="zh-CN" altLang="en-US" sz="240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令平衡点为</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14:m>
                  <m:oMath xmlns:m="http://schemas.openxmlformats.org/officeDocument/2006/math">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ea typeface="MS Mincho" panose="02020609040205080304" charset="-128"/>
                        <a:cs typeface="Cambria Math" panose="02040503050406030204" pitchFamily="18" charset="0"/>
                      </a:rPr>
                      <m:t>(</m:t>
                    </m:r>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ea typeface="MS Mincho" panose="02020609040205080304" charset="-128"/>
                        <a:cs typeface="Cambria Math" panose="02040503050406030204" pitchFamily="18" charset="0"/>
                      </a:rPr>
                      <m:t>0</m:t>
                    </m:r>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ea typeface="MS Mincho" panose="02020609040205080304" charset="-128"/>
                        <a:cs typeface="Cambria Math" panose="02040503050406030204" pitchFamily="18" charset="0"/>
                      </a:rPr>
                      <m:t>,</m:t>
                    </m:r>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ea typeface="MS Mincho" panose="02020609040205080304" charset="-128"/>
                        <a:cs typeface="Cambria Math" panose="02040503050406030204" pitchFamily="18" charset="0"/>
                      </a:rPr>
                      <m:t>0</m:t>
                    </m:r>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ea typeface="MS Mincho" panose="02020609040205080304" charset="-128"/>
                        <a:cs typeface="Cambria Math" panose="02040503050406030204" pitchFamily="18" charset="0"/>
                      </a:rPr>
                      <m:t>)</m:t>
                    </m:r>
                  </m:oMath>
                </a14:m>
                <a:r>
                  <a:rPr kumimoji="0" lang="zh-CN" altLang="en-US" sz="240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，并令势能零点也为此点。</a:t>
                </a:r>
                <a:endParaRPr kumimoji="0" lang="zh-CN" altLang="en-US" sz="240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lvl="0"/>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对</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14:m>
                  <m:oMath xmlns:m="http://schemas.openxmlformats.org/officeDocument/2006/math">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𝑈</m:t>
                    </m:r>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ea typeface="MS Mincho" panose="02020609040205080304" charset="-128"/>
                        <a:cs typeface="Cambria Math" panose="02040503050406030204" pitchFamily="18" charset="0"/>
                      </a:rPr>
                      <m:t>(</m:t>
                    </m:r>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𝑧</m:t>
                    </m:r>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ea typeface="MS Mincho" panose="02020609040205080304" charset="-128"/>
                        <a:cs typeface="Cambria Math" panose="02040503050406030204" pitchFamily="18" charset="0"/>
                      </a:rPr>
                      <m:t>,</m:t>
                    </m:r>
                    <m:r>
                      <a:rPr kumimoji="0" lang="en-US" altLang="zh-CN" sz="2400" i="1" u="none" strike="noStrike" kern="1200" cap="none" spc="0" normalizeH="0" baseline="0" noProof="0" dirty="0">
                        <a:ln>
                          <a:noFill/>
                        </a:ln>
                        <a:solidFill>
                          <a:srgbClr val="000000"/>
                        </a:solidFill>
                        <a:effectLst/>
                        <a:uLnTx/>
                        <a:uFillTx/>
                        <a:latin typeface="Cambria Math" panose="02040503050406030204" pitchFamily="18" charset="0"/>
                        <a:ea typeface="MS Mincho" panose="02020609040205080304" charset="-128"/>
                        <a:cs typeface="Cambria Math" panose="02040503050406030204" pitchFamily="18" charset="0"/>
                      </a:rPr>
                      <m:t>𝜃</m:t>
                    </m:r>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ea typeface="MS Mincho" panose="02020609040205080304" charset="-128"/>
                        <a:cs typeface="Cambria Math" panose="02040503050406030204" pitchFamily="18" charset="0"/>
                      </a:rPr>
                      <m:t>) </m:t>
                    </m:r>
                  </m:oMath>
                </a14:m>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在</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14:m>
                  <m:oMath xmlns:m="http://schemas.openxmlformats.org/officeDocument/2006/math">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ea typeface="MS Mincho" panose="02020609040205080304" charset="-128"/>
                        <a:cs typeface="Cambria Math" panose="02040503050406030204" pitchFamily="18" charset="0"/>
                      </a:rPr>
                      <m:t>(</m:t>
                    </m:r>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ea typeface="MS Mincho" panose="02020609040205080304" charset="-128"/>
                        <a:cs typeface="Cambria Math" panose="02040503050406030204" pitchFamily="18" charset="0"/>
                      </a:rPr>
                      <m:t>0</m:t>
                    </m:r>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ea typeface="MS Mincho" panose="02020609040205080304" charset="-128"/>
                        <a:cs typeface="Cambria Math" panose="02040503050406030204" pitchFamily="18" charset="0"/>
                      </a:rPr>
                      <m:t>,</m:t>
                    </m:r>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ea typeface="MS Mincho" panose="02020609040205080304" charset="-128"/>
                        <a:cs typeface="Cambria Math" panose="02040503050406030204" pitchFamily="18" charset="0"/>
                      </a:rPr>
                      <m:t>0</m:t>
                    </m:r>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ea typeface="MS Mincho" panose="02020609040205080304" charset="-128"/>
                        <a:cs typeface="Cambria Math" panose="02040503050406030204" pitchFamily="18" charset="0"/>
                      </a:rPr>
                      <m:t>)</m:t>
                    </m:r>
                  </m:oMath>
                </a14:m>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附近泰勒展开：</a:t>
                </a:r>
                <a:endPar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lvl="0"/>
                <a14:m>
                  <m:oMathPara xmlns:m="http://schemas.openxmlformats.org/officeDocument/2006/math">
                    <m:oMathParaPr>
                      <m:jc m:val="centerGroup"/>
                    </m:oMathParaPr>
                    <m:oMath xmlns:m="http://schemas.openxmlformats.org/officeDocument/2006/math">
                      <m:eqArr>
                        <m:eqArr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ctrlPr>
                        </m:eqArrPr>
                        <m:e>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𝑈</m:t>
                          </m:r>
                          <m:d>
                            <m:d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ctrlPr>
                            </m:dPr>
                            <m:e>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𝑧</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𝜃</m:t>
                              </m:r>
                            </m:e>
                          </m:d>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=&amp;</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𝑈</m:t>
                          </m:r>
                          <m:d>
                            <m:d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ctrlPr>
                            </m:dPr>
                            <m:e>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0</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0</m:t>
                              </m:r>
                            </m:e>
                          </m:d>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m:t>
                          </m:r>
                          <m:d>
                            <m:d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ctrlPr>
                            </m:dPr>
                            <m:e>
                              <m:f>
                                <m:f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ctrlPr>
                                </m:fPr>
                                <m:num>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𝑈</m:t>
                                  </m:r>
                                </m:num>
                                <m:den>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𝑧</m:t>
                                  </m:r>
                                </m:den>
                              </m:f>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𝑧</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m:t>
                              </m:r>
                              <m:f>
                                <m:f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ctrlPr>
                                </m:fPr>
                                <m:num>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𝑈</m:t>
                                  </m:r>
                                </m:num>
                                <m:den>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𝜕𝜃</m:t>
                                  </m:r>
                                </m:den>
                              </m:f>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𝜃</m:t>
                              </m:r>
                            </m:e>
                          </m:d>
                        </m:e>
                        <m:e>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&amp;+</m:t>
                          </m:r>
                          <m:f>
                            <m:f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ctrlPr>
                            </m:fPr>
                            <m:num>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1</m:t>
                              </m:r>
                            </m:num>
                            <m:den>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2</m:t>
                              </m:r>
                            </m:den>
                          </m:f>
                          <m:d>
                            <m:d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ctrlPr>
                            </m:dPr>
                            <m:e>
                              <m:f>
                                <m:f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ctrlPr>
                                </m:fPr>
                                <m:num>
                                  <m:sSup>
                                    <m:sSup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ctrlPr>
                                    </m:sSupPr>
                                    <m:e>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m:t>
                                      </m:r>
                                    </m:e>
                                    <m:sup>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2</m:t>
                                      </m:r>
                                    </m:sup>
                                  </m:sSup>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𝑈</m:t>
                                  </m:r>
                                </m:num>
                                <m:den>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m:t>
                                  </m:r>
                                  <m:sSup>
                                    <m:sSup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ctrlPr>
                                    </m:sSupPr>
                                    <m:e>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𝑧</m:t>
                                      </m:r>
                                    </m:e>
                                    <m:sup>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2</m:t>
                                      </m:r>
                                    </m:sup>
                                  </m:sSup>
                                </m:den>
                              </m:f>
                              <m:sSup>
                                <m:sSup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ctrlPr>
                                </m:sSupPr>
                                <m:e>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𝑧</m:t>
                                  </m:r>
                                </m:e>
                                <m:sup>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2</m:t>
                                  </m:r>
                                </m:sup>
                              </m:sSup>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m:t>
                              </m:r>
                              <m:f>
                                <m:f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ctrlPr>
                                </m:fPr>
                                <m:num>
                                  <m:sSup>
                                    <m:sSup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ctrlPr>
                                    </m:sSupPr>
                                    <m:e>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m:t>
                                      </m:r>
                                    </m:e>
                                    <m:sup>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2</m:t>
                                      </m:r>
                                    </m:sup>
                                  </m:sSup>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𝑈</m:t>
                                  </m:r>
                                </m:num>
                                <m:den>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m:t>
                                  </m:r>
                                  <m:sSup>
                                    <m:sSup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ctrlPr>
                                    </m:sSupPr>
                                    <m:e>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𝜃</m:t>
                                      </m:r>
                                    </m:e>
                                    <m:sup>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2</m:t>
                                      </m:r>
                                    </m:sup>
                                  </m:sSup>
                                </m:den>
                              </m:f>
                              <m:sSup>
                                <m:sSup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ctrlPr>
                                </m:sSupPr>
                                <m:e>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𝜃</m:t>
                                  </m:r>
                                </m:e>
                                <m:sup>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2</m:t>
                                  </m:r>
                                </m:sup>
                              </m:sSup>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2</m:t>
                              </m:r>
                              <m:f>
                                <m:f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ctrlPr>
                                </m:fPr>
                                <m:num>
                                  <m:sSup>
                                    <m:sSup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ctrlPr>
                                    </m:sSupPr>
                                    <m:e>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m:t>
                                      </m:r>
                                    </m:e>
                                    <m:sup>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2</m:t>
                                      </m:r>
                                    </m:sup>
                                  </m:sSup>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𝑈</m:t>
                                  </m:r>
                                </m:num>
                                <m:den>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𝑧</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𝜕𝜃</m:t>
                                  </m:r>
                                </m:den>
                              </m:f>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𝑧</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𝜃</m:t>
                              </m:r>
                            </m:e>
                          </m:d>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𝑂</m:t>
                          </m:r>
                          <m:d>
                            <m:d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ctrlPr>
                            </m:dPr>
                            <m:e>
                              <m:sSup>
                                <m:sSup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ctrlPr>
                                </m:sSupPr>
                                <m:e>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𝑧</m:t>
                                  </m:r>
                                </m:e>
                                <m:sup>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3</m:t>
                                  </m:r>
                                </m:sup>
                              </m:sSup>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m:t>
                              </m:r>
                              <m:sSup>
                                <m:sSupPr>
                                  <m:ctrlP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ctrlPr>
                                </m:sSupPr>
                                <m:e>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𝜃</m:t>
                                  </m:r>
                                </m:e>
                                <m:sup>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3</m:t>
                                  </m:r>
                                </m:sup>
                              </m:sSup>
                            </m:e>
                          </m:d>
                        </m:e>
                      </m:eqAr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	</m:t>
                      </m:r>
                    </m:oMath>
                  </m:oMathPara>
                </a14:m>
                <a:endPar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lvl="0"/>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由于摆做围绕平衡点的往复运动，于是</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14:m>
                  <m:oMath xmlns:m="http://schemas.openxmlformats.org/officeDocument/2006/math">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ea typeface="MS Mincho" panose="02020609040205080304" charset="-128"/>
                        <a:cs typeface="Cambria Math" panose="02040503050406030204" pitchFamily="18" charset="0"/>
                      </a:rPr>
                      <m:t>(</m:t>
                    </m:r>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ea typeface="MS Mincho" panose="02020609040205080304" charset="-128"/>
                        <a:cs typeface="Cambria Math" panose="02040503050406030204" pitchFamily="18" charset="0"/>
                      </a:rPr>
                      <m:t>0</m:t>
                    </m:r>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ea typeface="MS Mincho" panose="02020609040205080304" charset="-128"/>
                        <a:cs typeface="Cambria Math" panose="02040503050406030204" pitchFamily="18" charset="0"/>
                      </a:rPr>
                      <m:t>,</m:t>
                    </m:r>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ea typeface="MS Mincho" panose="02020609040205080304" charset="-128"/>
                        <a:cs typeface="Cambria Math" panose="02040503050406030204" pitchFamily="18" charset="0"/>
                      </a:rPr>
                      <m:t>0</m:t>
                    </m:r>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ea typeface="MS Mincho" panose="02020609040205080304" charset="-128"/>
                        <a:cs typeface="Cambria Math" panose="02040503050406030204" pitchFamily="18" charset="0"/>
                      </a:rPr>
                      <m:t>)</m:t>
                    </m:r>
                  </m:oMath>
                </a14:m>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同时也是势能极小值点，于是一次项均为零，更高次项由于微小振动可忽略。</a:t>
                </a:r>
                <a:endPar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lvl="0"/>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根据一维情况下的运动，将二阶偏导分别用</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弹簧的劲度系数</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 </a:t>
                </a:r>
                <a14:m>
                  <m:oMath xmlns:m="http://schemas.openxmlformats.org/officeDocument/2006/math">
                    <m:r>
                      <a:rPr lang="en-US" altLang="zh-CN" sz="2400" i="1" dirty="0">
                        <a:latin typeface="Cambria Math" panose="02040503050406030204" pitchFamily="18" charset="0"/>
                        <a:ea typeface="微软雅黑" panose="020B0503020204020204" pitchFamily="34" charset="-122"/>
                        <a:cs typeface="Cambria Math" panose="02040503050406030204" pitchFamily="18" charset="0"/>
                      </a:rPr>
                      <m:t>𝑘</m:t>
                    </m:r>
                    <m:r>
                      <a:rPr lang="en-US" altLang="zh-CN" sz="2400" i="1" dirty="0">
                        <a:latin typeface="Cambria Math" panose="02040503050406030204" pitchFamily="18" charset="0"/>
                        <a:ea typeface="MS Mincho" panose="02020609040205080304" charset="-128"/>
                        <a:cs typeface="Cambria Math" panose="02040503050406030204" pitchFamily="18" charset="0"/>
                      </a:rPr>
                      <m:t>；</m:t>
                    </m:r>
                  </m:oMath>
                </a14:m>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弹簧的扭转系数</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 </a:t>
                </a:r>
                <a14:m>
                  <m:oMath xmlns:m="http://schemas.openxmlformats.org/officeDocument/2006/math">
                    <m:r>
                      <a:rPr lang="en-US" altLang="zh-CN" sz="2400" i="1" dirty="0">
                        <a:latin typeface="Cambria Math" panose="02040503050406030204" pitchFamily="18" charset="0"/>
                        <a:ea typeface="MS Mincho" panose="02020609040205080304" charset="-128"/>
                        <a:cs typeface="Cambria Math" panose="02040503050406030204" pitchFamily="18" charset="0"/>
                        <a:sym typeface="+mn-ea"/>
                      </a:rPr>
                      <m:t>𝛿</m:t>
                    </m:r>
                  </m:oMath>
                </a14:m>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；耦合系数</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 </a:t>
                </a:r>
                <a14:m>
                  <m:oMath xmlns:m="http://schemas.openxmlformats.org/officeDocument/2006/math">
                    <m:r>
                      <a:rPr lang="en-US" altLang="zh-CN" sz="2400" i="1" dirty="0">
                        <a:latin typeface="Cambria Math" panose="02040503050406030204" pitchFamily="18" charset="0"/>
                        <a:ea typeface="MS Mincho" panose="02020609040205080304" charset="-128"/>
                        <a:cs typeface="Cambria Math" panose="02040503050406030204" pitchFamily="18" charset="0"/>
                      </a:rPr>
                      <m:t>𝜖</m:t>
                    </m:r>
                  </m:oMath>
                </a14:m>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替代得到：</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lvl="0"/>
                <a14:m>
                  <m:oMathPara xmlns:m="http://schemas.openxmlformats.org/officeDocument/2006/math">
                    <m:oMathParaPr>
                      <m:jc m:val="centerGroup"/>
                    </m:oMathParaPr>
                    <m:oMath xmlns:m="http://schemas.openxmlformats.org/officeDocument/2006/math">
                      <m:r>
                        <a:rPr lang="en-US" altLang="zh-CN" sz="2400" i="1" smtClean="0">
                          <a:solidFill>
                            <a:srgbClr val="000000"/>
                          </a:solidFill>
                          <a:latin typeface="Cambria Math" panose="02040503050406030204" pitchFamily="18" charset="0"/>
                          <a:ea typeface="微软雅黑" panose="020B0503020204020204" pitchFamily="34" charset="-122"/>
                          <a:cs typeface="微软雅黑" panose="020B0503020204020204" pitchFamily="34" charset="-122"/>
                        </a:rPr>
                        <m:t>𝑈</m:t>
                      </m:r>
                      <m:d>
                        <m:dPr>
                          <m:ctrlPr>
                            <a:rPr lang="en-US" altLang="zh-CN" sz="2400" i="1">
                              <a:solidFill>
                                <a:srgbClr val="000000"/>
                              </a:solidFill>
                              <a:latin typeface="Cambria Math" panose="02040503050406030204" pitchFamily="18" charset="0"/>
                              <a:ea typeface="微软雅黑" panose="020B0503020204020204" pitchFamily="34" charset="-122"/>
                              <a:cs typeface="微软雅黑" panose="020B0503020204020204" pitchFamily="34" charset="-122"/>
                            </a:rPr>
                          </m:ctrlPr>
                        </m:dPr>
                        <m:e>
                          <m:r>
                            <a:rPr lang="en-US" altLang="zh-CN" sz="2400" i="1">
                              <a:solidFill>
                                <a:srgbClr val="000000"/>
                              </a:solidFill>
                              <a:latin typeface="Cambria Math" panose="02040503050406030204" pitchFamily="18" charset="0"/>
                              <a:ea typeface="微软雅黑" panose="020B0503020204020204" pitchFamily="34" charset="-122"/>
                              <a:cs typeface="微软雅黑" panose="020B0503020204020204" pitchFamily="34" charset="-122"/>
                            </a:rPr>
                            <m:t>𝑧</m:t>
                          </m:r>
                          <m:r>
                            <a:rPr lang="en-US" altLang="zh-CN" sz="2400" i="1">
                              <a:solidFill>
                                <a:srgbClr val="000000"/>
                              </a:solidFill>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a:solidFill>
                                <a:srgbClr val="000000"/>
                              </a:solidFill>
                              <a:latin typeface="Cambria Math" panose="02040503050406030204" pitchFamily="18" charset="0"/>
                              <a:ea typeface="微软雅黑" panose="020B0503020204020204" pitchFamily="34" charset="-122"/>
                              <a:cs typeface="微软雅黑" panose="020B0503020204020204" pitchFamily="34" charset="-122"/>
                            </a:rPr>
                            <m:t>𝜃</m:t>
                          </m:r>
                        </m:e>
                      </m:d>
                      <m:r>
                        <a:rPr lang="en-US" altLang="zh-CN" sz="2400" i="1">
                          <a:solidFill>
                            <a:srgbClr val="000000"/>
                          </a:solidFill>
                          <a:latin typeface="Cambria Math" panose="02040503050406030204" pitchFamily="18" charset="0"/>
                          <a:ea typeface="微软雅黑" panose="020B0503020204020204" pitchFamily="34" charset="-122"/>
                          <a:cs typeface="微软雅黑" panose="020B0503020204020204" pitchFamily="34" charset="-122"/>
                        </a:rPr>
                        <m:t>≈</m:t>
                      </m:r>
                      <m:f>
                        <m:fPr>
                          <m:ctrlPr>
                            <a:rPr lang="en-US" altLang="zh-CN" sz="2400" i="1">
                              <a:solidFill>
                                <a:srgbClr val="000000"/>
                              </a:solidFill>
                              <a:latin typeface="Cambria Math" panose="02040503050406030204" pitchFamily="18" charset="0"/>
                              <a:ea typeface="微软雅黑" panose="020B0503020204020204" pitchFamily="34" charset="-122"/>
                              <a:cs typeface="微软雅黑" panose="020B0503020204020204" pitchFamily="34" charset="-122"/>
                            </a:rPr>
                          </m:ctrlPr>
                        </m:fPr>
                        <m:num>
                          <m:r>
                            <a:rPr lang="en-US" altLang="zh-CN" sz="2400" i="1">
                              <a:solidFill>
                                <a:srgbClr val="000000"/>
                              </a:solidFill>
                              <a:latin typeface="Cambria Math" panose="02040503050406030204" pitchFamily="18" charset="0"/>
                              <a:ea typeface="微软雅黑" panose="020B0503020204020204" pitchFamily="34" charset="-122"/>
                              <a:cs typeface="微软雅黑" panose="020B0503020204020204" pitchFamily="34" charset="-122"/>
                            </a:rPr>
                            <m:t>1</m:t>
                          </m:r>
                        </m:num>
                        <m:den>
                          <m:r>
                            <a:rPr lang="en-US" altLang="zh-CN" sz="2400" i="1">
                              <a:solidFill>
                                <a:srgbClr val="000000"/>
                              </a:solidFill>
                              <a:latin typeface="Cambria Math" panose="02040503050406030204" pitchFamily="18" charset="0"/>
                              <a:ea typeface="微软雅黑" panose="020B0503020204020204" pitchFamily="34" charset="-122"/>
                              <a:cs typeface="微软雅黑" panose="020B0503020204020204" pitchFamily="34" charset="-122"/>
                            </a:rPr>
                            <m:t>2</m:t>
                          </m:r>
                        </m:den>
                      </m:f>
                      <m:r>
                        <a:rPr lang="en-US" altLang="zh-CN" sz="2400" i="1">
                          <a:solidFill>
                            <a:srgbClr val="000000"/>
                          </a:solidFill>
                          <a:latin typeface="Cambria Math" panose="02040503050406030204" pitchFamily="18" charset="0"/>
                          <a:ea typeface="微软雅黑" panose="020B0503020204020204" pitchFamily="34" charset="-122"/>
                          <a:cs typeface="微软雅黑" panose="020B0503020204020204" pitchFamily="34" charset="-122"/>
                        </a:rPr>
                        <m:t>𝑘</m:t>
                      </m:r>
                      <m:sSup>
                        <m:sSupPr>
                          <m:ctrlPr>
                            <a:rPr lang="en-US" altLang="zh-CN" sz="2400" i="1">
                              <a:solidFill>
                                <a:srgbClr val="000000"/>
                              </a:solidFill>
                              <a:latin typeface="Cambria Math" panose="02040503050406030204" pitchFamily="18" charset="0"/>
                              <a:ea typeface="微软雅黑" panose="020B0503020204020204" pitchFamily="34" charset="-122"/>
                              <a:cs typeface="微软雅黑" panose="020B0503020204020204" pitchFamily="34" charset="-122"/>
                            </a:rPr>
                          </m:ctrlPr>
                        </m:sSupPr>
                        <m:e>
                          <m:r>
                            <a:rPr lang="en-US" altLang="zh-CN" sz="2400" i="1">
                              <a:solidFill>
                                <a:srgbClr val="000000"/>
                              </a:solidFill>
                              <a:latin typeface="Cambria Math" panose="02040503050406030204" pitchFamily="18" charset="0"/>
                              <a:ea typeface="微软雅黑" panose="020B0503020204020204" pitchFamily="34" charset="-122"/>
                              <a:cs typeface="微软雅黑" panose="020B0503020204020204" pitchFamily="34" charset="-122"/>
                            </a:rPr>
                            <m:t>𝑧</m:t>
                          </m:r>
                        </m:e>
                        <m:sup>
                          <m:r>
                            <a:rPr lang="en-US" altLang="zh-CN" sz="2400" i="1">
                              <a:solidFill>
                                <a:srgbClr val="000000"/>
                              </a:solidFill>
                              <a:latin typeface="Cambria Math" panose="02040503050406030204" pitchFamily="18" charset="0"/>
                              <a:ea typeface="微软雅黑" panose="020B0503020204020204" pitchFamily="34" charset="-122"/>
                              <a:cs typeface="微软雅黑" panose="020B0503020204020204" pitchFamily="34" charset="-122"/>
                            </a:rPr>
                            <m:t>2</m:t>
                          </m:r>
                        </m:sup>
                      </m:sSup>
                      <m:r>
                        <a:rPr lang="en-US" altLang="zh-CN" sz="2400" i="1">
                          <a:solidFill>
                            <a:srgbClr val="000000"/>
                          </a:solidFill>
                          <a:latin typeface="Cambria Math" panose="02040503050406030204" pitchFamily="18" charset="0"/>
                          <a:ea typeface="微软雅黑" panose="020B0503020204020204" pitchFamily="34" charset="-122"/>
                          <a:cs typeface="微软雅黑" panose="020B0503020204020204" pitchFamily="34" charset="-122"/>
                        </a:rPr>
                        <m:t>+</m:t>
                      </m:r>
                      <m:f>
                        <m:fPr>
                          <m:ctrlPr>
                            <a:rPr lang="en-US" altLang="zh-CN" sz="2400" i="1">
                              <a:solidFill>
                                <a:srgbClr val="000000"/>
                              </a:solidFill>
                              <a:latin typeface="Cambria Math" panose="02040503050406030204" pitchFamily="18" charset="0"/>
                              <a:ea typeface="微软雅黑" panose="020B0503020204020204" pitchFamily="34" charset="-122"/>
                              <a:cs typeface="微软雅黑" panose="020B0503020204020204" pitchFamily="34" charset="-122"/>
                            </a:rPr>
                          </m:ctrlPr>
                        </m:fPr>
                        <m:num>
                          <m:r>
                            <a:rPr lang="en-US" altLang="zh-CN" sz="2400" i="1">
                              <a:solidFill>
                                <a:srgbClr val="000000"/>
                              </a:solidFill>
                              <a:latin typeface="Cambria Math" panose="02040503050406030204" pitchFamily="18" charset="0"/>
                              <a:ea typeface="微软雅黑" panose="020B0503020204020204" pitchFamily="34" charset="-122"/>
                              <a:cs typeface="微软雅黑" panose="020B0503020204020204" pitchFamily="34" charset="-122"/>
                            </a:rPr>
                            <m:t>1</m:t>
                          </m:r>
                        </m:num>
                        <m:den>
                          <m:r>
                            <a:rPr lang="en-US" altLang="zh-CN" sz="2400" i="1">
                              <a:solidFill>
                                <a:srgbClr val="000000"/>
                              </a:solidFill>
                              <a:latin typeface="Cambria Math" panose="02040503050406030204" pitchFamily="18" charset="0"/>
                              <a:ea typeface="微软雅黑" panose="020B0503020204020204" pitchFamily="34" charset="-122"/>
                              <a:cs typeface="微软雅黑" panose="020B0503020204020204" pitchFamily="34" charset="-122"/>
                            </a:rPr>
                            <m:t>2</m:t>
                          </m:r>
                        </m:den>
                      </m:f>
                      <m:r>
                        <a:rPr lang="en-US" altLang="zh-CN" sz="2400" i="1">
                          <a:solidFill>
                            <a:srgbClr val="000000"/>
                          </a:solidFill>
                          <a:latin typeface="Cambria Math" panose="02040503050406030204" pitchFamily="18" charset="0"/>
                          <a:ea typeface="微软雅黑" panose="020B0503020204020204" pitchFamily="34" charset="-122"/>
                          <a:cs typeface="微软雅黑" panose="020B0503020204020204" pitchFamily="34" charset="-122"/>
                        </a:rPr>
                        <m:t>𝛿</m:t>
                      </m:r>
                      <m:sSup>
                        <m:sSupPr>
                          <m:ctrlPr>
                            <a:rPr lang="en-US" altLang="zh-CN" sz="2400" i="1">
                              <a:solidFill>
                                <a:srgbClr val="000000"/>
                              </a:solidFill>
                              <a:latin typeface="Cambria Math" panose="02040503050406030204" pitchFamily="18" charset="0"/>
                              <a:ea typeface="微软雅黑" panose="020B0503020204020204" pitchFamily="34" charset="-122"/>
                              <a:cs typeface="微软雅黑" panose="020B0503020204020204" pitchFamily="34" charset="-122"/>
                            </a:rPr>
                          </m:ctrlPr>
                        </m:sSupPr>
                        <m:e>
                          <m:r>
                            <a:rPr lang="en-US" altLang="zh-CN" sz="2400" i="1">
                              <a:solidFill>
                                <a:srgbClr val="000000"/>
                              </a:solidFill>
                              <a:latin typeface="Cambria Math" panose="02040503050406030204" pitchFamily="18" charset="0"/>
                              <a:ea typeface="微软雅黑" panose="020B0503020204020204" pitchFamily="34" charset="-122"/>
                              <a:cs typeface="微软雅黑" panose="020B0503020204020204" pitchFamily="34" charset="-122"/>
                            </a:rPr>
                            <m:t>𝜃</m:t>
                          </m:r>
                        </m:e>
                        <m:sup>
                          <m:r>
                            <a:rPr lang="en-US" altLang="zh-CN" sz="2400" i="1">
                              <a:solidFill>
                                <a:srgbClr val="000000"/>
                              </a:solidFill>
                              <a:latin typeface="Cambria Math" panose="02040503050406030204" pitchFamily="18" charset="0"/>
                              <a:ea typeface="微软雅黑" panose="020B0503020204020204" pitchFamily="34" charset="-122"/>
                              <a:cs typeface="微软雅黑" panose="020B0503020204020204" pitchFamily="34" charset="-122"/>
                            </a:rPr>
                            <m:t>2</m:t>
                          </m:r>
                        </m:sup>
                      </m:sSup>
                      <m:r>
                        <a:rPr lang="en-US" altLang="zh-CN" sz="2400" i="1">
                          <a:solidFill>
                            <a:srgbClr val="000000"/>
                          </a:solidFill>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a:solidFill>
                            <a:srgbClr val="000000"/>
                          </a:solidFill>
                          <a:latin typeface="Cambria Math" panose="02040503050406030204" pitchFamily="18" charset="0"/>
                          <a:ea typeface="微软雅黑" panose="020B0503020204020204" pitchFamily="34" charset="-122"/>
                          <a:cs typeface="微软雅黑" panose="020B0503020204020204" pitchFamily="34" charset="-122"/>
                        </a:rPr>
                        <m:t>𝜖</m:t>
                      </m:r>
                      <m:r>
                        <a:rPr lang="en-US" altLang="zh-CN" sz="2400" i="1">
                          <a:solidFill>
                            <a:srgbClr val="000000"/>
                          </a:solidFill>
                          <a:latin typeface="Cambria Math" panose="02040503050406030204" pitchFamily="18" charset="0"/>
                          <a:ea typeface="微软雅黑" panose="020B0503020204020204" pitchFamily="34" charset="-122"/>
                          <a:cs typeface="微软雅黑" panose="020B0503020204020204" pitchFamily="34" charset="-122"/>
                        </a:rPr>
                        <m:t>𝑧</m:t>
                      </m:r>
                      <m:r>
                        <a:rPr lang="en-US" altLang="zh-CN" sz="2400" i="1">
                          <a:solidFill>
                            <a:srgbClr val="000000"/>
                          </a:solidFill>
                          <a:latin typeface="Cambria Math" panose="02040503050406030204" pitchFamily="18" charset="0"/>
                          <a:ea typeface="微软雅黑" panose="020B0503020204020204" pitchFamily="34" charset="-122"/>
                          <a:cs typeface="微软雅黑" panose="020B0503020204020204" pitchFamily="34" charset="-122"/>
                        </a:rPr>
                        <m:t>𝜃</m:t>
                      </m:r>
                    </m:oMath>
                  </m:oMathPara>
                </a14:m>
                <a:endPar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lvl="0"/>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当</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14:m>
                  <m:oMath xmlns:m="http://schemas.openxmlformats.org/officeDocument/2006/math">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𝑧</m:t>
                    </m:r>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m:t>
                    </m:r>
                    <m:r>
                      <a:rPr kumimoji="0" lang="en-US" altLang="zh-CN" sz="240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𝜃</m:t>
                    </m:r>
                  </m:oMath>
                </a14:m>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较大时，将出现非线性耦合。假设耦合是线性的有助于我们的分析。</a:t>
                </a:r>
                <a:endPar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3" name="文本框 2"/>
              <p:cNvSpPr txBox="1">
                <a:spLocks noRot="1" noChangeAspect="1" noMove="1" noResize="1" noEditPoints="1" noAdjustHandles="1" noChangeArrowheads="1" noChangeShapeType="1" noTextEdit="1"/>
              </p:cNvSpPr>
              <p:nvPr/>
            </p:nvSpPr>
            <p:spPr>
              <a:xfrm>
                <a:off x="429804" y="1004089"/>
                <a:ext cx="11189314" cy="5458674"/>
              </a:xfrm>
              <a:prstGeom prst="rect">
                <a:avLst/>
              </a:prstGeom>
              <a:blipFill rotWithShape="1">
                <a:blip r:embed="rId1"/>
                <a:stretch>
                  <a:fillRect l="-5" t="-3" r="5" b="7"/>
                </a:stretch>
              </a:blipFill>
            </p:spPr>
            <p:txBody>
              <a:bodyPr/>
              <a:lstStyle/>
              <a:p>
                <a:r>
                  <a:rPr lang="zh-CN" altLang="en-US">
                    <a:noFill/>
                  </a:rPr>
                  <a:t> </a:t>
                </a:r>
              </a:p>
            </p:txBody>
          </p:sp>
        </mc:Fallback>
      </mc:AlternateContent>
      <p:grpSp>
        <p:nvGrpSpPr>
          <p:cNvPr id="7" name="组合 6"/>
          <p:cNvGrpSpPr/>
          <p:nvPr/>
        </p:nvGrpSpPr>
        <p:grpSpPr>
          <a:xfrm>
            <a:off x="-1" y="392113"/>
            <a:ext cx="3254189" cy="523220"/>
            <a:chOff x="0" y="392113"/>
            <a:chExt cx="2650036" cy="523220"/>
          </a:xfrm>
        </p:grpSpPr>
        <p:sp>
          <p:nvSpPr>
            <p:cNvPr id="8" name="文本框 10"/>
            <p:cNvSpPr txBox="1">
              <a:spLocks noChangeArrowheads="1"/>
            </p:cNvSpPr>
            <p:nvPr/>
          </p:nvSpPr>
          <p:spPr bwMode="auto">
            <a:xfrm>
              <a:off x="343837" y="392113"/>
              <a:ext cx="230619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lvl="0" eaLnBrk="1" hangingPunct="1">
                <a:defRPr/>
              </a:pPr>
              <a:r>
                <a:rPr lang="zh-CN" altLang="en-US" sz="2800" b="1" noProof="0" dirty="0">
                  <a:solidFill>
                    <a:srgbClr val="000000"/>
                  </a:solidFill>
                  <a:latin typeface="微软雅黑" panose="020B0503020204020204" pitchFamily="34" charset="-122"/>
                  <a:ea typeface="微软雅黑" panose="020B0503020204020204" pitchFamily="34" charset="-122"/>
                </a:rPr>
                <a:t>理论</a:t>
              </a:r>
              <a:r>
                <a:rPr lang="en-US" altLang="zh-CN" sz="2800" b="1" dirty="0">
                  <a:solidFill>
                    <a:srgbClr val="000000"/>
                  </a:solidFill>
                  <a:latin typeface="微软雅黑" panose="020B0503020204020204" pitchFamily="34" charset="-122"/>
                  <a:ea typeface="微软雅黑" panose="020B0503020204020204" pitchFamily="34" charset="-122"/>
                </a:rPr>
                <a:t>·</a:t>
              </a:r>
              <a:r>
                <a:rPr lang="zh-CN" altLang="en-US" sz="2800" b="1" dirty="0">
                  <a:solidFill>
                    <a:srgbClr val="000000"/>
                  </a:solidFill>
                  <a:latin typeface="微软雅黑" panose="020B0503020204020204" pitchFamily="34" charset="-122"/>
                  <a:ea typeface="微软雅黑" panose="020B0503020204020204" pitchFamily="34" charset="-122"/>
                </a:rPr>
                <a:t>推导</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1" name="矩形 1"/>
            <p:cNvSpPr>
              <a:spLocks noChangeArrowheads="1"/>
            </p:cNvSpPr>
            <p:nvPr/>
          </p:nvSpPr>
          <p:spPr bwMode="auto">
            <a:xfrm>
              <a:off x="0" y="392113"/>
              <a:ext cx="290286" cy="463550"/>
            </a:xfrm>
            <a:prstGeom prst="rect">
              <a:avLst/>
            </a:prstGeom>
            <a:solidFill>
              <a:srgbClr val="9A0000"/>
            </a:soli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BB8F404-4D68-4CF1-A1D1-4545FFCFAAD6}" type="slidenum">
              <a:rPr kumimoji="0" lang="zh-CN" altLang="en-US" sz="2400" b="0" i="0" u="none" strike="noStrike" kern="1200" cap="none" spc="0" normalizeH="0" baseline="0" noProof="0" smtClean="0">
                <a:ln>
                  <a:noFill/>
                </a:ln>
                <a:solidFill>
                  <a:srgbClr val="9A0000"/>
                </a:solidFill>
                <a:effectLst/>
                <a:uLnTx/>
                <a:uFillTx/>
                <a:latin typeface="Calibri" panose="020F0502020204030204" pitchFamily="34" charset="0"/>
                <a:ea typeface="宋体" panose="02010600030101010101" pitchFamily="2" charset="-122"/>
                <a:cs typeface="+mn-cs"/>
              </a:rPr>
            </a:fld>
            <a:endParaRPr kumimoji="0" lang="zh-CN" altLang="en-US" sz="2400" b="0" i="0" u="none" strike="noStrike" kern="1200" cap="none" spc="0" normalizeH="0" baseline="0" noProof="0">
              <a:ln>
                <a:noFill/>
              </a:ln>
              <a:solidFill>
                <a:srgbClr val="9A0000"/>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mc:Choice xmlns:a14="http://schemas.microsoft.com/office/drawing/2010/main" Requires="a14">
          <p:sp>
            <p:nvSpPr>
              <p:cNvPr id="3" name="矩形 2"/>
              <p:cNvSpPr/>
              <p:nvPr/>
            </p:nvSpPr>
            <p:spPr>
              <a:xfrm>
                <a:off x="958536" y="915333"/>
                <a:ext cx="10640191" cy="4769767"/>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写出拉格朗日量和拉格朗日方程得到：</a:t>
                </a:r>
                <a:endPar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a:p>
                <a:pPr lvl="0">
                  <a:defRPr/>
                </a:pPr>
                <a14:m>
                  <m:oMathPara xmlns:m="http://schemas.openxmlformats.org/officeDocument/2006/math">
                    <m:oMathParaPr>
                      <m:jc m:val="centerGroup"/>
                    </m:oMathParaPr>
                    <m:oMath xmlns:m="http://schemas.openxmlformats.org/officeDocument/2006/math">
                      <m:r>
                        <a:rPr lang="en-US" altLang="zh-CN" sz="2400" i="1" smtClean="0">
                          <a:solidFill>
                            <a:srgbClr val="000000"/>
                          </a:solidFill>
                          <a:latin typeface="Cambria Math" panose="02040503050406030204" pitchFamily="18" charset="0"/>
                          <a:ea typeface="微软雅黑" panose="020B0503020204020204" pitchFamily="34" charset="-122"/>
                        </a:rPr>
                        <m:t>𝐿</m:t>
                      </m:r>
                      <m:r>
                        <a:rPr lang="en-US" altLang="zh-CN" sz="2400" i="1" smtClean="0">
                          <a:solidFill>
                            <a:srgbClr val="000000"/>
                          </a:solidFill>
                          <a:latin typeface="Cambria Math" panose="02040503050406030204" pitchFamily="18" charset="0"/>
                          <a:ea typeface="微软雅黑" panose="020B0503020204020204" pitchFamily="34" charset="-122"/>
                        </a:rPr>
                        <m:t>=</m:t>
                      </m:r>
                      <m:f>
                        <m:fPr>
                          <m:ctrlPr>
                            <a:rPr lang="en-US" altLang="zh-CN" sz="2400" i="1">
                              <a:solidFill>
                                <a:srgbClr val="000000"/>
                              </a:solidFill>
                              <a:latin typeface="Cambria Math" panose="02040503050406030204" pitchFamily="18" charset="0"/>
                              <a:ea typeface="微软雅黑" panose="020B0503020204020204" pitchFamily="34" charset="-122"/>
                            </a:rPr>
                          </m:ctrlPr>
                        </m:fPr>
                        <m:num>
                          <m:r>
                            <a:rPr lang="en-US" altLang="zh-CN" sz="2400" i="1">
                              <a:solidFill>
                                <a:srgbClr val="000000"/>
                              </a:solidFill>
                              <a:latin typeface="Cambria Math" panose="02040503050406030204" pitchFamily="18" charset="0"/>
                              <a:ea typeface="微软雅黑" panose="020B0503020204020204" pitchFamily="34" charset="-122"/>
                            </a:rPr>
                            <m:t>1</m:t>
                          </m:r>
                        </m:num>
                        <m:den>
                          <m:r>
                            <a:rPr lang="en-US" altLang="zh-CN" sz="2400" i="1">
                              <a:solidFill>
                                <a:srgbClr val="000000"/>
                              </a:solidFill>
                              <a:latin typeface="Cambria Math" panose="02040503050406030204" pitchFamily="18" charset="0"/>
                              <a:ea typeface="微软雅黑" panose="020B0503020204020204" pitchFamily="34" charset="-122"/>
                            </a:rPr>
                            <m:t>2</m:t>
                          </m:r>
                        </m:den>
                      </m:f>
                      <m:r>
                        <a:rPr lang="en-US" altLang="zh-CN" sz="2400" i="1">
                          <a:solidFill>
                            <a:srgbClr val="000000"/>
                          </a:solidFill>
                          <a:latin typeface="Cambria Math" panose="02040503050406030204" pitchFamily="18" charset="0"/>
                          <a:ea typeface="微软雅黑" panose="020B0503020204020204" pitchFamily="34" charset="-122"/>
                        </a:rPr>
                        <m:t>𝑚</m:t>
                      </m:r>
                      <m:acc>
                        <m:accPr>
                          <m:chr m:val="̇"/>
                          <m:ctrlPr>
                            <a:rPr lang="en-US" altLang="zh-CN" sz="2400" i="1">
                              <a:solidFill>
                                <a:srgbClr val="000000"/>
                              </a:solidFill>
                              <a:latin typeface="Cambria Math" panose="02040503050406030204" pitchFamily="18" charset="0"/>
                              <a:ea typeface="微软雅黑" panose="020B0503020204020204" pitchFamily="34" charset="-122"/>
                            </a:rPr>
                          </m:ctrlPr>
                        </m:accPr>
                        <m:e>
                          <m:sSup>
                            <m:sSupPr>
                              <m:ctrlPr>
                                <a:rPr lang="en-US" altLang="zh-CN" sz="2400" i="1">
                                  <a:solidFill>
                                    <a:srgbClr val="000000"/>
                                  </a:solidFill>
                                  <a:latin typeface="Cambria Math" panose="02040503050406030204" pitchFamily="18" charset="0"/>
                                  <a:ea typeface="微软雅黑" panose="020B0503020204020204" pitchFamily="34" charset="-122"/>
                                </a:rPr>
                              </m:ctrlPr>
                            </m:sSupPr>
                            <m:e>
                              <m:r>
                                <a:rPr lang="en-US" altLang="zh-CN" sz="2400" i="1">
                                  <a:solidFill>
                                    <a:srgbClr val="000000"/>
                                  </a:solidFill>
                                  <a:latin typeface="Cambria Math" panose="02040503050406030204" pitchFamily="18" charset="0"/>
                                  <a:ea typeface="微软雅黑" panose="020B0503020204020204" pitchFamily="34" charset="-122"/>
                                </a:rPr>
                                <m:t>𝑧</m:t>
                              </m:r>
                            </m:e>
                            <m:sup>
                              <m:r>
                                <a:rPr lang="en-US" altLang="zh-CN" sz="2400" i="1">
                                  <a:solidFill>
                                    <a:srgbClr val="000000"/>
                                  </a:solidFill>
                                  <a:latin typeface="Cambria Math" panose="02040503050406030204" pitchFamily="18" charset="0"/>
                                  <a:ea typeface="微软雅黑" panose="020B0503020204020204" pitchFamily="34" charset="-122"/>
                                </a:rPr>
                                <m:t>2</m:t>
                              </m:r>
                            </m:sup>
                          </m:sSup>
                        </m:e>
                      </m:acc>
                      <m:r>
                        <a:rPr lang="en-US" altLang="zh-CN" sz="2400" i="1">
                          <a:solidFill>
                            <a:srgbClr val="000000"/>
                          </a:solidFill>
                          <a:latin typeface="Cambria Math" panose="02040503050406030204" pitchFamily="18" charset="0"/>
                          <a:ea typeface="微软雅黑" panose="020B0503020204020204" pitchFamily="34" charset="-122"/>
                        </a:rPr>
                        <m:t>+</m:t>
                      </m:r>
                      <m:f>
                        <m:fPr>
                          <m:ctrlPr>
                            <a:rPr lang="en-US" altLang="zh-CN" sz="2400" i="1">
                              <a:solidFill>
                                <a:srgbClr val="000000"/>
                              </a:solidFill>
                              <a:latin typeface="Cambria Math" panose="02040503050406030204" pitchFamily="18" charset="0"/>
                              <a:ea typeface="微软雅黑" panose="020B0503020204020204" pitchFamily="34" charset="-122"/>
                            </a:rPr>
                          </m:ctrlPr>
                        </m:fPr>
                        <m:num>
                          <m:r>
                            <a:rPr lang="en-US" altLang="zh-CN" sz="2400" i="1">
                              <a:solidFill>
                                <a:srgbClr val="000000"/>
                              </a:solidFill>
                              <a:latin typeface="Cambria Math" panose="02040503050406030204" pitchFamily="18" charset="0"/>
                              <a:ea typeface="微软雅黑" panose="020B0503020204020204" pitchFamily="34" charset="-122"/>
                            </a:rPr>
                            <m:t>1</m:t>
                          </m:r>
                        </m:num>
                        <m:den>
                          <m:r>
                            <a:rPr lang="en-US" altLang="zh-CN" sz="2400" i="1">
                              <a:solidFill>
                                <a:srgbClr val="000000"/>
                              </a:solidFill>
                              <a:latin typeface="Cambria Math" panose="02040503050406030204" pitchFamily="18" charset="0"/>
                              <a:ea typeface="微软雅黑" panose="020B0503020204020204" pitchFamily="34" charset="-122"/>
                            </a:rPr>
                            <m:t>2</m:t>
                          </m:r>
                        </m:den>
                      </m:f>
                      <m:r>
                        <a:rPr lang="en-US" altLang="zh-CN" sz="2400" i="1">
                          <a:solidFill>
                            <a:srgbClr val="000000"/>
                          </a:solidFill>
                          <a:latin typeface="Cambria Math" panose="02040503050406030204" pitchFamily="18" charset="0"/>
                          <a:ea typeface="微软雅黑" panose="020B0503020204020204" pitchFamily="34" charset="-122"/>
                        </a:rPr>
                        <m:t>𝐼</m:t>
                      </m:r>
                      <m:acc>
                        <m:accPr>
                          <m:chr m:val="̇"/>
                          <m:ctrlPr>
                            <a:rPr lang="en-US" altLang="zh-CN" sz="2400" i="1">
                              <a:solidFill>
                                <a:srgbClr val="000000"/>
                              </a:solidFill>
                              <a:latin typeface="Cambria Math" panose="02040503050406030204" pitchFamily="18" charset="0"/>
                              <a:ea typeface="微软雅黑" panose="020B0503020204020204" pitchFamily="34" charset="-122"/>
                            </a:rPr>
                          </m:ctrlPr>
                        </m:accPr>
                        <m:e>
                          <m:sSup>
                            <m:sSupPr>
                              <m:ctrlPr>
                                <a:rPr lang="en-US" altLang="zh-CN" sz="2400" i="1">
                                  <a:solidFill>
                                    <a:srgbClr val="000000"/>
                                  </a:solidFill>
                                  <a:latin typeface="Cambria Math" panose="02040503050406030204" pitchFamily="18" charset="0"/>
                                  <a:ea typeface="微软雅黑" panose="020B0503020204020204" pitchFamily="34" charset="-122"/>
                                </a:rPr>
                              </m:ctrlPr>
                            </m:sSupPr>
                            <m:e>
                              <m:r>
                                <a:rPr lang="en-US" altLang="zh-CN" sz="2400" i="1">
                                  <a:solidFill>
                                    <a:srgbClr val="000000"/>
                                  </a:solidFill>
                                  <a:latin typeface="Cambria Math" panose="02040503050406030204" pitchFamily="18" charset="0"/>
                                  <a:ea typeface="微软雅黑" panose="020B0503020204020204" pitchFamily="34" charset="-122"/>
                                </a:rPr>
                                <m:t>𝜃</m:t>
                              </m:r>
                            </m:e>
                            <m:sup>
                              <m:r>
                                <a:rPr lang="en-US" altLang="zh-CN" sz="2400" i="1">
                                  <a:solidFill>
                                    <a:srgbClr val="000000"/>
                                  </a:solidFill>
                                  <a:latin typeface="Cambria Math" panose="02040503050406030204" pitchFamily="18" charset="0"/>
                                  <a:ea typeface="微软雅黑" panose="020B0503020204020204" pitchFamily="34" charset="-122"/>
                                </a:rPr>
                                <m:t>2</m:t>
                              </m:r>
                            </m:sup>
                          </m:sSup>
                        </m:e>
                      </m:acc>
                      <m:r>
                        <a:rPr lang="en-US" altLang="zh-CN" sz="2400" i="1">
                          <a:solidFill>
                            <a:srgbClr val="000000"/>
                          </a:solidFill>
                          <a:latin typeface="Cambria Math" panose="02040503050406030204" pitchFamily="18" charset="0"/>
                          <a:ea typeface="微软雅黑" panose="020B0503020204020204" pitchFamily="34" charset="-122"/>
                        </a:rPr>
                        <m:t>−</m:t>
                      </m:r>
                      <m:f>
                        <m:fPr>
                          <m:ctrlPr>
                            <a:rPr lang="en-US" altLang="zh-CN" sz="2400" i="1">
                              <a:solidFill>
                                <a:srgbClr val="000000"/>
                              </a:solidFill>
                              <a:latin typeface="Cambria Math" panose="02040503050406030204" pitchFamily="18" charset="0"/>
                              <a:ea typeface="微软雅黑" panose="020B0503020204020204" pitchFamily="34" charset="-122"/>
                            </a:rPr>
                          </m:ctrlPr>
                        </m:fPr>
                        <m:num>
                          <m:r>
                            <a:rPr lang="en-US" altLang="zh-CN" sz="2400" i="1">
                              <a:solidFill>
                                <a:srgbClr val="000000"/>
                              </a:solidFill>
                              <a:latin typeface="Cambria Math" panose="02040503050406030204" pitchFamily="18" charset="0"/>
                              <a:ea typeface="微软雅黑" panose="020B0503020204020204" pitchFamily="34" charset="-122"/>
                            </a:rPr>
                            <m:t>1</m:t>
                          </m:r>
                        </m:num>
                        <m:den>
                          <m:r>
                            <a:rPr lang="en-US" altLang="zh-CN" sz="2400" i="1">
                              <a:solidFill>
                                <a:srgbClr val="000000"/>
                              </a:solidFill>
                              <a:latin typeface="Cambria Math" panose="02040503050406030204" pitchFamily="18" charset="0"/>
                              <a:ea typeface="微软雅黑" panose="020B0503020204020204" pitchFamily="34" charset="-122"/>
                            </a:rPr>
                            <m:t>2</m:t>
                          </m:r>
                        </m:den>
                      </m:f>
                      <m:r>
                        <a:rPr lang="en-US" altLang="zh-CN" sz="2400" i="1">
                          <a:solidFill>
                            <a:srgbClr val="000000"/>
                          </a:solidFill>
                          <a:latin typeface="Cambria Math" panose="02040503050406030204" pitchFamily="18" charset="0"/>
                          <a:ea typeface="微软雅黑" panose="020B0503020204020204" pitchFamily="34" charset="-122"/>
                        </a:rPr>
                        <m:t>𝑘</m:t>
                      </m:r>
                      <m:sSup>
                        <m:sSupPr>
                          <m:ctrlPr>
                            <a:rPr lang="en-US" altLang="zh-CN" sz="2400" i="1">
                              <a:solidFill>
                                <a:srgbClr val="000000"/>
                              </a:solidFill>
                              <a:latin typeface="Cambria Math" panose="02040503050406030204" pitchFamily="18" charset="0"/>
                              <a:ea typeface="微软雅黑" panose="020B0503020204020204" pitchFamily="34" charset="-122"/>
                            </a:rPr>
                          </m:ctrlPr>
                        </m:sSupPr>
                        <m:e>
                          <m:r>
                            <a:rPr lang="en-US" altLang="zh-CN" sz="2400" i="1">
                              <a:solidFill>
                                <a:srgbClr val="000000"/>
                              </a:solidFill>
                              <a:latin typeface="Cambria Math" panose="02040503050406030204" pitchFamily="18" charset="0"/>
                              <a:ea typeface="微软雅黑" panose="020B0503020204020204" pitchFamily="34" charset="-122"/>
                            </a:rPr>
                            <m:t>𝑧</m:t>
                          </m:r>
                        </m:e>
                        <m:sup>
                          <m:r>
                            <a:rPr lang="en-US" altLang="zh-CN" sz="2400" i="1">
                              <a:solidFill>
                                <a:srgbClr val="000000"/>
                              </a:solidFill>
                              <a:latin typeface="Cambria Math" panose="02040503050406030204" pitchFamily="18" charset="0"/>
                              <a:ea typeface="微软雅黑" panose="020B0503020204020204" pitchFamily="34" charset="-122"/>
                            </a:rPr>
                            <m:t>2</m:t>
                          </m:r>
                        </m:sup>
                      </m:sSup>
                      <m:r>
                        <a:rPr lang="en-US" altLang="zh-CN" sz="2400" i="1">
                          <a:solidFill>
                            <a:srgbClr val="000000"/>
                          </a:solidFill>
                          <a:latin typeface="Cambria Math" panose="02040503050406030204" pitchFamily="18" charset="0"/>
                          <a:ea typeface="微软雅黑" panose="020B0503020204020204" pitchFamily="34" charset="-122"/>
                        </a:rPr>
                        <m:t>−</m:t>
                      </m:r>
                      <m:f>
                        <m:fPr>
                          <m:ctrlPr>
                            <a:rPr lang="en-US" altLang="zh-CN" sz="2400" i="1">
                              <a:solidFill>
                                <a:srgbClr val="000000"/>
                              </a:solidFill>
                              <a:latin typeface="Cambria Math" panose="02040503050406030204" pitchFamily="18" charset="0"/>
                              <a:ea typeface="微软雅黑" panose="020B0503020204020204" pitchFamily="34" charset="-122"/>
                            </a:rPr>
                          </m:ctrlPr>
                        </m:fPr>
                        <m:num>
                          <m:r>
                            <a:rPr lang="en-US" altLang="zh-CN" sz="2400" i="1">
                              <a:solidFill>
                                <a:srgbClr val="000000"/>
                              </a:solidFill>
                              <a:latin typeface="Cambria Math" panose="02040503050406030204" pitchFamily="18" charset="0"/>
                              <a:ea typeface="微软雅黑" panose="020B0503020204020204" pitchFamily="34" charset="-122"/>
                            </a:rPr>
                            <m:t>1</m:t>
                          </m:r>
                        </m:num>
                        <m:den>
                          <m:r>
                            <a:rPr lang="en-US" altLang="zh-CN" sz="2400" i="1">
                              <a:solidFill>
                                <a:srgbClr val="000000"/>
                              </a:solidFill>
                              <a:latin typeface="Cambria Math" panose="02040503050406030204" pitchFamily="18" charset="0"/>
                              <a:ea typeface="微软雅黑" panose="020B0503020204020204" pitchFamily="34" charset="-122"/>
                            </a:rPr>
                            <m:t>2</m:t>
                          </m:r>
                        </m:den>
                      </m:f>
                      <m:r>
                        <a:rPr lang="en-US" altLang="zh-CN" sz="2400" i="1">
                          <a:solidFill>
                            <a:srgbClr val="000000"/>
                          </a:solidFill>
                          <a:latin typeface="Cambria Math" panose="02040503050406030204" pitchFamily="18" charset="0"/>
                          <a:ea typeface="微软雅黑" panose="020B0503020204020204" pitchFamily="34" charset="-122"/>
                        </a:rPr>
                        <m:t>𝛿</m:t>
                      </m:r>
                      <m:sSup>
                        <m:sSupPr>
                          <m:ctrlPr>
                            <a:rPr lang="en-US" altLang="zh-CN" sz="2400" i="1">
                              <a:solidFill>
                                <a:srgbClr val="000000"/>
                              </a:solidFill>
                              <a:latin typeface="Cambria Math" panose="02040503050406030204" pitchFamily="18" charset="0"/>
                              <a:ea typeface="微软雅黑" panose="020B0503020204020204" pitchFamily="34" charset="-122"/>
                            </a:rPr>
                          </m:ctrlPr>
                        </m:sSupPr>
                        <m:e>
                          <m:r>
                            <a:rPr lang="en-US" altLang="zh-CN" sz="2400" i="1">
                              <a:solidFill>
                                <a:srgbClr val="000000"/>
                              </a:solidFill>
                              <a:latin typeface="Cambria Math" panose="02040503050406030204" pitchFamily="18" charset="0"/>
                              <a:ea typeface="微软雅黑" panose="020B0503020204020204" pitchFamily="34" charset="-122"/>
                            </a:rPr>
                            <m:t>𝜃</m:t>
                          </m:r>
                        </m:e>
                        <m:sup>
                          <m:r>
                            <a:rPr lang="en-US" altLang="zh-CN" sz="2400" i="1">
                              <a:solidFill>
                                <a:srgbClr val="000000"/>
                              </a:solidFill>
                              <a:latin typeface="Cambria Math" panose="02040503050406030204" pitchFamily="18" charset="0"/>
                              <a:ea typeface="微软雅黑" panose="020B0503020204020204" pitchFamily="34" charset="-122"/>
                            </a:rPr>
                            <m:t>2</m:t>
                          </m:r>
                        </m:sup>
                      </m:sSup>
                      <m:r>
                        <a:rPr lang="en-US" altLang="zh-CN" sz="2400" i="1">
                          <a:solidFill>
                            <a:srgbClr val="000000"/>
                          </a:solidFill>
                          <a:latin typeface="Cambria Math" panose="02040503050406030204" pitchFamily="18" charset="0"/>
                          <a:ea typeface="微软雅黑" panose="020B0503020204020204" pitchFamily="34" charset="-122"/>
                        </a:rPr>
                        <m:t>−</m:t>
                      </m:r>
                      <m:r>
                        <a:rPr lang="en-US" altLang="zh-CN" sz="2400" i="1">
                          <a:solidFill>
                            <a:srgbClr val="000000"/>
                          </a:solidFill>
                          <a:latin typeface="Cambria Math" panose="02040503050406030204" pitchFamily="18" charset="0"/>
                          <a:ea typeface="微软雅黑" panose="020B0503020204020204" pitchFamily="34" charset="-122"/>
                        </a:rPr>
                        <m:t>𝜖</m:t>
                      </m:r>
                      <m:r>
                        <a:rPr lang="en-US" altLang="zh-CN" sz="2400" i="1">
                          <a:solidFill>
                            <a:srgbClr val="000000"/>
                          </a:solidFill>
                          <a:latin typeface="Cambria Math" panose="02040503050406030204" pitchFamily="18" charset="0"/>
                          <a:ea typeface="微软雅黑" panose="020B0503020204020204" pitchFamily="34" charset="-122"/>
                        </a:rPr>
                        <m:t>𝑧</m:t>
                      </m:r>
                      <m:r>
                        <a:rPr lang="en-US" altLang="zh-CN" sz="2400" i="1">
                          <a:solidFill>
                            <a:srgbClr val="000000"/>
                          </a:solidFill>
                          <a:latin typeface="Cambria Math" panose="02040503050406030204" pitchFamily="18" charset="0"/>
                          <a:ea typeface="微软雅黑" panose="020B0503020204020204" pitchFamily="34" charset="-122"/>
                        </a:rPr>
                        <m:t>𝜃</m:t>
                      </m:r>
                    </m:oMath>
                  </m:oMathPara>
                </a14:m>
                <a:endPar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a:p>
                <a:pPr lvl="0">
                  <a:defRPr/>
                </a:pPr>
                <a14:m>
                  <m:oMathPara xmlns:m="http://schemas.openxmlformats.org/officeDocument/2006/math">
                    <m:oMathParaPr>
                      <m:jc m:val="centerGroup"/>
                    </m:oMathParaPr>
                    <m:oMath xmlns:m="http://schemas.openxmlformats.org/officeDocument/2006/math">
                      <m:r>
                        <a:rPr lang="en-US" altLang="zh-CN" sz="2400" i="1" smtClean="0">
                          <a:solidFill>
                            <a:srgbClr val="000000"/>
                          </a:solidFill>
                          <a:latin typeface="Cambria Math" panose="02040503050406030204" pitchFamily="18" charset="0"/>
                          <a:ea typeface="微软雅黑" panose="020B0503020204020204" pitchFamily="34" charset="-122"/>
                        </a:rPr>
                        <m:t>𝑚</m:t>
                      </m:r>
                      <m:acc>
                        <m:accPr>
                          <m:chr m:val="̈"/>
                          <m:ctrlPr>
                            <a:rPr lang="en-US" altLang="zh-CN" sz="2400" i="1">
                              <a:solidFill>
                                <a:srgbClr val="000000"/>
                              </a:solidFill>
                              <a:latin typeface="Cambria Math" panose="02040503050406030204" pitchFamily="18" charset="0"/>
                              <a:ea typeface="微软雅黑" panose="020B0503020204020204" pitchFamily="34" charset="-122"/>
                            </a:rPr>
                          </m:ctrlPr>
                        </m:accPr>
                        <m:e>
                          <m:r>
                            <a:rPr lang="en-US" altLang="zh-CN" sz="2400" i="1">
                              <a:solidFill>
                                <a:srgbClr val="000000"/>
                              </a:solidFill>
                              <a:latin typeface="Cambria Math" panose="02040503050406030204" pitchFamily="18" charset="0"/>
                              <a:ea typeface="微软雅黑" panose="020B0503020204020204" pitchFamily="34" charset="-122"/>
                            </a:rPr>
                            <m:t>𝑧</m:t>
                          </m:r>
                        </m:e>
                      </m:acc>
                      <m:r>
                        <a:rPr lang="en-US" altLang="zh-CN" sz="2400" i="1">
                          <a:solidFill>
                            <a:srgbClr val="000000"/>
                          </a:solidFill>
                          <a:latin typeface="Cambria Math" panose="02040503050406030204" pitchFamily="18" charset="0"/>
                          <a:ea typeface="微软雅黑" panose="020B0503020204020204" pitchFamily="34" charset="-122"/>
                        </a:rPr>
                        <m:t>+</m:t>
                      </m:r>
                      <m:r>
                        <a:rPr lang="en-US" altLang="zh-CN" sz="2400" i="1">
                          <a:solidFill>
                            <a:srgbClr val="000000"/>
                          </a:solidFill>
                          <a:latin typeface="Cambria Math" panose="02040503050406030204" pitchFamily="18" charset="0"/>
                          <a:ea typeface="微软雅黑" panose="020B0503020204020204" pitchFamily="34" charset="-122"/>
                        </a:rPr>
                        <m:t>𝑘𝑧</m:t>
                      </m:r>
                      <m:r>
                        <a:rPr lang="en-US" altLang="zh-CN" sz="2400" i="1">
                          <a:solidFill>
                            <a:srgbClr val="000000"/>
                          </a:solidFill>
                          <a:latin typeface="Cambria Math" panose="02040503050406030204" pitchFamily="18" charset="0"/>
                          <a:ea typeface="微软雅黑" panose="020B0503020204020204" pitchFamily="34" charset="-122"/>
                        </a:rPr>
                        <m:t>+</m:t>
                      </m:r>
                      <m:r>
                        <a:rPr lang="en-US" altLang="zh-CN" sz="2400" i="1">
                          <a:solidFill>
                            <a:srgbClr val="000000"/>
                          </a:solidFill>
                          <a:latin typeface="Cambria Math" panose="02040503050406030204" pitchFamily="18" charset="0"/>
                          <a:ea typeface="微软雅黑" panose="020B0503020204020204" pitchFamily="34" charset="-122"/>
                        </a:rPr>
                        <m:t>𝜖𝜃</m:t>
                      </m:r>
                      <m:r>
                        <a:rPr lang="en-US" altLang="zh-CN" sz="2400" i="1">
                          <a:solidFill>
                            <a:srgbClr val="000000"/>
                          </a:solidFill>
                          <a:latin typeface="Cambria Math" panose="02040503050406030204" pitchFamily="18" charset="0"/>
                          <a:ea typeface="微软雅黑" panose="020B0503020204020204" pitchFamily="34" charset="-122"/>
                        </a:rPr>
                        <m:t>=</m:t>
                      </m:r>
                      <m:r>
                        <a:rPr lang="en-US" altLang="zh-CN" sz="2400" i="1">
                          <a:solidFill>
                            <a:srgbClr val="000000"/>
                          </a:solidFill>
                          <a:latin typeface="Cambria Math" panose="02040503050406030204" pitchFamily="18" charset="0"/>
                          <a:ea typeface="微软雅黑" panose="020B0503020204020204" pitchFamily="34" charset="-122"/>
                        </a:rPr>
                        <m:t>0</m:t>
                      </m:r>
                    </m:oMath>
                  </m:oMathPara>
                </a14:m>
                <a:endPar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a:p>
                <a:pPr lvl="0">
                  <a:defRPr/>
                </a:pPr>
                <a14:m>
                  <m:oMathPara xmlns:m="http://schemas.openxmlformats.org/officeDocument/2006/math">
                    <m:oMathParaPr>
                      <m:jc m:val="centerGroup"/>
                    </m:oMathParaPr>
                    <m:oMath xmlns:m="http://schemas.openxmlformats.org/officeDocument/2006/math">
                      <m:r>
                        <a:rPr lang="en-US" altLang="zh-CN" sz="2400" i="1" smtClean="0">
                          <a:solidFill>
                            <a:srgbClr val="000000"/>
                          </a:solidFill>
                          <a:latin typeface="Cambria Math" panose="02040503050406030204" pitchFamily="18" charset="0"/>
                          <a:ea typeface="微软雅黑" panose="020B0503020204020204" pitchFamily="34" charset="-122"/>
                        </a:rPr>
                        <m:t>𝐼</m:t>
                      </m:r>
                      <m:acc>
                        <m:accPr>
                          <m:chr m:val="̈"/>
                          <m:ctrlPr>
                            <a:rPr lang="en-US" altLang="zh-CN" sz="2400" i="1">
                              <a:solidFill>
                                <a:srgbClr val="000000"/>
                              </a:solidFill>
                              <a:latin typeface="Cambria Math" panose="02040503050406030204" pitchFamily="18" charset="0"/>
                              <a:ea typeface="微软雅黑" panose="020B0503020204020204" pitchFamily="34" charset="-122"/>
                            </a:rPr>
                          </m:ctrlPr>
                        </m:accPr>
                        <m:e>
                          <m:r>
                            <a:rPr lang="en-US" altLang="zh-CN" sz="2400" i="1">
                              <a:solidFill>
                                <a:srgbClr val="000000"/>
                              </a:solidFill>
                              <a:latin typeface="Cambria Math" panose="02040503050406030204" pitchFamily="18" charset="0"/>
                              <a:ea typeface="微软雅黑" panose="020B0503020204020204" pitchFamily="34" charset="-122"/>
                            </a:rPr>
                            <m:t>𝜃</m:t>
                          </m:r>
                        </m:e>
                      </m:acc>
                      <m:r>
                        <a:rPr lang="en-US" altLang="zh-CN" sz="2400" i="1">
                          <a:solidFill>
                            <a:srgbClr val="000000"/>
                          </a:solidFill>
                          <a:latin typeface="Cambria Math" panose="02040503050406030204" pitchFamily="18" charset="0"/>
                          <a:ea typeface="微软雅黑" panose="020B0503020204020204" pitchFamily="34" charset="-122"/>
                        </a:rPr>
                        <m:t>+</m:t>
                      </m:r>
                      <m:r>
                        <a:rPr lang="en-US" altLang="zh-CN" sz="2400" i="1">
                          <a:solidFill>
                            <a:srgbClr val="000000"/>
                          </a:solidFill>
                          <a:latin typeface="Cambria Math" panose="02040503050406030204" pitchFamily="18" charset="0"/>
                          <a:ea typeface="微软雅黑" panose="020B0503020204020204" pitchFamily="34" charset="-122"/>
                        </a:rPr>
                        <m:t>𝛿𝜃</m:t>
                      </m:r>
                      <m:r>
                        <a:rPr lang="en-US" altLang="zh-CN" sz="2400" i="1">
                          <a:solidFill>
                            <a:srgbClr val="000000"/>
                          </a:solidFill>
                          <a:latin typeface="Cambria Math" panose="02040503050406030204" pitchFamily="18" charset="0"/>
                          <a:ea typeface="微软雅黑" panose="020B0503020204020204" pitchFamily="34" charset="-122"/>
                        </a:rPr>
                        <m:t>+</m:t>
                      </m:r>
                      <m:r>
                        <a:rPr lang="en-US" altLang="zh-CN" sz="2400" i="1">
                          <a:solidFill>
                            <a:srgbClr val="000000"/>
                          </a:solidFill>
                          <a:latin typeface="Cambria Math" panose="02040503050406030204" pitchFamily="18" charset="0"/>
                          <a:ea typeface="微软雅黑" panose="020B0503020204020204" pitchFamily="34" charset="-122"/>
                        </a:rPr>
                        <m:t>𝜖</m:t>
                      </m:r>
                      <m:r>
                        <a:rPr lang="en-US" altLang="zh-CN" sz="2400" i="1">
                          <a:solidFill>
                            <a:srgbClr val="000000"/>
                          </a:solidFill>
                          <a:latin typeface="Cambria Math" panose="02040503050406030204" pitchFamily="18" charset="0"/>
                          <a:ea typeface="微软雅黑" panose="020B0503020204020204" pitchFamily="34" charset="-122"/>
                        </a:rPr>
                        <m:t>𝑧</m:t>
                      </m:r>
                      <m:r>
                        <a:rPr lang="en-US" altLang="zh-CN" sz="2400" i="1">
                          <a:solidFill>
                            <a:srgbClr val="000000"/>
                          </a:solidFill>
                          <a:latin typeface="Cambria Math" panose="02040503050406030204" pitchFamily="18" charset="0"/>
                          <a:ea typeface="微软雅黑" panose="020B0503020204020204" pitchFamily="34" charset="-122"/>
                        </a:rPr>
                        <m:t>=</m:t>
                      </m:r>
                      <m:r>
                        <a:rPr lang="en-US" altLang="zh-CN" sz="2400" i="1">
                          <a:solidFill>
                            <a:srgbClr val="000000"/>
                          </a:solidFill>
                          <a:latin typeface="Cambria Math" panose="02040503050406030204" pitchFamily="18" charset="0"/>
                          <a:ea typeface="微软雅黑" panose="020B0503020204020204" pitchFamily="34" charset="-122"/>
                        </a:rPr>
                        <m:t>0</m:t>
                      </m:r>
                    </m:oMath>
                  </m:oMathPara>
                </a14:m>
                <a:endPar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a:p>
                <a:pPr lvl="0">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通过预实验可以假设</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 </a:t>
                </a:r>
                <a14:m>
                  <m:oMath xmlns:m="http://schemas.openxmlformats.org/officeDocument/2006/math">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𝑧</m:t>
                    </m:r>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m:t>
                    </m:r>
                    <m:r>
                      <a:rPr kumimoji="0" lang="en-US" altLang="zh-CN" sz="240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𝜃</m:t>
                    </m:r>
                  </m:oMath>
                </a14:m>
                <a: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a:t> </a:t>
                </a:r>
                <a:r>
                  <a:rPr kumimoji="0" lang="zh-CN" altLang="en-US" sz="2400" b="0"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a:t>关于时间都成三角函数关系，待定系数</a:t>
                </a:r>
                <a:r>
                  <a:rPr kumimoji="0" lang="en-US" altLang="zh-CN" sz="2400" b="0"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a:t> </a:t>
                </a:r>
                <a14:m>
                  <m:oMath xmlns:m="http://schemas.openxmlformats.org/officeDocument/2006/math">
                    <m:r>
                      <a:rPr kumimoji="0" lang="en-US" altLang="zh-CN" sz="240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𝜃</m:t>
                    </m:r>
                    <m:r>
                      <a:rPr kumimoji="0" lang="en-US" altLang="zh-CN" sz="240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m:t>
                    </m:r>
                    <m:r>
                      <a:rPr kumimoji="0" lang="en-US" altLang="zh-CN" sz="240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𝐴</m:t>
                    </m:r>
                    <m:func>
                      <m:funcPr>
                        <m:ctrlPr>
                          <a:rPr kumimoji="0" lang="en-US" altLang="zh-CN" sz="240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ctrlPr>
                      </m:funcPr>
                      <m:fName>
                        <m:r>
                          <m:rPr>
                            <m:sty m:val="p"/>
                          </m:rPr>
                          <a:rPr kumimoji="0" lang="en-US" altLang="zh-CN" sz="2400"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cos</m:t>
                        </m:r>
                      </m:fName>
                      <m:e>
                        <m:r>
                          <a:rPr kumimoji="0" lang="en-US" altLang="zh-CN" sz="240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𝜔</m:t>
                        </m:r>
                        <m:r>
                          <a:rPr kumimoji="0" lang="en-US" altLang="zh-CN" sz="240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𝑡</m:t>
                        </m:r>
                      </m:e>
                    </m:func>
                  </m:oMath>
                </a14:m>
                <a:r>
                  <a:rPr kumimoji="0" lang="en-US" altLang="zh-CN" sz="2400" b="0"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a:t> </a:t>
                </a:r>
                <a:r>
                  <a:rPr kumimoji="0" lang="zh-CN" altLang="en-US" sz="2400" b="0"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a:t>可以解得（令 </a:t>
                </a:r>
                <a14:m>
                  <m:oMath xmlns:m="http://schemas.openxmlformats.org/officeDocument/2006/math">
                    <m:sSubSup>
                      <m:sSubSupPr>
                        <m:ctrlPr>
                          <a:rPr lang="pl-PL" altLang="zh-CN" sz="2400" i="1" dirty="0" smtClean="0">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SupPr>
                      <m:e>
                        <m:r>
                          <a:rPr lang="pl-PL" altLang="zh-CN" sz="2400" i="1" dirty="0" smtClean="0">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𝜔</m:t>
                        </m:r>
                      </m:e>
                      <m:sub>
                        <m:r>
                          <a:rPr lang="pl-PL" altLang="zh-CN" sz="2400" i="1" dirty="0" smtClean="0">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𝑧</m:t>
                        </m:r>
                      </m:sub>
                      <m:sup>
                        <m:r>
                          <a:rPr lang="pl-PL" altLang="zh-CN" sz="2400" i="1" dirty="0" smtClean="0">
                            <a:solidFill>
                              <a:srgbClr val="000000"/>
                            </a:solidFill>
                            <a:latin typeface="Cambria Math" panose="02040503050406030204" pitchFamily="18" charset="0"/>
                            <a:ea typeface="微软雅黑" panose="020B0503020204020204" pitchFamily="34" charset="-122"/>
                            <a:cs typeface="Cambria Math" panose="02040503050406030204" pitchFamily="18" charset="0"/>
                          </a:rPr>
                          <m:t>2</m:t>
                        </m:r>
                      </m:sup>
                    </m:sSubSup>
                    <m:r>
                      <a:rPr lang="pl-PL" altLang="zh-CN" sz="2400" i="1" dirty="0" smtClean="0">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f>
                      <m:fPr>
                        <m:ctrlPr>
                          <a:rPr lang="pl-PL" altLang="zh-CN" sz="2400" i="1" dirty="0" smtClean="0">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fPr>
                      <m:num>
                        <m:r>
                          <a:rPr lang="pl-PL" altLang="zh-CN" sz="2400" i="1" dirty="0" smtClean="0">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𝑘</m:t>
                        </m:r>
                      </m:num>
                      <m:den>
                        <m:r>
                          <a:rPr lang="pl-PL" altLang="zh-CN" sz="2400" i="1" dirty="0" smtClean="0">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𝑚</m:t>
                        </m:r>
                      </m:den>
                    </m:f>
                  </m:oMath>
                </a14:m>
                <a:r>
                  <a:rPr kumimoji="0" lang="zh-CN" altLang="en-US" sz="2400" b="0"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a:t>，</a:t>
                </a:r>
                <a14:m>
                  <m:oMath xmlns:m="http://schemas.openxmlformats.org/officeDocument/2006/math">
                    <m:sSubSup>
                      <m:sSubSupPr>
                        <m:ctrlPr>
                          <a:rPr lang="en-US" altLang="zh-CN" sz="2400" i="1" dirty="0" smtClean="0">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SupPr>
                      <m:e>
                        <m:r>
                          <a:rPr lang="en-US" altLang="zh-CN" sz="2400" i="1" dirty="0">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𝜔</m:t>
                        </m:r>
                      </m:e>
                      <m:sub>
                        <m:r>
                          <a:rPr lang="en-US" altLang="zh-CN" sz="2400" i="1" dirty="0">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𝜃</m:t>
                        </m:r>
                      </m:sub>
                      <m:sup>
                        <m:r>
                          <a:rPr lang="en-US" altLang="zh-CN" sz="2400" i="1" dirty="0">
                            <a:solidFill>
                              <a:srgbClr val="000000"/>
                            </a:solidFill>
                            <a:latin typeface="Cambria Math" panose="02040503050406030204" pitchFamily="18" charset="0"/>
                            <a:ea typeface="微软雅黑" panose="020B0503020204020204" pitchFamily="34" charset="-122"/>
                            <a:cs typeface="Cambria Math" panose="02040503050406030204" pitchFamily="18" charset="0"/>
                          </a:rPr>
                          <m:t>2</m:t>
                        </m:r>
                      </m:sup>
                    </m:sSubSup>
                    <m:r>
                      <a:rPr lang="en-US" altLang="zh-CN" sz="2400" i="1" dirty="0">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f>
                      <m:fPr>
                        <m:ctrlPr>
                          <a:rPr lang="en-US" altLang="zh-CN" sz="2400" i="1" dirty="0">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fPr>
                      <m:num>
                        <m:r>
                          <a:rPr lang="en-US" altLang="zh-CN" sz="2400" i="1" dirty="0">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𝛿</m:t>
                        </m:r>
                      </m:num>
                      <m:den>
                        <m:r>
                          <a:rPr lang="en-US" altLang="zh-CN" sz="2400" i="1" dirty="0">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𝐼</m:t>
                        </m:r>
                      </m:den>
                    </m:f>
                  </m:oMath>
                </a14:m>
                <a:r>
                  <a:rPr kumimoji="0" lang="zh-CN" altLang="en-US" sz="2400" b="0"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a:t>）：</a:t>
                </a:r>
                <a:endParaRPr lang="en-US" altLang="zh-CN" sz="2400" dirty="0">
                  <a:solidFill>
                    <a:srgbClr val="000000"/>
                  </a:solidFill>
                  <a:latin typeface="Cambria Math" panose="02040503050406030204" pitchFamily="18" charset="0"/>
                  <a:ea typeface="微软雅黑" panose="020B0503020204020204" pitchFamily="34" charset="-122"/>
                  <a:cs typeface="Cambria Math" panose="02040503050406030204" pitchFamily="18" charset="0"/>
                </a:endParaRPr>
              </a:p>
              <a:p>
                <a:pPr lvl="0">
                  <a:defRPr/>
                </a:pPr>
                <a14:m>
                  <m:oMathPara xmlns:m="http://schemas.openxmlformats.org/officeDocument/2006/math">
                    <m:oMathParaPr>
                      <m:jc m:val="centerGroup"/>
                    </m:oMathParaPr>
                    <m:oMath xmlns:m="http://schemas.openxmlformats.org/officeDocument/2006/math">
                      <m:sSup>
                        <m:sSupPr>
                          <m:ctrlPr>
                            <a:rPr lang="en-US" altLang="zh-CN" sz="2400" i="1" smtClean="0">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p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𝜔</m:t>
                          </m:r>
                        </m:e>
                        <m: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2</m:t>
                          </m:r>
                        </m:sup>
                      </m:s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f>
                        <m:f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fPr>
                        <m:num>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1</m:t>
                          </m:r>
                        </m:num>
                        <m:den>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2</m:t>
                          </m:r>
                        </m:den>
                      </m:f>
                      <m:d>
                        <m:d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dPr>
                        <m:e>
                          <m:sSubSup>
                            <m:sSubSup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Sup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𝜔</m:t>
                              </m:r>
                            </m:e>
                            <m: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𝑧</m:t>
                              </m:r>
                            </m:sub>
                            <m: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2</m:t>
                              </m:r>
                            </m:sup>
                          </m:sSub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sSubSup>
                            <m:sSubSup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Sup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𝜔</m:t>
                              </m:r>
                            </m:e>
                            <m: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𝜃</m:t>
                              </m:r>
                            </m:sub>
                            <m: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2</m:t>
                              </m:r>
                            </m:sup>
                          </m:sSub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rad>
                            <m:radPr>
                              <m:degHide m:val="on"/>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radPr>
                            <m:deg/>
                            <m:e>
                              <m:sSup>
                                <m:sSup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pPr>
                                <m:e>
                                  <m:d>
                                    <m:d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dPr>
                                    <m:e>
                                      <m:sSubSup>
                                        <m:sSubSup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Sup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𝜔</m:t>
                                          </m:r>
                                        </m:e>
                                        <m: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𝑧</m:t>
                                          </m:r>
                                        </m:sub>
                                        <m: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2</m:t>
                                          </m:r>
                                        </m:sup>
                                      </m:sSub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sSubSup>
                                        <m:sSubSup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Sup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𝜔</m:t>
                                          </m:r>
                                        </m:e>
                                        <m: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𝜃</m:t>
                                          </m:r>
                                        </m:sub>
                                        <m: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2</m:t>
                                          </m:r>
                                        </m:sup>
                                      </m:sSubSup>
                                    </m:e>
                                  </m:d>
                                </m:e>
                                <m: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2</m:t>
                                  </m:r>
                                </m:sup>
                              </m:s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f>
                                <m:f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fPr>
                                <m:num>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4</m:t>
                                  </m:r>
                                  <m:sSup>
                                    <m:sSup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p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𝜖</m:t>
                                      </m:r>
                                    </m:e>
                                    <m: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2</m:t>
                                      </m:r>
                                    </m:sup>
                                  </m:sSup>
                                </m:num>
                                <m:den>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𝑚𝐼</m:t>
                                  </m:r>
                                </m:den>
                              </m:f>
                            </m:e>
                          </m:rad>
                        </m:e>
                      </m:d>
                    </m:oMath>
                  </m:oMathPara>
                </a14:m>
                <a:endParaRPr kumimoji="0" lang="en-US" altLang="zh-CN" sz="2400" b="0"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endParaRPr>
              </a:p>
              <a:p>
                <a:pPr lvl="0">
                  <a:defRPr/>
                </a:pPr>
                <a:r>
                  <a:rPr lang="zh-CN" altLang="en-US" sz="2400" dirty="0">
                    <a:solidFill>
                      <a:srgbClr val="000000"/>
                    </a:solidFill>
                    <a:latin typeface="Cambria Math" panose="02040503050406030204" pitchFamily="18" charset="0"/>
                    <a:ea typeface="微软雅黑" panose="020B0503020204020204" pitchFamily="34" charset="-122"/>
                    <a:cs typeface="Cambria Math" panose="02040503050406030204" pitchFamily="18" charset="0"/>
                  </a:rPr>
                  <a:t>可以解出两个 </a:t>
                </a:r>
                <a14:m>
                  <m:oMath xmlns:m="http://schemas.openxmlformats.org/officeDocument/2006/math">
                    <m:r>
                      <a:rPr lang="zh-CN" altLang="en-US" sz="2400" i="1" smtClean="0">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𝜔</m:t>
                    </m:r>
                  </m:oMath>
                </a14:m>
                <a:r>
                  <a:rPr kumimoji="0" lang="zh-CN" altLang="en-US" sz="2400" b="0"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a:t>，分别记为 </a:t>
                </a:r>
                <a14:m>
                  <m:oMath xmlns:m="http://schemas.openxmlformats.org/officeDocument/2006/math">
                    <m:sSub>
                      <m:sSubPr>
                        <m:ctrlP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ctrlPr>
                      </m:sSubPr>
                      <m:e>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𝜔</m:t>
                        </m:r>
                      </m:e>
                      <m:sub>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1</m:t>
                        </m:r>
                      </m:sub>
                    </m:sSub>
                    <m:sSub>
                      <m:sSubPr>
                        <m:ctrlP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ctrlPr>
                      </m:sSubPr>
                      <m:e>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m:t>
                        </m:r>
                        <m:r>
                          <a:rPr kumimoji="0" lang="zh-CN" alt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𝜔</m:t>
                        </m:r>
                      </m:e>
                      <m:sub>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rPr>
                          <m:t>2</m:t>
                        </m:r>
                      </m:sub>
                    </m:sSub>
                    <m:r>
                      <a:rPr lang="zh-CN" altLang="en-US" sz="2400" i="1">
                        <a:solidFill>
                          <a:srgbClr val="000000"/>
                        </a:solidFill>
                        <a:latin typeface="Cambria Math" panose="02040503050406030204" pitchFamily="18" charset="0"/>
                        <a:ea typeface="微软雅黑" panose="020B0503020204020204" pitchFamily="34" charset="-122"/>
                      </a:rPr>
                      <m:t>，</m:t>
                    </m:r>
                  </m:oMath>
                </a14:m>
                <a:r>
                  <a:rPr kumimoji="0" lang="zh-CN" altLang="en-US" sz="2400" b="0"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a:t>在没有初值条件时，</a:t>
                </a:r>
                <a14:m>
                  <m:oMath xmlns:m="http://schemas.openxmlformats.org/officeDocument/2006/math">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𝜃</m:t>
                    </m:r>
                  </m:oMath>
                </a14:m>
                <a:r>
                  <a:rPr kumimoji="0" lang="zh-CN" altLang="en-US" sz="2400" b="0"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a:t> 的解即可表示为三角函数 </a:t>
                </a:r>
                <a14:m>
                  <m:oMath xmlns:m="http://schemas.openxmlformats.org/officeDocument/2006/math">
                    <m:func>
                      <m:funcPr>
                        <m:ctrlP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ctrlPr>
                      </m:funcPr>
                      <m:fName>
                        <m:r>
                          <m:rPr>
                            <m:sty m:val="p"/>
                          </m:rPr>
                          <a:rPr kumimoji="0" lang="en-US" altLang="zh-CN" sz="2400" b="0" i="0"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cos</m:t>
                        </m:r>
                      </m:fName>
                      <m:e>
                        <m:sSub>
                          <m:sSubPr>
                            <m:ctrlP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ctrlPr>
                          </m:sSubPr>
                          <m:e>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𝜔</m:t>
                            </m:r>
                          </m:e>
                          <m:sub>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1</m:t>
                            </m:r>
                          </m:sub>
                        </m:sSub>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𝑡</m:t>
                        </m:r>
                      </m:e>
                    </m:func>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m:t>
                    </m:r>
                    <m:func>
                      <m:funcPr>
                        <m:ctrlP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ctrlPr>
                      </m:funcPr>
                      <m:fName>
                        <m:r>
                          <m:rPr>
                            <m:sty m:val="p"/>
                          </m:rPr>
                          <a:rPr kumimoji="0" lang="en-US" altLang="zh-CN" sz="2400" b="0" i="0"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cos</m:t>
                        </m:r>
                      </m:fName>
                      <m:e>
                        <m:sSub>
                          <m:sSubPr>
                            <m:ctrlP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ctrlPr>
                          </m:sSubPr>
                          <m:e>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𝜔</m:t>
                            </m:r>
                          </m:e>
                          <m:sub>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2</m:t>
                            </m:r>
                          </m:sub>
                        </m:sSub>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𝑡</m:t>
                        </m:r>
                      </m:e>
                    </m:func>
                    <m:r>
                      <a:rPr kumimoji="0" lang="en-US" altLang="zh-CN" sz="24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m:t> </m:t>
                    </m:r>
                    <m:r>
                      <a:rPr lang="zh-CN" altLang="en-US"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的</m:t>
                    </m:r>
                  </m:oMath>
                </a14:m>
                <a:r>
                  <a:rPr kumimoji="0" lang="zh-CN" altLang="en-US" sz="2400" b="0"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rPr>
                  <a:t>线性组合。</a:t>
                </a:r>
                <a:endParaRPr kumimoji="0" lang="zh-CN" altLang="en-US" sz="2400" b="0"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Cambria Math" panose="02040503050406030204" pitchFamily="18" charset="0"/>
                </a:endParaRPr>
              </a:p>
            </p:txBody>
          </p:sp>
        </mc:Choice>
        <mc:Fallback>
          <p:sp>
            <p:nvSpPr>
              <p:cNvPr id="3" name="矩形 2"/>
              <p:cNvSpPr>
                <a:spLocks noRot="1" noChangeAspect="1" noMove="1" noResize="1" noEditPoints="1" noAdjustHandles="1" noChangeArrowheads="1" noChangeShapeType="1" noTextEdit="1"/>
              </p:cNvSpPr>
              <p:nvPr/>
            </p:nvSpPr>
            <p:spPr>
              <a:xfrm>
                <a:off x="958536" y="915333"/>
                <a:ext cx="10640191" cy="4769767"/>
              </a:xfrm>
              <a:prstGeom prst="rect">
                <a:avLst/>
              </a:prstGeom>
              <a:blipFill rotWithShape="1">
                <a:blip r:embed="rId1"/>
                <a:stretch>
                  <a:fillRect l="-3" t="-6" r="4" b="12"/>
                </a:stretch>
              </a:blipFill>
            </p:spPr>
            <p:txBody>
              <a:bodyPr/>
              <a:lstStyle/>
              <a:p>
                <a:r>
                  <a:rPr lang="zh-CN" altLang="en-US">
                    <a:noFill/>
                  </a:rPr>
                  <a:t> </a:t>
                </a:r>
              </a:p>
            </p:txBody>
          </p:sp>
        </mc:Fallback>
      </mc:AlternateContent>
      <p:grpSp>
        <p:nvGrpSpPr>
          <p:cNvPr id="6" name="组合 5"/>
          <p:cNvGrpSpPr/>
          <p:nvPr/>
        </p:nvGrpSpPr>
        <p:grpSpPr>
          <a:xfrm>
            <a:off x="-1" y="392113"/>
            <a:ext cx="3254189" cy="523220"/>
            <a:chOff x="0" y="392113"/>
            <a:chExt cx="2650036" cy="523220"/>
          </a:xfrm>
        </p:grpSpPr>
        <p:sp>
          <p:nvSpPr>
            <p:cNvPr id="7" name="文本框 10"/>
            <p:cNvSpPr txBox="1">
              <a:spLocks noChangeArrowheads="1"/>
            </p:cNvSpPr>
            <p:nvPr/>
          </p:nvSpPr>
          <p:spPr bwMode="auto">
            <a:xfrm>
              <a:off x="343837" y="392113"/>
              <a:ext cx="230619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lvl="0" eaLnBrk="1" hangingPunct="1">
                <a:defRPr/>
              </a:pPr>
              <a:r>
                <a:rPr lang="zh-CN" altLang="en-US" sz="2800" b="1" noProof="0" dirty="0">
                  <a:solidFill>
                    <a:srgbClr val="000000"/>
                  </a:solidFill>
                  <a:latin typeface="微软雅黑" panose="020B0503020204020204" pitchFamily="34" charset="-122"/>
                  <a:ea typeface="微软雅黑" panose="020B0503020204020204" pitchFamily="34" charset="-122"/>
                </a:rPr>
                <a:t>理论</a:t>
              </a:r>
              <a:r>
                <a:rPr lang="en-US" altLang="zh-CN" sz="2800" b="1" dirty="0">
                  <a:solidFill>
                    <a:srgbClr val="000000"/>
                  </a:solidFill>
                  <a:latin typeface="微软雅黑" panose="020B0503020204020204" pitchFamily="34" charset="-122"/>
                  <a:ea typeface="微软雅黑" panose="020B0503020204020204" pitchFamily="34" charset="-122"/>
                </a:rPr>
                <a:t>·</a:t>
              </a:r>
              <a:r>
                <a:rPr lang="zh-CN" altLang="en-US" sz="2800" b="1" dirty="0">
                  <a:solidFill>
                    <a:srgbClr val="000000"/>
                  </a:solidFill>
                  <a:latin typeface="微软雅黑" panose="020B0503020204020204" pitchFamily="34" charset="-122"/>
                  <a:ea typeface="微软雅黑" panose="020B0503020204020204" pitchFamily="34" charset="-122"/>
                </a:rPr>
                <a:t>推导</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 name="矩形 1"/>
            <p:cNvSpPr>
              <a:spLocks noChangeArrowheads="1"/>
            </p:cNvSpPr>
            <p:nvPr/>
          </p:nvSpPr>
          <p:spPr bwMode="auto">
            <a:xfrm>
              <a:off x="0" y="392113"/>
              <a:ext cx="290286" cy="463550"/>
            </a:xfrm>
            <a:prstGeom prst="rect">
              <a:avLst/>
            </a:prstGeom>
            <a:solidFill>
              <a:srgbClr val="9A0000"/>
            </a:soli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BB8F404-4D68-4CF1-A1D1-4545FFCFAAD6}" type="slidenum">
              <a:rPr kumimoji="0" lang="zh-CN" altLang="en-US" sz="2400" b="0" i="0" u="none" strike="noStrike" kern="1200" cap="none" spc="0" normalizeH="0" baseline="0" noProof="0" smtClean="0">
                <a:ln>
                  <a:noFill/>
                </a:ln>
                <a:solidFill>
                  <a:srgbClr val="9A0000"/>
                </a:solidFill>
                <a:effectLst/>
                <a:uLnTx/>
                <a:uFillTx/>
                <a:latin typeface="Calibri" panose="020F0502020204030204" pitchFamily="34" charset="0"/>
                <a:ea typeface="宋体" panose="02010600030101010101" pitchFamily="2" charset="-122"/>
                <a:cs typeface="+mn-cs"/>
              </a:rPr>
            </a:fld>
            <a:endParaRPr kumimoji="0" lang="zh-CN" altLang="en-US" sz="2400" b="0" i="0" u="none" strike="noStrike" kern="1200" cap="none" spc="0" normalizeH="0" baseline="0" noProof="0">
              <a:ln>
                <a:noFill/>
              </a:ln>
              <a:solidFill>
                <a:srgbClr val="9A0000"/>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mc:Choice xmlns:a14="http://schemas.microsoft.com/office/drawing/2010/main" Requires="a14">
          <p:sp>
            <p:nvSpPr>
              <p:cNvPr id="3" name="矩形 2"/>
              <p:cNvSpPr/>
              <p:nvPr/>
            </p:nvSpPr>
            <p:spPr>
              <a:xfrm>
                <a:off x="958536" y="915333"/>
                <a:ext cx="10640191" cy="5760680"/>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400" b="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mbria Math" panose="02040503050406030204" pitchFamily="18" charset="0"/>
                  </a:rPr>
                  <a:t>利用初值条件：</a:t>
                </a:r>
                <a:endParaRPr kumimoji="0" lang="zh-CN" altLang="en-US" sz="2400" b="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mbria Math" panose="02040503050406030204" pitchFamily="18" charset="0"/>
                </a:endParaRPr>
              </a:p>
              <a:p>
                <a:pPr lvl="0">
                  <a:defRPr/>
                </a:pPr>
                <a14:m>
                  <m:oMathPara xmlns:m="http://schemas.openxmlformats.org/officeDocument/2006/math">
                    <m:oMathParaPr>
                      <m:jc m:val="centerGroup"/>
                    </m:oMathParaPr>
                    <m:oMath xmlns:m="http://schemas.openxmlformats.org/officeDocument/2006/math">
                      <m:r>
                        <a:rPr lang="en-US" altLang="zh-CN" sz="2400" i="1" smtClean="0">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𝑧</m:t>
                      </m:r>
                      <m:d>
                        <m:d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0</m:t>
                          </m:r>
                        </m:e>
                      </m:d>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sSub>
                        <m:sSub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𝑧</m:t>
                          </m:r>
                        </m:e>
                        <m: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0</m:t>
                          </m:r>
                        </m:sub>
                      </m:s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sSup>
                        <m:sSup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p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𝑧</m:t>
                          </m:r>
                        </m:e>
                        <m: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sup>
                      </m:sSup>
                      <m:d>
                        <m:d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0</m:t>
                          </m:r>
                        </m:e>
                      </m:d>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0</m:t>
                      </m:r>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𝜃</m:t>
                      </m:r>
                      <m:d>
                        <m:d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0</m:t>
                          </m:r>
                        </m:e>
                      </m:d>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sSub>
                        <m:sSub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𝜃</m:t>
                          </m:r>
                        </m:e>
                        <m: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0</m:t>
                          </m:r>
                        </m:sub>
                      </m:s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sSup>
                        <m:sSup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p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𝜃</m:t>
                          </m:r>
                        </m:e>
                        <m: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sup>
                      </m:sSup>
                      <m:d>
                        <m:d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0</m:t>
                          </m:r>
                        </m:e>
                      </m:d>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0</m:t>
                      </m:r>
                    </m:oMath>
                  </m:oMathPara>
                </a14:m>
                <a:endParaRPr kumimoji="0" lang="zh-CN" altLang="en-US" sz="2400" b="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mbria Math"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400" b="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mbria Math" panose="02040503050406030204" pitchFamily="18" charset="0"/>
                  </a:rPr>
                  <a:t>最终得到：</a:t>
                </a:r>
                <a:endParaRPr kumimoji="0" lang="zh-CN" altLang="en-US" sz="2400" b="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mbria Math" panose="02040503050406030204" pitchFamily="18" charset="0"/>
                </a:endParaRPr>
              </a:p>
              <a:p>
                <a:pPr lvl="0">
                  <a:defRPr/>
                </a:pPr>
                <a14:m>
                  <m:oMathPara xmlns:m="http://schemas.openxmlformats.org/officeDocument/2006/math">
                    <m:oMathParaPr>
                      <m:jc m:val="centerGroup"/>
                    </m:oMathParaPr>
                    <m:oMath xmlns:m="http://schemas.openxmlformats.org/officeDocument/2006/math">
                      <m:r>
                        <a:rPr lang="en-US" altLang="zh-CN" sz="2400" i="1" smtClean="0">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𝜃</m:t>
                      </m:r>
                      <m:d>
                        <m:d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𝑡</m:t>
                          </m:r>
                        </m:e>
                      </m:d>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𝐴</m:t>
                      </m:r>
                      <m:func>
                        <m:func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funcPr>
                        <m:fName>
                          <m:r>
                            <m:rPr>
                              <m:sty m:val="p"/>
                            </m:rPr>
                            <a:rPr lang="en-US" altLang="zh-CN" sz="2400" i="0">
                              <a:solidFill>
                                <a:srgbClr val="000000"/>
                              </a:solidFill>
                              <a:latin typeface="Cambria Math" panose="02040503050406030204" pitchFamily="18" charset="0"/>
                              <a:ea typeface="微软雅黑" panose="020B0503020204020204" pitchFamily="34" charset="-122"/>
                              <a:cs typeface="Cambria Math" panose="02040503050406030204" pitchFamily="18" charset="0"/>
                            </a:rPr>
                            <m:t>cos</m:t>
                          </m:r>
                        </m:fName>
                        <m:e>
                          <m:d>
                            <m:d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dPr>
                            <m:e>
                              <m:sSub>
                                <m:sSub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𝜔</m:t>
                                  </m:r>
                                </m:e>
                                <m: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1</m:t>
                                  </m:r>
                                </m:sub>
                              </m:s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𝑡</m:t>
                              </m:r>
                            </m:e>
                          </m:d>
                        </m:e>
                      </m:func>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𝐵</m:t>
                      </m:r>
                      <m:func>
                        <m:func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funcPr>
                        <m:fName>
                          <m:r>
                            <m:rPr>
                              <m:sty m:val="p"/>
                            </m:rPr>
                            <a:rPr lang="en-US" altLang="zh-CN" sz="2400" i="0">
                              <a:solidFill>
                                <a:srgbClr val="000000"/>
                              </a:solidFill>
                              <a:latin typeface="Cambria Math" panose="02040503050406030204" pitchFamily="18" charset="0"/>
                              <a:ea typeface="微软雅黑" panose="020B0503020204020204" pitchFamily="34" charset="-122"/>
                              <a:cs typeface="Cambria Math" panose="02040503050406030204" pitchFamily="18" charset="0"/>
                            </a:rPr>
                            <m:t>cos</m:t>
                          </m:r>
                        </m:fName>
                        <m:e>
                          <m:d>
                            <m:d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dPr>
                            <m:e>
                              <m:sSub>
                                <m:sSub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𝜔</m:t>
                                  </m:r>
                                </m:e>
                                <m: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2</m:t>
                                  </m:r>
                                </m:sub>
                              </m:s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𝑡</m:t>
                              </m:r>
                            </m:e>
                          </m:d>
                        </m:e>
                      </m:func>
                    </m:oMath>
                  </m:oMathPara>
                </a14:m>
                <a:endParaRPr lang="en-US" altLang="zh-CN" sz="2400" i="0" dirty="0">
                  <a:solidFill>
                    <a:srgbClr val="000000"/>
                  </a:solidFill>
                  <a:latin typeface="微软雅黑" panose="020B0503020204020204" pitchFamily="34" charset="-122"/>
                  <a:ea typeface="微软雅黑" panose="020B0503020204020204" pitchFamily="34" charset="-122"/>
                  <a:cs typeface="Cambria Math" panose="02040503050406030204" pitchFamily="18" charset="0"/>
                </a:endParaRPr>
              </a:p>
              <a:p>
                <a:pPr lvl="0">
                  <a:defRPr/>
                </a:pPr>
                <a14:m>
                  <m:oMathPara xmlns:m="http://schemas.openxmlformats.org/officeDocument/2006/math">
                    <m:oMathParaPr>
                      <m:jc m:val="centerGroup"/>
                    </m:oMathParaPr>
                    <m:oMath xmlns:m="http://schemas.openxmlformats.org/officeDocument/2006/math">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𝑧</m:t>
                      </m:r>
                      <m:d>
                        <m:d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𝑡</m:t>
                          </m:r>
                        </m:e>
                      </m:d>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𝐶</m:t>
                      </m:r>
                      <m:func>
                        <m:func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funcPr>
                        <m:fName>
                          <m:r>
                            <m:rPr>
                              <m:sty m:val="p"/>
                            </m:rPr>
                            <a:rPr lang="en-US" altLang="zh-CN" sz="2400" i="0">
                              <a:solidFill>
                                <a:srgbClr val="000000"/>
                              </a:solidFill>
                              <a:latin typeface="Cambria Math" panose="02040503050406030204" pitchFamily="18" charset="0"/>
                              <a:ea typeface="微软雅黑" panose="020B0503020204020204" pitchFamily="34" charset="-122"/>
                              <a:cs typeface="Cambria Math" panose="02040503050406030204" pitchFamily="18" charset="0"/>
                            </a:rPr>
                            <m:t>cos</m:t>
                          </m:r>
                        </m:fName>
                        <m:e>
                          <m:d>
                            <m:d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dPr>
                            <m:e>
                              <m:sSub>
                                <m:sSub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𝜔</m:t>
                                  </m:r>
                                </m:e>
                                <m: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1</m:t>
                                  </m:r>
                                </m:sub>
                              </m:s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𝑡</m:t>
                              </m:r>
                            </m:e>
                          </m:d>
                        </m:e>
                      </m:func>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𝐷</m:t>
                      </m:r>
                      <m:func>
                        <m:func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funcPr>
                        <m:fName>
                          <m:r>
                            <m:rPr>
                              <m:sty m:val="p"/>
                            </m:rPr>
                            <a:rPr lang="en-US" altLang="zh-CN" sz="2400" i="0">
                              <a:solidFill>
                                <a:srgbClr val="000000"/>
                              </a:solidFill>
                              <a:latin typeface="Cambria Math" panose="02040503050406030204" pitchFamily="18" charset="0"/>
                              <a:ea typeface="微软雅黑" panose="020B0503020204020204" pitchFamily="34" charset="-122"/>
                              <a:cs typeface="Cambria Math" panose="02040503050406030204" pitchFamily="18" charset="0"/>
                            </a:rPr>
                            <m:t>cos</m:t>
                          </m:r>
                        </m:fName>
                        <m:e>
                          <m:d>
                            <m:d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dPr>
                            <m:e>
                              <m:sSub>
                                <m:sSub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𝜔</m:t>
                                  </m:r>
                                </m:e>
                                <m: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2</m:t>
                                  </m:r>
                                </m:sub>
                              </m:s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𝑡</m:t>
                              </m:r>
                            </m:e>
                          </m:d>
                        </m:e>
                      </m:func>
                    </m:oMath>
                  </m:oMathPara>
                </a14:m>
                <a:endParaRPr kumimoji="0" lang="en-US" altLang="zh-CN" sz="2400" b="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mbria Math" panose="02040503050406030204" pitchFamily="18" charset="0"/>
                </a:endParaRPr>
              </a:p>
              <a:p>
                <a:pPr lvl="0">
                  <a:defRPr/>
                </a:pPr>
                <a:r>
                  <a:rPr lang="zh-CN" altLang="en-US" sz="2400" dirty="0">
                    <a:solidFill>
                      <a:srgbClr val="000000"/>
                    </a:solidFill>
                    <a:latin typeface="微软雅黑" panose="020B0503020204020204" pitchFamily="34" charset="-122"/>
                    <a:ea typeface="微软雅黑" panose="020B0503020204020204" pitchFamily="34" charset="-122"/>
                    <a:cs typeface="Cambria Math" panose="02040503050406030204" pitchFamily="18" charset="0"/>
                  </a:rPr>
                  <a:t>其中：</a:t>
                </a:r>
                <a:endParaRPr lang="en-US" altLang="zh-CN" sz="2400" dirty="0">
                  <a:solidFill>
                    <a:srgbClr val="000000"/>
                  </a:solidFill>
                  <a:latin typeface="微软雅黑" panose="020B0503020204020204" pitchFamily="34" charset="-122"/>
                  <a:ea typeface="微软雅黑" panose="020B0503020204020204" pitchFamily="34" charset="-122"/>
                  <a:cs typeface="Cambria Math" panose="02040503050406030204" pitchFamily="18" charset="0"/>
                </a:endParaRPr>
              </a:p>
              <a:p>
                <a:pPr lvl="0">
                  <a:defRPr/>
                </a:pPr>
                <a14:m>
                  <m:oMathPara xmlns:m="http://schemas.openxmlformats.org/officeDocument/2006/math">
                    <m:oMathParaPr>
                      <m:jc m:val="centerGroup"/>
                    </m:oMathParaPr>
                    <m:oMath xmlns:m="http://schemas.openxmlformats.org/officeDocument/2006/math">
                      <m:r>
                        <a:rPr lang="en-US" altLang="zh-CN" sz="2400" i="1" smtClean="0">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𝐴</m:t>
                      </m:r>
                      <m:r>
                        <a:rPr lang="en-US" altLang="zh-CN" sz="2400" i="1" smtClean="0">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f>
                        <m:f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fPr>
                        <m:num>
                          <m:d>
                            <m:d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dPr>
                            <m:e>
                              <m:sSubSup>
                                <m:sSubSup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Sup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𝜔</m:t>
                                  </m:r>
                                </m:e>
                                <m: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1</m:t>
                                  </m:r>
                                </m:sub>
                                <m: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2</m:t>
                                  </m:r>
                                </m:sup>
                              </m:sSub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sSubSup>
                                <m:sSubSup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Sup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𝜔</m:t>
                                  </m:r>
                                </m:e>
                                <m: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𝑧</m:t>
                                  </m:r>
                                </m:sub>
                                <m: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2</m:t>
                                  </m:r>
                                </m:sup>
                              </m:sSubSup>
                            </m:e>
                          </m:d>
                          <m:sSub>
                            <m:sSub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𝜃</m:t>
                              </m:r>
                            </m:e>
                            <m: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0</m:t>
                              </m:r>
                            </m:sub>
                          </m:s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f>
                            <m:f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fPr>
                            <m:num>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𝜖</m:t>
                              </m:r>
                            </m:num>
                            <m:den>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𝐼</m:t>
                              </m:r>
                            </m:den>
                          </m:f>
                          <m:sSub>
                            <m:sSub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𝑧</m:t>
                              </m:r>
                            </m:e>
                            <m: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0</m:t>
                              </m:r>
                            </m:sub>
                          </m:sSub>
                        </m:num>
                        <m:den>
                          <m:sSubSup>
                            <m:sSubSup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Sup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𝜔</m:t>
                              </m:r>
                            </m:e>
                            <m: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1</m:t>
                              </m:r>
                            </m:sub>
                            <m: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2</m:t>
                              </m:r>
                            </m:sup>
                          </m:sSub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sSubSup>
                            <m:sSubSup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Sup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𝜔</m:t>
                              </m:r>
                            </m:e>
                            <m: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2</m:t>
                              </m:r>
                            </m:sub>
                            <m: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2</m:t>
                              </m:r>
                            </m:sup>
                          </m:sSubSup>
                        </m:den>
                      </m:f>
                      <m:r>
                        <a:rPr lang="en-US" altLang="zh-CN" sz="2400" b="0" i="1" smtClean="0">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𝐵</m:t>
                      </m:r>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f>
                        <m:f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fPr>
                        <m:num>
                          <m:d>
                            <m:d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dPr>
                            <m:e>
                              <m:sSubSup>
                                <m:sSubSup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Sup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𝜔</m:t>
                                  </m:r>
                                </m:e>
                                <m: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𝑧</m:t>
                                  </m:r>
                                </m:sub>
                                <m: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2</m:t>
                                  </m:r>
                                </m:sup>
                              </m:sSub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sSubSup>
                                <m:sSubSup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Sup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𝜔</m:t>
                                  </m:r>
                                </m:e>
                                <m: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2</m:t>
                                  </m:r>
                                </m:sub>
                                <m: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2</m:t>
                                  </m:r>
                                </m:sup>
                              </m:sSubSup>
                            </m:e>
                          </m:d>
                          <m:sSub>
                            <m:sSub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𝜃</m:t>
                              </m:r>
                            </m:e>
                            <m: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0</m:t>
                              </m:r>
                            </m:sub>
                          </m:s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f>
                            <m:f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fPr>
                            <m:num>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𝜖</m:t>
                              </m:r>
                            </m:num>
                            <m:den>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𝐼</m:t>
                              </m:r>
                            </m:den>
                          </m:f>
                          <m:sSub>
                            <m:sSub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𝑧</m:t>
                              </m:r>
                            </m:e>
                            <m: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0</m:t>
                              </m:r>
                            </m:sub>
                          </m:sSub>
                        </m:num>
                        <m:den>
                          <m:sSubSup>
                            <m:sSubSup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Sup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𝜔</m:t>
                              </m:r>
                            </m:e>
                            <m: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1</m:t>
                              </m:r>
                            </m:sub>
                            <m: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2</m:t>
                              </m:r>
                            </m:sup>
                          </m:sSub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sSubSup>
                            <m:sSubSup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Sup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𝜔</m:t>
                              </m:r>
                            </m:e>
                            <m: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2</m:t>
                              </m:r>
                            </m:sub>
                            <m: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2</m:t>
                              </m:r>
                            </m:sup>
                          </m:sSubSup>
                        </m:den>
                      </m:f>
                    </m:oMath>
                  </m:oMathPara>
                </a14:m>
                <a:endParaRPr lang="en-US" altLang="zh-CN" sz="2400" i="1" dirty="0">
                  <a:solidFill>
                    <a:srgbClr val="000000"/>
                  </a:solidFill>
                  <a:latin typeface="微软雅黑" panose="020B0503020204020204" pitchFamily="34" charset="-122"/>
                  <a:ea typeface="微软雅黑" panose="020B0503020204020204" pitchFamily="34" charset="-122"/>
                  <a:cs typeface="Cambria Math" panose="02040503050406030204" pitchFamily="18" charset="0"/>
                </a:endParaRPr>
              </a:p>
              <a:p>
                <a:pPr lvl="0">
                  <a:defRPr/>
                </a:pPr>
                <a14:m>
                  <m:oMathPara xmlns:m="http://schemas.openxmlformats.org/officeDocument/2006/math">
                    <m:oMathParaPr>
                      <m:jc m:val="centerGroup"/>
                    </m:oMathParaPr>
                    <m:oMath xmlns:m="http://schemas.openxmlformats.org/officeDocument/2006/math">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 </m:t>
                      </m:r>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𝐶</m:t>
                      </m:r>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f>
                        <m:f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fPr>
                        <m:num>
                          <m:f>
                            <m:f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fPr>
                            <m:num>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𝜖</m:t>
                              </m:r>
                            </m:num>
                            <m:den>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𝑚</m:t>
                              </m:r>
                            </m:den>
                          </m:f>
                          <m:sSub>
                            <m:sSub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𝜃</m:t>
                              </m:r>
                            </m:e>
                            <m: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0</m:t>
                              </m:r>
                            </m:sub>
                          </m:s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d>
                            <m:d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dPr>
                            <m:e>
                              <m:sSubSup>
                                <m:sSubSup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Sup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𝜔</m:t>
                                  </m:r>
                                </m:e>
                                <m: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𝑧</m:t>
                                  </m:r>
                                </m:sub>
                                <m: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2</m:t>
                                  </m:r>
                                </m:sup>
                              </m:sSub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sSubSup>
                                <m:sSubSup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Sup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𝜔</m:t>
                                  </m:r>
                                </m:e>
                                <m: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2</m:t>
                                  </m:r>
                                </m:sub>
                                <m: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2</m:t>
                                  </m:r>
                                </m:sup>
                              </m:sSubSup>
                            </m:e>
                          </m:d>
                          <m:sSub>
                            <m:sSub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𝑧</m:t>
                              </m:r>
                            </m:e>
                            <m: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0</m:t>
                              </m:r>
                            </m:sub>
                          </m:sSub>
                        </m:num>
                        <m:den>
                          <m:sSubSup>
                            <m:sSubSup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Sup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𝜔</m:t>
                              </m:r>
                            </m:e>
                            <m: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1</m:t>
                              </m:r>
                            </m:sub>
                            <m: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2</m:t>
                              </m:r>
                            </m:sup>
                          </m:sSub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sSubSup>
                            <m:sSubSup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Sup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𝜔</m:t>
                              </m:r>
                            </m:e>
                            <m: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2</m:t>
                              </m:r>
                            </m:sub>
                            <m: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2</m:t>
                              </m:r>
                            </m:sup>
                          </m:sSubSup>
                        </m:den>
                      </m:f>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 </m:t>
                      </m:r>
                      <m:r>
                        <a:rPr lang="en-US" altLang="zh-CN" sz="2400" b="0" i="1" smtClean="0">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𝐷</m:t>
                      </m:r>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f>
                        <m:f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fPr>
                        <m:num>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f>
                            <m:f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fPr>
                            <m:num>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𝜖</m:t>
                              </m:r>
                            </m:num>
                            <m:den>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𝑚</m:t>
                              </m:r>
                            </m:den>
                          </m:f>
                          <m:sSub>
                            <m:sSub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𝜃</m:t>
                              </m:r>
                            </m:e>
                            <m: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0</m:t>
                              </m:r>
                            </m:sub>
                          </m:s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d>
                            <m:d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dPr>
                            <m:e>
                              <m:sSubSup>
                                <m:sSubSup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Sup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𝜔</m:t>
                                  </m:r>
                                </m:e>
                                <m: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1</m:t>
                                  </m:r>
                                </m:sub>
                                <m: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2</m:t>
                                  </m:r>
                                </m:sup>
                              </m:sSub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sSubSup>
                                <m:sSubSup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Sup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𝜔</m:t>
                                  </m:r>
                                </m:e>
                                <m: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𝑧</m:t>
                                  </m:r>
                                </m:sub>
                                <m: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2</m:t>
                                  </m:r>
                                </m:sup>
                              </m:sSubSup>
                            </m:e>
                          </m:d>
                          <m:sSub>
                            <m:sSub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𝑧</m:t>
                              </m:r>
                            </m:e>
                            <m: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0</m:t>
                              </m:r>
                            </m:sub>
                          </m:sSub>
                        </m:num>
                        <m:den>
                          <m:sSubSup>
                            <m:sSubSup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Sup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𝜔</m:t>
                              </m:r>
                            </m:e>
                            <m: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1</m:t>
                              </m:r>
                            </m:sub>
                            <m: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2</m:t>
                              </m:r>
                            </m:sup>
                          </m:sSub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m:t>
                          </m:r>
                          <m:sSubSup>
                            <m:sSubSupPr>
                              <m:ctrlP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ctrlPr>
                            </m:sSubSupPr>
                            <m:e>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𝜔</m:t>
                              </m:r>
                            </m:e>
                            <m:sub>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2</m:t>
                              </m:r>
                            </m:sub>
                            <m:sup>
                              <m:r>
                                <a:rPr lang="en-US" altLang="zh-CN" sz="2400" i="1">
                                  <a:solidFill>
                                    <a:srgbClr val="000000"/>
                                  </a:solidFill>
                                  <a:latin typeface="Cambria Math" panose="02040503050406030204" pitchFamily="18" charset="0"/>
                                  <a:ea typeface="微软雅黑" panose="020B0503020204020204" pitchFamily="34" charset="-122"/>
                                  <a:cs typeface="Cambria Math" panose="02040503050406030204" pitchFamily="18" charset="0"/>
                                </a:rPr>
                                <m:t>2</m:t>
                              </m:r>
                            </m:sup>
                          </m:sSubSup>
                        </m:den>
                      </m:f>
                    </m:oMath>
                  </m:oMathPara>
                </a14:m>
                <a:endParaRPr kumimoji="0" lang="zh-CN" altLang="en-US" sz="2400" b="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mbria Math"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400" b="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mbria Math" panose="02040503050406030204" pitchFamily="18" charset="0"/>
                  </a:rPr>
                  <a:t>这一函数可以视为两个简谐运动的复合，这与声学中的拍现象十分类似。</a:t>
                </a:r>
                <a:endParaRPr kumimoji="0" lang="en-US" altLang="zh-CN" sz="2400" b="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Cambria Math" panose="02040503050406030204" pitchFamily="18" charset="0"/>
                </a:endParaRPr>
              </a:p>
              <a:p>
                <a:pPr>
                  <a:defRPr/>
                </a:pPr>
                <a:r>
                  <a:rPr lang="zh-CN" altLang="en-US" sz="2400" dirty="0">
                    <a:latin typeface="微软雅黑" panose="020B0503020204020204" pitchFamily="34" charset="-122"/>
                    <a:ea typeface="微软雅黑" panose="020B0503020204020204" pitchFamily="34" charset="-122"/>
                  </a:rPr>
                  <a:t>另外，对于 </a:t>
                </a:r>
                <a14:m>
                  <m:oMath xmlns:m="http://schemas.openxmlformats.org/officeDocument/2006/math">
                    <m:r>
                      <a:rPr lang="en-US" altLang="zh-CN" sz="2400" i="1" dirty="0" smtClean="0">
                        <a:latin typeface="Cambria Math" panose="02040503050406030204" pitchFamily="18" charset="0"/>
                        <a:ea typeface="微软雅黑" panose="020B0503020204020204" pitchFamily="34" charset="-122"/>
                      </a:rPr>
                      <m:t>𝜖</m:t>
                    </m:r>
                  </m:oMath>
                </a14:m>
                <a:r>
                  <a:rPr lang="zh-CN" altLang="en-US" sz="2400" dirty="0">
                    <a:latin typeface="微软雅黑" panose="020B0503020204020204" pitchFamily="34" charset="-122"/>
                    <a:ea typeface="微软雅黑" panose="020B0503020204020204" pitchFamily="34" charset="-122"/>
                  </a:rPr>
                  <a:t> 的大小，由多元函数的极值条件有：</a:t>
                </a:r>
                <a:br>
                  <a:rPr lang="zh-CN" altLang="en-US" sz="2400" dirty="0">
                    <a:latin typeface="微软雅黑" panose="020B0503020204020204" pitchFamily="34" charset="-122"/>
                    <a:ea typeface="微软雅黑" panose="020B0503020204020204" pitchFamily="34" charset="-122"/>
                  </a:rPr>
                </a:br>
                <a14:m>
                  <m:oMathPara xmlns:m="http://schemas.openxmlformats.org/officeDocument/2006/math">
                    <m:oMathParaPr>
                      <m:jc m:val="centerGroup"/>
                    </m:oMathParaPr>
                    <m:oMath xmlns:m="http://schemas.openxmlformats.org/officeDocument/2006/math">
                      <m:d>
                        <m:dPr>
                          <m:begChr m:val="|"/>
                          <m:endChr m:val="|"/>
                          <m:ctrlPr>
                            <a:rPr lang="en-US" altLang="zh-CN" sz="2400" i="1" dirty="0" smtClean="0">
                              <a:latin typeface="Cambria Math" panose="02040503050406030204" pitchFamily="18" charset="0"/>
                              <a:ea typeface="微软雅黑" panose="020B0503020204020204" pitchFamily="34" charset="-122"/>
                            </a:rPr>
                          </m:ctrlPr>
                        </m:dPr>
                        <m:e>
                          <m:r>
                            <a:rPr lang="en-US" altLang="zh-CN" sz="2400" i="1" dirty="0" smtClean="0">
                              <a:latin typeface="Cambria Math" panose="02040503050406030204" pitchFamily="18" charset="0"/>
                              <a:ea typeface="微软雅黑" panose="020B0503020204020204" pitchFamily="34" charset="-122"/>
                            </a:rPr>
                            <m:t>𝜖</m:t>
                          </m:r>
                        </m:e>
                      </m:d>
                      <m:r>
                        <a:rPr lang="en-US" altLang="zh-CN" sz="2400" i="1" dirty="0" smtClean="0">
                          <a:latin typeface="Cambria Math" panose="02040503050406030204" pitchFamily="18" charset="0"/>
                          <a:ea typeface="微软雅黑" panose="020B0503020204020204" pitchFamily="34" charset="-122"/>
                        </a:rPr>
                        <m:t>&lt;</m:t>
                      </m:r>
                      <m:rad>
                        <m:radPr>
                          <m:degHide m:val="on"/>
                          <m:ctrlPr>
                            <a:rPr lang="en-US" altLang="zh-CN" sz="2400" i="1" dirty="0" smtClean="0">
                              <a:latin typeface="Cambria Math" panose="02040503050406030204" pitchFamily="18" charset="0"/>
                              <a:ea typeface="微软雅黑" panose="020B0503020204020204" pitchFamily="34" charset="-122"/>
                            </a:rPr>
                          </m:ctrlPr>
                        </m:radPr>
                        <m:deg/>
                        <m:e>
                          <m:r>
                            <a:rPr lang="en-US" altLang="zh-CN" sz="2400" i="1" dirty="0" smtClean="0">
                              <a:latin typeface="Cambria Math" panose="02040503050406030204" pitchFamily="18" charset="0"/>
                              <a:ea typeface="微软雅黑" panose="020B0503020204020204" pitchFamily="34" charset="-122"/>
                            </a:rPr>
                            <m:t>𝑘</m:t>
                          </m:r>
                          <m:r>
                            <a:rPr lang="en-US" altLang="zh-CN" sz="2400" i="1" dirty="0" smtClean="0">
                              <a:latin typeface="Cambria Math" panose="02040503050406030204" pitchFamily="18" charset="0"/>
                              <a:ea typeface="微软雅黑" panose="020B0503020204020204" pitchFamily="34" charset="-122"/>
                            </a:rPr>
                            <m:t>𝛿</m:t>
                          </m:r>
                        </m:e>
                      </m:rad>
                    </m:oMath>
                  </m:oMathPara>
                </a14:m>
                <a:endParaRPr lang="en-US" altLang="zh-CN" sz="2400" i="1" dirty="0">
                  <a:latin typeface="Cambria Math" panose="02040503050406030204" pitchFamily="18" charset="0"/>
                  <a:ea typeface="微软雅黑" panose="020B0503020204020204" pitchFamily="34" charset="-122"/>
                </a:endParaRPr>
              </a:p>
              <a:p>
                <a:pPr>
                  <a:defRPr/>
                </a:pPr>
              </a:p>
            </p:txBody>
          </p:sp>
        </mc:Choice>
        <mc:Fallback>
          <p:sp>
            <p:nvSpPr>
              <p:cNvPr id="3" name="矩形 2"/>
              <p:cNvSpPr>
                <a:spLocks noRot="1" noChangeAspect="1" noMove="1" noResize="1" noEditPoints="1" noAdjustHandles="1" noChangeArrowheads="1" noChangeShapeType="1" noTextEdit="1"/>
              </p:cNvSpPr>
              <p:nvPr/>
            </p:nvSpPr>
            <p:spPr>
              <a:xfrm>
                <a:off x="958536" y="915333"/>
                <a:ext cx="10640191" cy="5760680"/>
              </a:xfrm>
              <a:prstGeom prst="rect">
                <a:avLst/>
              </a:prstGeom>
              <a:blipFill rotWithShape="1">
                <a:blip r:embed="rId1"/>
                <a:stretch>
                  <a:fillRect l="-3" t="-5" r="4" b="4"/>
                </a:stretch>
              </a:blipFill>
            </p:spPr>
            <p:txBody>
              <a:bodyPr/>
              <a:lstStyle/>
              <a:p>
                <a:r>
                  <a:rPr lang="zh-CN" altLang="en-US">
                    <a:noFill/>
                  </a:rPr>
                  <a:t> </a:t>
                </a:r>
              </a:p>
            </p:txBody>
          </p:sp>
        </mc:Fallback>
      </mc:AlternateContent>
      <p:grpSp>
        <p:nvGrpSpPr>
          <p:cNvPr id="6" name="组合 5"/>
          <p:cNvGrpSpPr/>
          <p:nvPr/>
        </p:nvGrpSpPr>
        <p:grpSpPr>
          <a:xfrm>
            <a:off x="-1" y="392113"/>
            <a:ext cx="3254189" cy="523220"/>
            <a:chOff x="0" y="392113"/>
            <a:chExt cx="2650036" cy="523220"/>
          </a:xfrm>
        </p:grpSpPr>
        <p:sp>
          <p:nvSpPr>
            <p:cNvPr id="7" name="文本框 10"/>
            <p:cNvSpPr txBox="1">
              <a:spLocks noChangeArrowheads="1"/>
            </p:cNvSpPr>
            <p:nvPr/>
          </p:nvSpPr>
          <p:spPr bwMode="auto">
            <a:xfrm>
              <a:off x="343837" y="392113"/>
              <a:ext cx="230619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lvl="0" eaLnBrk="1" hangingPunct="1">
                <a:defRPr/>
              </a:pPr>
              <a:r>
                <a:rPr lang="zh-CN" altLang="en-US" sz="2800" b="1" noProof="0" dirty="0">
                  <a:solidFill>
                    <a:srgbClr val="000000"/>
                  </a:solidFill>
                  <a:latin typeface="微软雅黑" panose="020B0503020204020204" pitchFamily="34" charset="-122"/>
                  <a:ea typeface="微软雅黑" panose="020B0503020204020204" pitchFamily="34" charset="-122"/>
                </a:rPr>
                <a:t>理论</a:t>
              </a:r>
              <a:r>
                <a:rPr lang="en-US" altLang="zh-CN" sz="2800" b="1" dirty="0">
                  <a:solidFill>
                    <a:srgbClr val="000000"/>
                  </a:solidFill>
                  <a:latin typeface="微软雅黑" panose="020B0503020204020204" pitchFamily="34" charset="-122"/>
                  <a:ea typeface="微软雅黑" panose="020B0503020204020204" pitchFamily="34" charset="-122"/>
                </a:rPr>
                <a:t>·</a:t>
              </a:r>
              <a:r>
                <a:rPr lang="zh-CN" altLang="en-US" sz="2800" b="1" dirty="0">
                  <a:solidFill>
                    <a:srgbClr val="000000"/>
                  </a:solidFill>
                  <a:latin typeface="微软雅黑" panose="020B0503020204020204" pitchFamily="34" charset="-122"/>
                  <a:ea typeface="微软雅黑" panose="020B0503020204020204" pitchFamily="34" charset="-122"/>
                </a:rPr>
                <a:t>推导</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 name="矩形 1"/>
            <p:cNvSpPr>
              <a:spLocks noChangeArrowheads="1"/>
            </p:cNvSpPr>
            <p:nvPr/>
          </p:nvSpPr>
          <p:spPr bwMode="auto">
            <a:xfrm>
              <a:off x="0" y="392113"/>
              <a:ext cx="290286" cy="463550"/>
            </a:xfrm>
            <a:prstGeom prst="rect">
              <a:avLst/>
            </a:prstGeom>
            <a:solidFill>
              <a:srgbClr val="9A0000"/>
            </a:soli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BB8F404-4D68-4CF1-A1D1-4545FFCFAAD6}" type="slidenum">
              <a:rPr kumimoji="0" lang="zh-CN" altLang="en-US" sz="2400" b="0" i="0" u="none" strike="noStrike" kern="1200" cap="none" spc="0" normalizeH="0" baseline="0" noProof="0" smtClean="0">
                <a:ln>
                  <a:noFill/>
                </a:ln>
                <a:solidFill>
                  <a:srgbClr val="9A0000"/>
                </a:solidFill>
                <a:effectLst/>
                <a:uLnTx/>
                <a:uFillTx/>
                <a:latin typeface="Calibri" panose="020F0502020204030204" pitchFamily="34" charset="0"/>
                <a:ea typeface="宋体" panose="02010600030101010101" pitchFamily="2" charset="-122"/>
                <a:cs typeface="+mn-cs"/>
              </a:rPr>
            </a:fld>
            <a:endParaRPr kumimoji="0" lang="zh-CN" altLang="en-US" sz="2400" b="0" i="0" u="none" strike="noStrike" kern="1200" cap="none" spc="0" normalizeH="0" baseline="0" noProof="0">
              <a:ln>
                <a:noFill/>
              </a:ln>
              <a:solidFill>
                <a:srgbClr val="9A0000"/>
              </a:solidFill>
              <a:effectLst/>
              <a:uLnTx/>
              <a:uFillTx/>
              <a:latin typeface="Calibri" panose="020F0502020204030204" pitchFamily="34" charset="0"/>
              <a:ea typeface="宋体" panose="02010600030101010101" pitchFamily="2" charset="-122"/>
              <a:cs typeface="+mn-cs"/>
            </a:endParaRPr>
          </a:p>
        </p:txBody>
      </p:sp>
      <p:sp>
        <p:nvSpPr>
          <p:cNvPr id="3" name="矩形 2"/>
          <p:cNvSpPr/>
          <p:nvPr/>
        </p:nvSpPr>
        <p:spPr>
          <a:xfrm>
            <a:off x="958536" y="915333"/>
            <a:ext cx="10640191" cy="830997"/>
          </a:xfrm>
          <a:prstGeom prst="rect">
            <a:avLst/>
          </a:prstGeom>
        </p:spPr>
        <p:txBody>
          <a:bodyPr wrap="square">
            <a:spAutoFit/>
          </a:bodyPr>
          <a:lstStyle/>
          <a:p>
            <a:pPr>
              <a:defRPr/>
            </a:pPr>
            <a:r>
              <a:rPr lang="zh-CN" altLang="en-US" sz="2400" dirty="0">
                <a:latin typeface="Cambria Math" panose="02040503050406030204" pitchFamily="18" charset="0"/>
                <a:ea typeface="微软雅黑" panose="020B0503020204020204" pitchFamily="34" charset="-122"/>
              </a:rPr>
              <a:t>拍现象的理想图像如下</a:t>
            </a:r>
            <a:r>
              <a:rPr lang="en-US" altLang="zh-CN" sz="2400" dirty="0">
                <a:latin typeface="Cambria Math" panose="02040503050406030204" pitchFamily="18" charset="0"/>
                <a:ea typeface="微软雅黑" panose="020B0503020204020204" pitchFamily="34" charset="-122"/>
              </a:rPr>
              <a:t>[2]</a:t>
            </a:r>
            <a:r>
              <a:rPr lang="zh-CN" altLang="en-US" sz="2400" dirty="0">
                <a:latin typeface="Cambria Math" panose="02040503050406030204" pitchFamily="18" charset="0"/>
                <a:ea typeface="微软雅黑" panose="020B0503020204020204" pitchFamily="34" charset="-122"/>
              </a:rPr>
              <a:t>：</a:t>
            </a:r>
            <a:endParaRPr lang="en-US" altLang="zh-CN" sz="2400" dirty="0">
              <a:latin typeface="Cambria Math" panose="02040503050406030204" pitchFamily="18" charset="0"/>
              <a:ea typeface="微软雅黑" panose="020B0503020204020204" pitchFamily="34" charset="-122"/>
            </a:endParaRPr>
          </a:p>
          <a:p>
            <a:pPr>
              <a:defRPr/>
            </a:pPr>
            <a:r>
              <a:rPr lang="zh-CN" altLang="en-US" sz="2400" dirty="0">
                <a:latin typeface="Cambria Math" panose="02040503050406030204" pitchFamily="18" charset="0"/>
                <a:ea typeface="微软雅黑" panose="020B0503020204020204" pitchFamily="34" charset="-122"/>
              </a:rPr>
              <a:t>图像有如下特点：振幅周期性变化；包络线呈现纺锤形；内部有密集震荡。</a:t>
            </a:r>
            <a:endParaRPr lang="en-US" altLang="zh-CN" sz="2400" dirty="0">
              <a:latin typeface="Cambria Math" panose="02040503050406030204" pitchFamily="18" charset="0"/>
              <a:ea typeface="微软雅黑" panose="020B0503020204020204" pitchFamily="34" charset="-122"/>
            </a:endParaRPr>
          </a:p>
        </p:txBody>
      </p:sp>
      <p:grpSp>
        <p:nvGrpSpPr>
          <p:cNvPr id="6" name="组合 5"/>
          <p:cNvGrpSpPr/>
          <p:nvPr/>
        </p:nvGrpSpPr>
        <p:grpSpPr>
          <a:xfrm>
            <a:off x="-1" y="392113"/>
            <a:ext cx="3254189" cy="523220"/>
            <a:chOff x="0" y="392113"/>
            <a:chExt cx="2650036" cy="523220"/>
          </a:xfrm>
        </p:grpSpPr>
        <p:sp>
          <p:nvSpPr>
            <p:cNvPr id="7" name="文本框 10"/>
            <p:cNvSpPr txBox="1">
              <a:spLocks noChangeArrowheads="1"/>
            </p:cNvSpPr>
            <p:nvPr/>
          </p:nvSpPr>
          <p:spPr bwMode="auto">
            <a:xfrm>
              <a:off x="343837" y="392113"/>
              <a:ext cx="230619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lvl="0" eaLnBrk="1" hangingPunct="1">
                <a:defRPr/>
              </a:pPr>
              <a:r>
                <a:rPr lang="zh-CN" altLang="en-US" sz="2800" b="1" noProof="0" dirty="0">
                  <a:solidFill>
                    <a:srgbClr val="000000"/>
                  </a:solidFill>
                  <a:latin typeface="微软雅黑" panose="020B0503020204020204" pitchFamily="34" charset="-122"/>
                  <a:ea typeface="微软雅黑" panose="020B0503020204020204" pitchFamily="34" charset="-122"/>
                </a:rPr>
                <a:t>理论</a:t>
              </a:r>
              <a:r>
                <a:rPr lang="en-US" altLang="zh-CN" sz="2800" b="1" dirty="0">
                  <a:solidFill>
                    <a:srgbClr val="000000"/>
                  </a:solidFill>
                  <a:latin typeface="微软雅黑" panose="020B0503020204020204" pitchFamily="34" charset="-122"/>
                  <a:ea typeface="微软雅黑" panose="020B0503020204020204" pitchFamily="34" charset="-122"/>
                </a:rPr>
                <a:t>·</a:t>
              </a:r>
              <a:r>
                <a:rPr lang="zh-CN" altLang="en-US" sz="2800" b="1" dirty="0">
                  <a:solidFill>
                    <a:srgbClr val="000000"/>
                  </a:solidFill>
                  <a:latin typeface="微软雅黑" panose="020B0503020204020204" pitchFamily="34" charset="-122"/>
                  <a:ea typeface="微软雅黑" panose="020B0503020204020204" pitchFamily="34" charset="-122"/>
                </a:rPr>
                <a:t>理想图像</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 name="矩形 1"/>
            <p:cNvSpPr>
              <a:spLocks noChangeArrowheads="1"/>
            </p:cNvSpPr>
            <p:nvPr/>
          </p:nvSpPr>
          <p:spPr bwMode="auto">
            <a:xfrm>
              <a:off x="0" y="392113"/>
              <a:ext cx="290286" cy="463550"/>
            </a:xfrm>
            <a:prstGeom prst="rect">
              <a:avLst/>
            </a:prstGeom>
            <a:solidFill>
              <a:srgbClr val="9A0000"/>
            </a:soli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5" name="图片 4"/>
          <p:cNvPicPr>
            <a:picLocks noChangeAspect="1"/>
          </p:cNvPicPr>
          <p:nvPr/>
        </p:nvPicPr>
        <p:blipFill>
          <a:blip r:embed="rId1"/>
          <a:stretch>
            <a:fillRect/>
          </a:stretch>
        </p:blipFill>
        <p:spPr>
          <a:xfrm>
            <a:off x="2719387" y="1746330"/>
            <a:ext cx="6753225" cy="423862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BB8F404-4D68-4CF1-A1D1-4545FFCFAAD6}" type="slidenum">
              <a:rPr kumimoji="0" lang="zh-CN" altLang="en-US" sz="2400" b="0" i="0" u="none" strike="noStrike" kern="1200" cap="none" spc="0" normalizeH="0" baseline="0" noProof="0" smtClean="0">
                <a:ln>
                  <a:noFill/>
                </a:ln>
                <a:solidFill>
                  <a:srgbClr val="9A0000"/>
                </a:solidFill>
                <a:effectLst/>
                <a:uLnTx/>
                <a:uFillTx/>
                <a:latin typeface="Calibri" panose="020F0502020204030204" pitchFamily="34" charset="0"/>
                <a:ea typeface="宋体" panose="02010600030101010101" pitchFamily="2" charset="-122"/>
                <a:cs typeface="+mn-cs"/>
              </a:rPr>
            </a:fld>
            <a:endParaRPr kumimoji="0" lang="zh-CN" altLang="en-US" sz="2400" b="0" i="0" u="none" strike="noStrike" kern="1200" cap="none" spc="0" normalizeH="0" baseline="0" noProof="0">
              <a:ln>
                <a:noFill/>
              </a:ln>
              <a:solidFill>
                <a:srgbClr val="9A0000"/>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mc:Choice xmlns:a14="http://schemas.microsoft.com/office/drawing/2010/main" Requires="a14">
          <p:sp>
            <p:nvSpPr>
              <p:cNvPr id="3" name="文本框 2"/>
              <p:cNvSpPr txBox="1"/>
              <p:nvPr/>
            </p:nvSpPr>
            <p:spPr>
              <a:xfrm>
                <a:off x="1132114" y="1377363"/>
                <a:ext cx="9300755" cy="3291840"/>
              </a:xfrm>
              <a:prstGeom prst="rect">
                <a:avLst/>
              </a:prstGeom>
              <a:noFill/>
            </p:spPr>
            <p:txBody>
              <a:bodyPr wrap="square" rtlCol="0">
                <a:spAutoFit/>
              </a:bodyPr>
              <a:lstStyle/>
              <a:p>
                <a:pPr>
                  <a:spcBef>
                    <a:spcPts val="1200"/>
                  </a:spcBef>
                </a:pPr>
                <a:r>
                  <a:rPr lang="zh-CN" altLang="en-US" sz="2400" dirty="0">
                    <a:latin typeface="微软雅黑" panose="020B0503020204020204" pitchFamily="34" charset="-122"/>
                    <a:ea typeface="微软雅黑" panose="020B0503020204020204" pitchFamily="34" charset="-122"/>
                  </a:rPr>
                  <a:t>我们认为可能有价值的变量如下：</a:t>
                </a:r>
                <a:endParaRPr lang="zh-CN" altLang="en-US" sz="2400" dirty="0">
                  <a:latin typeface="微软雅黑" panose="020B0503020204020204" pitchFamily="34" charset="-122"/>
                  <a:ea typeface="微软雅黑" panose="020B0503020204020204" pitchFamily="34" charset="-122"/>
                </a:endParaRPr>
              </a:p>
              <a:p>
                <a:pPr marL="342900" indent="-342900">
                  <a:spcBef>
                    <a:spcPts val="1200"/>
                  </a:spcBef>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自变量：</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sym typeface="+mn-ea"/>
                  </a:rPr>
                  <a:t>摆的质量 </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sym typeface="+mn-ea"/>
                  </a:rPr>
                  <a:t>m</a:t>
                </a:r>
                <a:r>
                  <a:rPr lang="zh-CN" altLang="en-US" sz="2400" i="1" dirty="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sym typeface="+mn-ea"/>
                  </a:rPr>
                  <a:t>摆的转动惯量 </a:t>
                </a:r>
                <a14:m>
                  <m:oMath xmlns:m="http://schemas.openxmlformats.org/officeDocument/2006/math">
                    <m:r>
                      <a:rPr lang="en-US" altLang="zh-CN" sz="2400" i="1" dirty="0">
                        <a:latin typeface="Cambria Math" panose="02040503050406030204" pitchFamily="18" charset="0"/>
                        <a:ea typeface="微软雅黑" panose="020B0503020204020204" pitchFamily="34" charset="-122"/>
                        <a:cs typeface="Cambria Math" panose="02040503050406030204" pitchFamily="18" charset="0"/>
                      </a:rPr>
                      <m:t>𝐼</m:t>
                    </m:r>
                  </m:oMath>
                </a14:m>
                <a:r>
                  <a:rPr lang="zh-CN" altLang="en-US" sz="2400" dirty="0">
                    <a:latin typeface="Cambria Math" panose="02040503050406030204" pitchFamily="18" charset="0"/>
                    <a:ea typeface="微软雅黑" panose="020B0503020204020204" pitchFamily="34" charset="-122"/>
                    <a:cs typeface="Cambria Math" panose="02040503050406030204" pitchFamily="18" charset="0"/>
                  </a:rPr>
                  <a:t>；</a:t>
                </a:r>
                <a:r>
                  <a:rPr lang="zh-CN" altLang="en-US" sz="2400" dirty="0">
                    <a:latin typeface="微软雅黑" panose="020B0503020204020204" pitchFamily="34" charset="-122"/>
                    <a:ea typeface="微软雅黑" panose="020B0503020204020204" pitchFamily="34" charset="-122"/>
                    <a:sym typeface="+mn-ea"/>
                  </a:rPr>
                  <a:t>弹簧的劲度系数</a:t>
                </a:r>
                <a:r>
                  <a:rPr lang="en-US" altLang="zh-CN" sz="2400" dirty="0">
                    <a:latin typeface="微软雅黑" panose="020B0503020204020204" pitchFamily="34" charset="-122"/>
                    <a:ea typeface="微软雅黑" panose="020B0503020204020204" pitchFamily="34" charset="-122"/>
                    <a:sym typeface="+mn-ea"/>
                  </a:rPr>
                  <a:t> </a:t>
                </a:r>
                <a14:m>
                  <m:oMath xmlns:m="http://schemas.openxmlformats.org/officeDocument/2006/math">
                    <m:r>
                      <a:rPr lang="en-US" altLang="zh-CN" sz="2400" i="1" dirty="0">
                        <a:latin typeface="Cambria Math" panose="02040503050406030204" pitchFamily="18" charset="0"/>
                        <a:ea typeface="微软雅黑" panose="020B0503020204020204" pitchFamily="34" charset="-122"/>
                        <a:cs typeface="Cambria Math" panose="02040503050406030204" pitchFamily="18" charset="0"/>
                      </a:rPr>
                      <m:t>𝑘</m:t>
                    </m:r>
                  </m:oMath>
                </a14:m>
                <a:r>
                  <a:rPr lang="zh-CN" altLang="en-US" sz="2400" dirty="0">
                    <a:latin typeface="微软雅黑" panose="020B0503020204020204" pitchFamily="34" charset="-122"/>
                    <a:ea typeface="微软雅黑" panose="020B0503020204020204" pitchFamily="34" charset="-122"/>
                    <a:sym typeface="+mn-ea"/>
                  </a:rPr>
                  <a:t>；弹簧的扭转系数</a:t>
                </a:r>
                <a:r>
                  <a:rPr lang="en-US" altLang="zh-CN" sz="2400" dirty="0">
                    <a:latin typeface="微软雅黑" panose="020B0503020204020204" pitchFamily="34" charset="-122"/>
                    <a:ea typeface="微软雅黑" panose="020B0503020204020204" pitchFamily="34" charset="-122"/>
                    <a:sym typeface="+mn-ea"/>
                  </a:rPr>
                  <a:t> </a:t>
                </a:r>
                <a14:m>
                  <m:oMath xmlns:m="http://schemas.openxmlformats.org/officeDocument/2006/math">
                    <m:r>
                      <a:rPr lang="en-US" altLang="zh-CN" sz="2400" i="1" dirty="0">
                        <a:latin typeface="Cambria Math" panose="02040503050406030204" pitchFamily="18" charset="0"/>
                        <a:ea typeface="微软雅黑" panose="020B0503020204020204" pitchFamily="34" charset="-122"/>
                        <a:cs typeface="Cambria Math" panose="02040503050406030204" pitchFamily="18" charset="0"/>
                        <a:sym typeface="+mn-ea"/>
                      </a:rPr>
                      <m:t>𝛿</m:t>
                    </m:r>
                  </m:oMath>
                </a14:m>
                <a:r>
                  <a:rPr lang="zh-CN" altLang="en-US" sz="2400" dirty="0">
                    <a:latin typeface="Cambria Math" panose="02040503050406030204" pitchFamily="18" charset="0"/>
                    <a:ea typeface="微软雅黑" panose="020B0503020204020204" pitchFamily="34" charset="-122"/>
                    <a:cs typeface="Cambria Math" panose="02040503050406030204" pitchFamily="18" charset="0"/>
                    <a:sym typeface="+mn-ea"/>
                  </a:rPr>
                  <a:t>。</a:t>
                </a:r>
                <a:endParaRPr lang="zh-CN" altLang="en-US" sz="2400" dirty="0">
                  <a:latin typeface="微软雅黑" panose="020B0503020204020204" pitchFamily="34" charset="-122"/>
                  <a:ea typeface="微软雅黑" panose="020B0503020204020204" pitchFamily="34" charset="-122"/>
                </a:endParaRPr>
              </a:p>
              <a:p>
                <a:pPr marL="342900" indent="-342900">
                  <a:spcBef>
                    <a:spcPts val="1200"/>
                  </a:spcBef>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因变量：摆的纵向位移</a:t>
                </a:r>
                <a:r>
                  <a:rPr lang="en-US" altLang="zh-CN" sz="2400" dirty="0">
                    <a:latin typeface="微软雅黑" panose="020B0503020204020204" pitchFamily="34" charset="-122"/>
                    <a:ea typeface="微软雅黑" panose="020B0503020204020204" pitchFamily="34" charset="-122"/>
                  </a:rPr>
                  <a:t> </a:t>
                </a:r>
                <a14:m>
                  <m:oMath xmlns:m="http://schemas.openxmlformats.org/officeDocument/2006/math">
                    <m:r>
                      <a:rPr lang="en-US" altLang="zh-CN" sz="2400" i="1" dirty="0">
                        <a:latin typeface="Cambria Math" panose="02040503050406030204" pitchFamily="18" charset="0"/>
                        <a:ea typeface="微软雅黑" panose="020B0503020204020204" pitchFamily="34" charset="-122"/>
                        <a:cs typeface="Cambria Math" panose="02040503050406030204" pitchFamily="18" charset="0"/>
                      </a:rPr>
                      <m:t>𝑧</m:t>
                    </m:r>
                  </m:oMath>
                </a14:m>
                <a:r>
                  <a:rPr lang="zh-CN" altLang="en-US" sz="2400" dirty="0">
                    <a:latin typeface="Cambria Math" panose="02040503050406030204" pitchFamily="18" charset="0"/>
                    <a:ea typeface="微软雅黑" panose="020B0503020204020204" pitchFamily="34" charset="-122"/>
                    <a:cs typeface="Cambria Math" panose="02040503050406030204" pitchFamily="18" charset="0"/>
                  </a:rPr>
                  <a:t>；</a:t>
                </a:r>
                <a:r>
                  <a:rPr lang="zh-CN" altLang="en-US" sz="2400" dirty="0">
                    <a:latin typeface="微软雅黑" panose="020B0503020204020204" pitchFamily="34" charset="-122"/>
                    <a:ea typeface="微软雅黑" panose="020B0503020204020204" pitchFamily="34" charset="-122"/>
                  </a:rPr>
                  <a:t>摆的扭转角度</a:t>
                </a:r>
                <a:r>
                  <a:rPr lang="en-US" altLang="zh-CN" sz="2400" dirty="0">
                    <a:latin typeface="微软雅黑" panose="020B0503020204020204" pitchFamily="34" charset="-122"/>
                    <a:ea typeface="微软雅黑" panose="020B0503020204020204" pitchFamily="34" charset="-122"/>
                  </a:rPr>
                  <a:t> </a:t>
                </a:r>
                <a14:m>
                  <m:oMath xmlns:m="http://schemas.openxmlformats.org/officeDocument/2006/math">
                    <m:r>
                      <a:rPr lang="en-US" altLang="zh-CN" sz="2400" i="1" dirty="0">
                        <a:latin typeface="Cambria Math" panose="02040503050406030204" pitchFamily="18" charset="0"/>
                        <a:ea typeface="微软雅黑" panose="020B0503020204020204" pitchFamily="34" charset="-122"/>
                        <a:cs typeface="Cambria Math" panose="02040503050406030204" pitchFamily="18" charset="0"/>
                      </a:rPr>
                      <m:t>𝜃</m:t>
                    </m:r>
                  </m:oMath>
                </a14:m>
                <a:r>
                  <a:rPr lang="zh-CN" altLang="en-US" sz="2400" dirty="0">
                    <a:latin typeface="Cambria Math" panose="02040503050406030204" pitchFamily="18" charset="0"/>
                    <a:ea typeface="微软雅黑" panose="020B0503020204020204" pitchFamily="34" charset="-122"/>
                    <a:cs typeface="Cambria Math" panose="02040503050406030204" pitchFamily="18" charset="0"/>
                  </a:rPr>
                  <a:t>。</a:t>
                </a:r>
                <a:endParaRPr lang="zh-CN" altLang="en-US" sz="2400" dirty="0">
                  <a:latin typeface="微软雅黑" panose="020B0503020204020204" pitchFamily="34" charset="-122"/>
                  <a:ea typeface="微软雅黑" panose="020B0503020204020204" pitchFamily="34" charset="-122"/>
                </a:endParaRPr>
              </a:p>
              <a:p>
                <a:pPr marL="342900" indent="-342900">
                  <a:spcBef>
                    <a:spcPts val="1200"/>
                  </a:spcBef>
                  <a:buFont typeface="Arial" panose="020B0604020202020204" pitchFamily="34" charset="0"/>
                  <a:buChar char="•"/>
                </a:pPr>
                <a:endParaRPr lang="zh-CN" altLang="en-US" sz="2400" dirty="0">
                  <a:latin typeface="微软雅黑" panose="020B0503020204020204" pitchFamily="34" charset="-122"/>
                  <a:ea typeface="微软雅黑" panose="020B0503020204020204" pitchFamily="34" charset="-122"/>
                </a:endParaRPr>
              </a:p>
              <a:p>
                <a:pPr marL="0" indent="0">
                  <a:spcBef>
                    <a:spcPts val="1200"/>
                  </a:spcBef>
                  <a:buFont typeface="Arial" panose="020B0604020202020204" pitchFamily="34" charset="0"/>
                  <a:buNone/>
                </a:pPr>
                <a:r>
                  <a:rPr lang="zh-CN" altLang="en-US" sz="2400" dirty="0">
                    <a:latin typeface="微软雅黑" panose="020B0503020204020204" pitchFamily="34" charset="-122"/>
                    <a:ea typeface="微软雅黑" panose="020B0503020204020204" pitchFamily="34" charset="-122"/>
                  </a:rPr>
                  <a:t>可以预见的是，对初值条件的改变仅仅只会改变初始能量的大小，也即改变振幅。后续的实验并不会讨论初值条件的改变。</a:t>
                </a:r>
                <a:endParaRPr lang="zh-CN" altLang="en-US" sz="2400" dirty="0">
                  <a:latin typeface="微软雅黑" panose="020B0503020204020204" pitchFamily="34" charset="-122"/>
                  <a:ea typeface="微软雅黑" panose="020B0503020204020204" pitchFamily="34" charset="-122"/>
                </a:endParaRPr>
              </a:p>
            </p:txBody>
          </p:sp>
        </mc:Choice>
        <mc:Fallback>
          <p:sp>
            <p:nvSpPr>
              <p:cNvPr id="3" name="文本框 2"/>
              <p:cNvSpPr txBox="1">
                <a:spLocks noRot="1" noChangeAspect="1" noMove="1" noResize="1" noEditPoints="1" noAdjustHandles="1" noChangeArrowheads="1" noChangeShapeType="1" noTextEdit="1"/>
              </p:cNvSpPr>
              <p:nvPr/>
            </p:nvSpPr>
            <p:spPr>
              <a:xfrm>
                <a:off x="1132114" y="1377363"/>
                <a:ext cx="9300755" cy="3291840"/>
              </a:xfrm>
              <a:prstGeom prst="rect">
                <a:avLst/>
              </a:prstGeom>
              <a:blipFill rotWithShape="1">
                <a:blip r:embed="rId1"/>
                <a:stretch>
                  <a:fillRect l="-6" t="-1" r="5" b="1"/>
                </a:stretch>
              </a:blipFill>
            </p:spPr>
            <p:txBody>
              <a:bodyPr/>
              <a:lstStyle/>
              <a:p>
                <a:r>
                  <a:rPr lang="zh-CN" altLang="en-US">
                    <a:noFill/>
                  </a:rPr>
                  <a:t> </a:t>
                </a:r>
              </a:p>
            </p:txBody>
          </p:sp>
        </mc:Fallback>
      </mc:AlternateContent>
      <p:grpSp>
        <p:nvGrpSpPr>
          <p:cNvPr id="7" name="组合 6"/>
          <p:cNvGrpSpPr/>
          <p:nvPr/>
        </p:nvGrpSpPr>
        <p:grpSpPr>
          <a:xfrm>
            <a:off x="-1" y="392113"/>
            <a:ext cx="3254189" cy="523220"/>
            <a:chOff x="0" y="392113"/>
            <a:chExt cx="2650036" cy="523220"/>
          </a:xfrm>
        </p:grpSpPr>
        <p:sp>
          <p:nvSpPr>
            <p:cNvPr id="8" name="文本框 7"/>
            <p:cNvSpPr txBox="1">
              <a:spLocks noChangeArrowheads="1"/>
            </p:cNvSpPr>
            <p:nvPr/>
          </p:nvSpPr>
          <p:spPr bwMode="auto">
            <a:xfrm>
              <a:off x="343837" y="392113"/>
              <a:ext cx="230619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lvl="0" eaLnBrk="1" hangingPunct="1">
                <a:defRPr/>
              </a:pPr>
              <a:r>
                <a:rPr lang="zh-CN" altLang="en-US" sz="2800" b="1" dirty="0">
                  <a:solidFill>
                    <a:srgbClr val="000000"/>
                  </a:solidFill>
                  <a:latin typeface="微软雅黑" panose="020B0503020204020204" pitchFamily="34" charset="-122"/>
                  <a:ea typeface="微软雅黑" panose="020B0503020204020204" pitchFamily="34" charset="-122"/>
                </a:rPr>
                <a:t>实验</a:t>
              </a:r>
              <a:r>
                <a:rPr lang="en-US" altLang="zh-CN" sz="2800" b="1" dirty="0">
                  <a:solidFill>
                    <a:srgbClr val="000000"/>
                  </a:solidFill>
                  <a:latin typeface="微软雅黑" panose="020B0503020204020204" pitchFamily="34" charset="-122"/>
                  <a:ea typeface="微软雅黑" panose="020B0503020204020204" pitchFamily="34" charset="-122"/>
                </a:rPr>
                <a:t>·</a:t>
              </a:r>
              <a:r>
                <a:rPr lang="zh-CN" altLang="en-US" sz="2800" b="1" dirty="0">
                  <a:solidFill>
                    <a:srgbClr val="000000"/>
                  </a:solidFill>
                  <a:latin typeface="微软雅黑" panose="020B0503020204020204" pitchFamily="34" charset="-122"/>
                  <a:ea typeface="微软雅黑" panose="020B0503020204020204" pitchFamily="34" charset="-122"/>
                </a:rPr>
                <a:t>变量</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1" name="矩形 1"/>
            <p:cNvSpPr>
              <a:spLocks noChangeArrowheads="1"/>
            </p:cNvSpPr>
            <p:nvPr/>
          </p:nvSpPr>
          <p:spPr bwMode="auto">
            <a:xfrm>
              <a:off x="0" y="392113"/>
              <a:ext cx="290286" cy="463550"/>
            </a:xfrm>
            <a:prstGeom prst="rect">
              <a:avLst/>
            </a:prstGeom>
            <a:solidFill>
              <a:srgbClr val="9A0000"/>
            </a:soli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BB8F404-4D68-4CF1-A1D1-4545FFCFAAD6}" type="slidenum">
              <a:rPr kumimoji="0" lang="zh-CN" altLang="en-US" sz="2400" b="0" i="0" u="none" strike="noStrike" kern="1200" cap="none" spc="0" normalizeH="0" baseline="0" noProof="0" smtClean="0">
                <a:ln>
                  <a:noFill/>
                </a:ln>
                <a:solidFill>
                  <a:srgbClr val="9A0000"/>
                </a:solidFill>
                <a:effectLst/>
                <a:uLnTx/>
                <a:uFillTx/>
                <a:latin typeface="Calibri" panose="020F0502020204030204" pitchFamily="34" charset="0"/>
                <a:ea typeface="宋体" panose="02010600030101010101" pitchFamily="2" charset="-122"/>
                <a:cs typeface="+mn-cs"/>
              </a:rPr>
            </a:fld>
            <a:endParaRPr kumimoji="0" lang="zh-CN" altLang="en-US" sz="2400" b="0" i="0" u="none" strike="noStrike" kern="1200" cap="none" spc="0" normalizeH="0" baseline="0" noProof="0">
              <a:ln>
                <a:noFill/>
              </a:ln>
              <a:solidFill>
                <a:srgbClr val="9A0000"/>
              </a:solidFill>
              <a:effectLst/>
              <a:uLnTx/>
              <a:uFillTx/>
              <a:latin typeface="Calibri" panose="020F0502020204030204" pitchFamily="34" charset="0"/>
              <a:ea typeface="宋体" panose="02010600030101010101" pitchFamily="2" charset="-122"/>
              <a:cs typeface="+mn-cs"/>
            </a:endParaRPr>
          </a:p>
        </p:txBody>
      </p:sp>
      <p:grpSp>
        <p:nvGrpSpPr>
          <p:cNvPr id="7" name="组合 6"/>
          <p:cNvGrpSpPr/>
          <p:nvPr/>
        </p:nvGrpSpPr>
        <p:grpSpPr>
          <a:xfrm>
            <a:off x="-1" y="392113"/>
            <a:ext cx="3750945" cy="521970"/>
            <a:chOff x="0" y="392113"/>
            <a:chExt cx="3054567" cy="521970"/>
          </a:xfrm>
        </p:grpSpPr>
        <p:sp>
          <p:nvSpPr>
            <p:cNvPr id="8" name="文本框 7"/>
            <p:cNvSpPr txBox="1">
              <a:spLocks noChangeArrowheads="1"/>
            </p:cNvSpPr>
            <p:nvPr/>
          </p:nvSpPr>
          <p:spPr bwMode="auto">
            <a:xfrm>
              <a:off x="343878" y="392113"/>
              <a:ext cx="2710689"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lvl="0" eaLnBrk="1" hangingPunct="1">
                <a:defRPr/>
              </a:pPr>
              <a:r>
                <a:rPr lang="zh-CN" altLang="en-US" sz="2800" b="1" dirty="0">
                  <a:solidFill>
                    <a:srgbClr val="000000"/>
                  </a:solidFill>
                  <a:latin typeface="微软雅黑" panose="020B0503020204020204" pitchFamily="34" charset="-122"/>
                  <a:ea typeface="微软雅黑" panose="020B0503020204020204" pitchFamily="34" charset="-122"/>
                </a:rPr>
                <a:t>实验</a:t>
              </a:r>
              <a:r>
                <a:rPr lang="en-US" altLang="zh-CN" sz="2800" b="1" dirty="0">
                  <a:solidFill>
                    <a:srgbClr val="000000"/>
                  </a:solidFill>
                  <a:latin typeface="微软雅黑" panose="020B0503020204020204" pitchFamily="34" charset="-122"/>
                  <a:ea typeface="微软雅黑" panose="020B0503020204020204" pitchFamily="34" charset="-122"/>
                </a:rPr>
                <a:t>·</a:t>
              </a:r>
              <a:r>
                <a:rPr lang="zh-CN" altLang="en-US" sz="2800" b="1" dirty="0">
                  <a:solidFill>
                    <a:srgbClr val="000000"/>
                  </a:solidFill>
                  <a:latin typeface="微软雅黑" panose="020B0503020204020204" pitchFamily="34" charset="-122"/>
                  <a:ea typeface="微软雅黑" panose="020B0503020204020204" pitchFamily="34" charset="-122"/>
                </a:rPr>
                <a:t>相关参量测量</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sp>
          <p:nvSpPr>
            <p:cNvPr id="11" name="矩形 1"/>
            <p:cNvSpPr>
              <a:spLocks noChangeArrowheads="1"/>
            </p:cNvSpPr>
            <p:nvPr/>
          </p:nvSpPr>
          <p:spPr bwMode="auto">
            <a:xfrm>
              <a:off x="0" y="392113"/>
              <a:ext cx="290286" cy="463550"/>
            </a:xfrm>
            <a:prstGeom prst="rect">
              <a:avLst/>
            </a:prstGeom>
            <a:solidFill>
              <a:srgbClr val="9A0000"/>
            </a:soli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4" name="图片 3"/>
          <p:cNvPicPr>
            <a:picLocks noChangeAspect="1"/>
          </p:cNvPicPr>
          <p:nvPr/>
        </p:nvPicPr>
        <p:blipFill>
          <a:blip r:embed="rId1"/>
          <a:stretch>
            <a:fillRect/>
          </a:stretch>
        </p:blipFill>
        <p:spPr>
          <a:xfrm>
            <a:off x="422275" y="1176020"/>
            <a:ext cx="5194935" cy="4472940"/>
          </a:xfrm>
          <a:prstGeom prst="rect">
            <a:avLst/>
          </a:prstGeom>
        </p:spPr>
      </p:pic>
      <mc:AlternateContent xmlns:mc="http://schemas.openxmlformats.org/markup-compatibility/2006">
        <mc:Choice xmlns:a14="http://schemas.microsoft.com/office/drawing/2010/main" Requires="a14">
          <p:sp>
            <p:nvSpPr>
              <p:cNvPr id="5" name="文本框 4"/>
              <p:cNvSpPr txBox="1"/>
              <p:nvPr/>
            </p:nvSpPr>
            <p:spPr>
              <a:xfrm>
                <a:off x="6141720" y="1253490"/>
                <a:ext cx="5172710" cy="5102225"/>
              </a:xfrm>
              <a:prstGeom prst="rect">
                <a:avLst/>
              </a:prstGeom>
              <a:noFill/>
            </p:spPr>
            <p:txBody>
              <a:bodyPr wrap="square" rtlCol="0">
                <a:noAutofit/>
              </a:bodyPr>
              <a:lstStyle/>
              <a:p>
                <a:r>
                  <a:rPr lang="zh-CN" altLang="en-US" sz="1800">
                    <a:latin typeface="微软雅黑" panose="020B0503020204020204" pitchFamily="34" charset="-122"/>
                    <a:ea typeface="微软雅黑" panose="020B0503020204020204" pitchFamily="34" charset="-122"/>
                  </a:rPr>
                  <a:t>由于弹簧不能被视为</a:t>
                </a:r>
                <a:r>
                  <a:rPr lang="zh-CN" altLang="en-US" sz="1800">
                    <a:latin typeface="微软雅黑" panose="020B0503020204020204" pitchFamily="34" charset="-122"/>
                    <a:ea typeface="微软雅黑" panose="020B0503020204020204" pitchFamily="34" charset="-122"/>
                  </a:rPr>
                  <a:t>轻质弹簧，需要测定弹簧质量与转动惯量，将</a:t>
                </a:r>
                <a:r>
                  <a:rPr lang="en-US" altLang="zh-CN" sz="1800">
                    <a:latin typeface="微软雅黑" panose="020B0503020204020204" pitchFamily="34" charset="-122"/>
                    <a:ea typeface="微软雅黑" panose="020B0503020204020204" pitchFamily="34" charset="-122"/>
                  </a:rPr>
                  <a:t> </a:t>
                </a:r>
                <a14:m>
                  <m:oMath xmlns:m="http://schemas.openxmlformats.org/officeDocument/2006/math">
                    <m:r>
                      <a:rPr lang="en-US" altLang="zh-CN" sz="1800" i="1">
                        <a:latin typeface="Cambria Math" panose="02040503050406030204" pitchFamily="18" charset="0"/>
                        <a:ea typeface="微软雅黑" panose="020B0503020204020204" pitchFamily="34" charset="-122"/>
                        <a:cs typeface="Cambria Math" panose="02040503050406030204" pitchFamily="18" charset="0"/>
                      </a:rPr>
                      <m:t>𝑚</m:t>
                    </m:r>
                  </m:oMath>
                </a14:m>
                <a:r>
                  <a:rPr lang="en-US" altLang="zh-CN" sz="1800">
                    <a:latin typeface="微软雅黑" panose="020B0503020204020204" pitchFamily="34" charset="-122"/>
                    <a:ea typeface="微软雅黑" panose="020B0503020204020204" pitchFamily="34" charset="-122"/>
                  </a:rPr>
                  <a:t> </a:t>
                </a:r>
                <a:r>
                  <a:rPr lang="zh-CN" altLang="en-US" sz="1800">
                    <a:latin typeface="微软雅黑" panose="020B0503020204020204" pitchFamily="34" charset="-122"/>
                    <a:ea typeface="微软雅黑" panose="020B0503020204020204" pitchFamily="34" charset="-122"/>
                  </a:rPr>
                  <a:t>取为摆的质量加弹簧质量的 </a:t>
                </a:r>
                <a14:m>
                  <m:oMath xmlns:m="http://schemas.openxmlformats.org/officeDocument/2006/math">
                    <m:f>
                      <m:fPr>
                        <m:ctrlPr>
                          <a:rPr lang="en-US" altLang="zh-CN" sz="1800" i="1">
                            <a:latin typeface="Cambria Math" panose="02040503050406030204" pitchFamily="18" charset="0"/>
                            <a:ea typeface="微软雅黑" panose="020B0503020204020204" pitchFamily="34" charset="-122"/>
                            <a:cs typeface="Cambria Math" panose="02040503050406030204" pitchFamily="18" charset="0"/>
                          </a:rPr>
                        </m:ctrlPr>
                      </m:fPr>
                      <m:num>
                        <m:r>
                          <a:rPr lang="en-US" altLang="zh-CN" sz="1800" i="1">
                            <a:latin typeface="Cambria Math" panose="02040503050406030204" pitchFamily="18" charset="0"/>
                            <a:ea typeface="微软雅黑" panose="020B0503020204020204" pitchFamily="34" charset="-122"/>
                            <a:cs typeface="Cambria Math" panose="02040503050406030204" pitchFamily="18" charset="0"/>
                          </a:rPr>
                          <m:t>1</m:t>
                        </m:r>
                      </m:num>
                      <m:den>
                        <m:r>
                          <a:rPr lang="en-US" altLang="zh-CN" sz="1800" i="1">
                            <a:latin typeface="Cambria Math" panose="02040503050406030204" pitchFamily="18" charset="0"/>
                            <a:ea typeface="微软雅黑" panose="020B0503020204020204" pitchFamily="34" charset="-122"/>
                            <a:cs typeface="Cambria Math" panose="02040503050406030204" pitchFamily="18" charset="0"/>
                          </a:rPr>
                          <m:t>3</m:t>
                        </m:r>
                      </m:den>
                    </m:f>
                  </m:oMath>
                </a14:m>
                <a:r>
                  <a:rPr lang="zh-CN" altLang="en-US" sz="1800">
                    <a:latin typeface="Cambria Math" panose="02040503050406030204" pitchFamily="18" charset="0"/>
                    <a:ea typeface="微软雅黑" panose="020B0503020204020204" pitchFamily="34" charset="-122"/>
                    <a:cs typeface="Cambria Math" panose="02040503050406030204" pitchFamily="18" charset="0"/>
                  </a:rPr>
                  <a:t>，</a:t>
                </a:r>
                <a14:m>
                  <m:oMath xmlns:m="http://schemas.openxmlformats.org/officeDocument/2006/math">
                    <m:r>
                      <a:rPr lang="en-US" altLang="zh-CN" sz="1800" i="1">
                        <a:latin typeface="Cambria Math" panose="02040503050406030204" pitchFamily="18" charset="0"/>
                        <a:ea typeface="微软雅黑" panose="020B0503020204020204" pitchFamily="34" charset="-122"/>
                        <a:cs typeface="Cambria Math" panose="02040503050406030204" pitchFamily="18" charset="0"/>
                      </a:rPr>
                      <m:t>𝐼</m:t>
                    </m:r>
                  </m:oMath>
                </a14:m>
                <a:r>
                  <a:rPr lang="en-US" altLang="zh-CN" sz="1800">
                    <a:latin typeface="微软雅黑" panose="020B0503020204020204" pitchFamily="34" charset="-122"/>
                    <a:ea typeface="微软雅黑" panose="020B0503020204020204" pitchFamily="34" charset="-122"/>
                  </a:rPr>
                  <a:t> </a:t>
                </a:r>
                <a:r>
                  <a:rPr lang="zh-CN" altLang="en-US" sz="1800">
                    <a:latin typeface="微软雅黑" panose="020B0503020204020204" pitchFamily="34" charset="-122"/>
                    <a:ea typeface="微软雅黑" panose="020B0503020204020204" pitchFamily="34" charset="-122"/>
                  </a:rPr>
                  <a:t>取为摆的转动惯量加弹簧转动惯量的 </a:t>
                </a:r>
                <a14:m>
                  <m:oMath xmlns:m="http://schemas.openxmlformats.org/officeDocument/2006/math">
                    <m:f>
                      <m:fPr>
                        <m:ctrlPr>
                          <a:rPr lang="en-US" altLang="zh-CN" sz="1800" i="1">
                            <a:latin typeface="Cambria Math" panose="02040503050406030204" pitchFamily="18" charset="0"/>
                            <a:ea typeface="微软雅黑" panose="020B0503020204020204" pitchFamily="34" charset="-122"/>
                            <a:cs typeface="Cambria Math" panose="02040503050406030204" pitchFamily="18" charset="0"/>
                          </a:rPr>
                        </m:ctrlPr>
                      </m:fPr>
                      <m:num>
                        <m:r>
                          <a:rPr lang="en-US" altLang="zh-CN" sz="1800" i="1">
                            <a:latin typeface="Cambria Math" panose="02040503050406030204" pitchFamily="18" charset="0"/>
                            <a:ea typeface="微软雅黑" panose="020B0503020204020204" pitchFamily="34" charset="-122"/>
                            <a:cs typeface="Cambria Math" panose="02040503050406030204" pitchFamily="18" charset="0"/>
                          </a:rPr>
                          <m:t>1</m:t>
                        </m:r>
                      </m:num>
                      <m:den>
                        <m:r>
                          <a:rPr lang="en-US" altLang="zh-CN" sz="1800" i="1">
                            <a:latin typeface="Cambria Math" panose="02040503050406030204" pitchFamily="18" charset="0"/>
                            <a:ea typeface="微软雅黑" panose="020B0503020204020204" pitchFamily="34" charset="-122"/>
                            <a:cs typeface="Cambria Math" panose="02040503050406030204" pitchFamily="18" charset="0"/>
                          </a:rPr>
                          <m:t>3</m:t>
                        </m:r>
                      </m:den>
                    </m:f>
                  </m:oMath>
                </a14:m>
                <a:r>
                  <a:rPr lang="zh-CN" altLang="en-US" sz="1800">
                    <a:latin typeface="微软雅黑" panose="020B0503020204020204" pitchFamily="34" charset="-122"/>
                    <a:ea typeface="微软雅黑" panose="020B0503020204020204" pitchFamily="34" charset="-122"/>
                  </a:rPr>
                  <a:t>。</a:t>
                </a:r>
                <a:endParaRPr lang="zh-CN" altLang="en-US" sz="1800">
                  <a:latin typeface="微软雅黑" panose="020B0503020204020204" pitchFamily="34" charset="-122"/>
                  <a:ea typeface="微软雅黑" panose="020B0503020204020204" pitchFamily="34" charset="-122"/>
                </a:endParaRPr>
              </a:p>
              <a:p>
                <a:r>
                  <a:rPr lang="zh-CN" altLang="en-US" sz="1800">
                    <a:latin typeface="微软雅黑" panose="020B0503020204020204" pitchFamily="34" charset="-122"/>
                    <a:ea typeface="微软雅黑" panose="020B0503020204020204" pitchFamily="34" charset="-122"/>
                  </a:rPr>
                  <a:t>弹簧质量使用电子秤测量，对于弹簧转动惯量，视弹簧为薄圆筒，取圆筒的半径为弹簧内外径平均值，结合质量计算。</a:t>
                </a:r>
                <a:endParaRPr lang="zh-CN" altLang="en-US" sz="1800">
                  <a:latin typeface="微软雅黑" panose="020B0503020204020204" pitchFamily="34" charset="-122"/>
                  <a:ea typeface="微软雅黑" panose="020B0503020204020204" pitchFamily="34" charset="-122"/>
                </a:endParaRPr>
              </a:p>
              <a:p>
                <a:r>
                  <a:rPr lang="zh-CN" altLang="en-US" sz="1800">
                    <a:latin typeface="微软雅黑" panose="020B0503020204020204" pitchFamily="34" charset="-122"/>
                    <a:ea typeface="微软雅黑" panose="020B0503020204020204" pitchFamily="34" charset="-122"/>
                  </a:rPr>
                  <a:t>由于摆需要通过添加小砝码（通过旋上旋钮）来改变转动惯量和质量。对于质量，分别测定裸摆</a:t>
                </a:r>
                <a:r>
                  <a:rPr lang="en-US" altLang="zh-CN" sz="180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1800" i="1">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800" i="1">
                            <a:latin typeface="Cambria Math" panose="02040503050406030204" pitchFamily="18" charset="0"/>
                            <a:ea typeface="微软雅黑" panose="020B0503020204020204" pitchFamily="34" charset="-122"/>
                            <a:cs typeface="Cambria Math" panose="02040503050406030204" pitchFamily="18" charset="0"/>
                          </a:rPr>
                          <m:t>𝑚</m:t>
                        </m:r>
                      </m:e>
                      <m:sub>
                        <m:r>
                          <a:rPr lang="en-US" altLang="zh-CN" sz="1800" i="1">
                            <a:latin typeface="Cambria Math" panose="02040503050406030204" pitchFamily="18" charset="0"/>
                            <a:ea typeface="微软雅黑" panose="020B0503020204020204" pitchFamily="34" charset="-122"/>
                            <a:cs typeface="Cambria Math" panose="02040503050406030204" pitchFamily="18" charset="0"/>
                          </a:rPr>
                          <m:t>1</m:t>
                        </m:r>
                      </m:sub>
                    </m:sSub>
                  </m:oMath>
                </a14:m>
                <a:r>
                  <a:rPr lang="zh-CN" altLang="en-US" sz="1800">
                    <a:latin typeface="微软雅黑" panose="020B0503020204020204" pitchFamily="34" charset="-122"/>
                    <a:ea typeface="微软雅黑" panose="020B0503020204020204" pitchFamily="34" charset="-122"/>
                  </a:rPr>
                  <a:t>、旋钮</a:t>
                </a:r>
                <a:r>
                  <a:rPr lang="en-US" altLang="zh-CN" sz="180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1800" i="1">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800" i="1">
                            <a:latin typeface="Cambria Math" panose="02040503050406030204" pitchFamily="18" charset="0"/>
                            <a:ea typeface="微软雅黑" panose="020B0503020204020204" pitchFamily="34" charset="-122"/>
                            <a:cs typeface="Cambria Math" panose="02040503050406030204" pitchFamily="18" charset="0"/>
                          </a:rPr>
                          <m:t>𝑚</m:t>
                        </m:r>
                      </m:e>
                      <m:sub>
                        <m:r>
                          <a:rPr lang="en-US" altLang="zh-CN" sz="1800" i="1">
                            <a:latin typeface="Cambria Math" panose="02040503050406030204" pitchFamily="18" charset="0"/>
                            <a:ea typeface="微软雅黑" panose="020B0503020204020204" pitchFamily="34" charset="-122"/>
                            <a:cs typeface="Cambria Math" panose="02040503050406030204" pitchFamily="18" charset="0"/>
                          </a:rPr>
                          <m:t>2</m:t>
                        </m:r>
                      </m:sub>
                    </m:sSub>
                  </m:oMath>
                </a14:m>
                <a:r>
                  <a:rPr lang="zh-CN" altLang="en-US" sz="1800">
                    <a:latin typeface="微软雅黑" panose="020B0503020204020204" pitchFamily="34" charset="-122"/>
                    <a:ea typeface="微软雅黑" panose="020B0503020204020204" pitchFamily="34" charset="-122"/>
                  </a:rPr>
                  <a:t>、磁铁 </a:t>
                </a:r>
                <a14:m>
                  <m:oMath xmlns:m="http://schemas.openxmlformats.org/officeDocument/2006/math">
                    <m:sSub>
                      <m:sSubPr>
                        <m:ctrlPr>
                          <a:rPr lang="en-US" altLang="zh-CN" sz="1800" i="1">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800" i="1">
                            <a:latin typeface="Cambria Math" panose="02040503050406030204" pitchFamily="18" charset="0"/>
                            <a:ea typeface="微软雅黑" panose="020B0503020204020204" pitchFamily="34" charset="-122"/>
                            <a:cs typeface="Cambria Math" panose="02040503050406030204" pitchFamily="18" charset="0"/>
                          </a:rPr>
                          <m:t>𝑚</m:t>
                        </m:r>
                      </m:e>
                      <m:sub>
                        <m:r>
                          <a:rPr lang="en-US" altLang="zh-CN" sz="1800" i="1">
                            <a:latin typeface="Cambria Math" panose="02040503050406030204" pitchFamily="18" charset="0"/>
                            <a:ea typeface="微软雅黑" panose="020B0503020204020204" pitchFamily="34" charset="-122"/>
                            <a:cs typeface="Cambria Math" panose="02040503050406030204" pitchFamily="18" charset="0"/>
                          </a:rPr>
                          <m:t>3</m:t>
                        </m:r>
                      </m:sub>
                    </m:sSub>
                  </m:oMath>
                </a14:m>
                <a:r>
                  <a:rPr lang="zh-CN" altLang="en-US" sz="1800">
                    <a:latin typeface="微软雅黑" panose="020B0503020204020204" pitchFamily="34" charset="-122"/>
                    <a:ea typeface="微软雅黑" panose="020B0503020204020204" pitchFamily="34" charset="-122"/>
                  </a:rPr>
                  <a:t> 的质量。对于转动惯量，用双线摆测量裸摆的转动惯量</a:t>
                </a:r>
                <a:r>
                  <a:rPr lang="en-US" altLang="zh-CN" sz="180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1800" i="1">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800" i="1">
                            <a:latin typeface="Cambria Math" panose="02040503050406030204" pitchFamily="18" charset="0"/>
                            <a:ea typeface="微软雅黑" panose="020B0503020204020204" pitchFamily="34" charset="-122"/>
                            <a:cs typeface="Cambria Math" panose="02040503050406030204" pitchFamily="18" charset="0"/>
                          </a:rPr>
                          <m:t>𝐼</m:t>
                        </m:r>
                      </m:e>
                      <m:sub>
                        <m:r>
                          <a:rPr lang="en-US" altLang="zh-CN" sz="1800" i="1">
                            <a:latin typeface="Cambria Math" panose="02040503050406030204" pitchFamily="18" charset="0"/>
                            <a:ea typeface="微软雅黑" panose="020B0503020204020204" pitchFamily="34" charset="-122"/>
                            <a:cs typeface="Cambria Math" panose="02040503050406030204" pitchFamily="18" charset="0"/>
                          </a:rPr>
                          <m:t>1</m:t>
                        </m:r>
                      </m:sub>
                    </m:sSub>
                  </m:oMath>
                </a14:m>
                <a:r>
                  <a:rPr lang="zh-CN" altLang="en-US" sz="1800">
                    <a:latin typeface="微软雅黑" panose="020B0503020204020204" pitchFamily="34" charset="-122"/>
                    <a:ea typeface="微软雅黑" panose="020B0503020204020204" pitchFamily="34" charset="-122"/>
                  </a:rPr>
                  <a:t>，视旋钮为质点（尺寸较小），视磁铁为匀质圆柱，并计算转动惯量</a:t>
                </a:r>
                <a:r>
                  <a:rPr lang="en-US" altLang="zh-CN" sz="180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1800" i="1">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800" i="1">
                            <a:latin typeface="Cambria Math" panose="02040503050406030204" pitchFamily="18" charset="0"/>
                            <a:ea typeface="微软雅黑" panose="020B0503020204020204" pitchFamily="34" charset="-122"/>
                            <a:cs typeface="Cambria Math" panose="02040503050406030204" pitchFamily="18" charset="0"/>
                          </a:rPr>
                          <m:t>𝐼</m:t>
                        </m:r>
                      </m:e>
                      <m:sub>
                        <m:r>
                          <a:rPr lang="en-US" altLang="zh-CN" sz="1800" i="1">
                            <a:latin typeface="Cambria Math" panose="02040503050406030204" pitchFamily="18" charset="0"/>
                            <a:ea typeface="微软雅黑" panose="020B0503020204020204" pitchFamily="34" charset="-122"/>
                            <a:cs typeface="Cambria Math" panose="02040503050406030204" pitchFamily="18" charset="0"/>
                          </a:rPr>
                          <m:t>2</m:t>
                        </m:r>
                      </m:sub>
                    </m:sSub>
                  </m:oMath>
                </a14:m>
                <a:r>
                  <a:rPr lang="zh-CN" altLang="en-US" sz="1800">
                    <a:latin typeface="微软雅黑" panose="020B0503020204020204" pitchFamily="34" charset="-122"/>
                    <a:ea typeface="微软雅黑" panose="020B0503020204020204" pitchFamily="34" charset="-122"/>
                  </a:rPr>
                  <a:t>。</a:t>
                </a:r>
                <a:endParaRPr lang="zh-CN" altLang="en-US" sz="1800">
                  <a:latin typeface="微软雅黑" panose="020B0503020204020204" pitchFamily="34" charset="-122"/>
                  <a:ea typeface="微软雅黑" panose="020B0503020204020204" pitchFamily="34" charset="-122"/>
                </a:endParaRPr>
              </a:p>
              <a:p>
                <a:r>
                  <a:rPr lang="zh-CN" altLang="en-US" sz="1800">
                    <a:latin typeface="微软雅黑" panose="020B0503020204020204" pitchFamily="34" charset="-122"/>
                    <a:ea typeface="微软雅黑" panose="020B0503020204020204" pitchFamily="34" charset="-122"/>
                  </a:rPr>
                  <a:t>对于劲度系数 </a:t>
                </a:r>
                <a14:m>
                  <m:oMath xmlns:m="http://schemas.openxmlformats.org/officeDocument/2006/math">
                    <m:r>
                      <a:rPr lang="en-US" altLang="zh-CN" sz="1800" i="1">
                        <a:latin typeface="Cambria Math" panose="02040503050406030204" pitchFamily="18" charset="0"/>
                        <a:ea typeface="微软雅黑" panose="020B0503020204020204" pitchFamily="34" charset="-122"/>
                        <a:cs typeface="Cambria Math" panose="02040503050406030204" pitchFamily="18" charset="0"/>
                      </a:rPr>
                      <m:t>𝑘</m:t>
                    </m:r>
                  </m:oMath>
                </a14:m>
                <a:r>
                  <a:rPr lang="zh-CN" altLang="en-US" sz="1800">
                    <a:latin typeface="微软雅黑" panose="020B0503020204020204" pitchFamily="34" charset="-122"/>
                    <a:ea typeface="微软雅黑" panose="020B0503020204020204" pitchFamily="34" charset="-122"/>
                  </a:rPr>
                  <a:t>，利用胡克定律测定，对于扭转系数 </a:t>
                </a:r>
                <a14:m>
                  <m:oMath xmlns:m="http://schemas.openxmlformats.org/officeDocument/2006/math">
                    <m:r>
                      <a:rPr lang="en-US" altLang="zh-CN" sz="1800" i="1">
                        <a:latin typeface="Cambria Math" panose="02040503050406030204" pitchFamily="18" charset="0"/>
                        <a:ea typeface="微软雅黑" panose="020B0503020204020204" pitchFamily="34" charset="-122"/>
                        <a:cs typeface="Cambria Math" panose="02040503050406030204" pitchFamily="18" charset="0"/>
                      </a:rPr>
                      <m:t>𝛿</m:t>
                    </m:r>
                  </m:oMath>
                </a14:m>
                <a:r>
                  <a:rPr lang="zh-CN" altLang="en-US" sz="1800">
                    <a:latin typeface="微软雅黑" panose="020B0503020204020204" pitchFamily="34" charset="-122"/>
                    <a:ea typeface="微软雅黑" panose="020B0503020204020204" pitchFamily="34" charset="-122"/>
                  </a:rPr>
                  <a:t>，通过对摆施加微小转动测量。</a:t>
                </a:r>
                <a:endParaRPr lang="zh-CN" altLang="en-US" sz="1800">
                  <a:latin typeface="微软雅黑" panose="020B0503020204020204" pitchFamily="34" charset="-122"/>
                  <a:ea typeface="微软雅黑" panose="020B0503020204020204" pitchFamily="34" charset="-122"/>
                </a:endParaRPr>
              </a:p>
            </p:txBody>
          </p:sp>
        </mc:Choice>
        <mc:Fallback>
          <p:sp>
            <p:nvSpPr>
              <p:cNvPr id="5" name="文本框 4"/>
              <p:cNvSpPr txBox="1">
                <a:spLocks noRot="1" noChangeAspect="1" noMove="1" noResize="1" noEditPoints="1" noAdjustHandles="1" noChangeArrowheads="1" noChangeShapeType="1" noTextEdit="1"/>
              </p:cNvSpPr>
              <p:nvPr/>
            </p:nvSpPr>
            <p:spPr>
              <a:xfrm>
                <a:off x="6141720" y="1253490"/>
                <a:ext cx="5172710" cy="5102225"/>
              </a:xfrm>
              <a:prstGeom prst="rect">
                <a:avLst/>
              </a:prstGeom>
              <a:blipFill rotWithShape="1">
                <a:blip r:embed="rId2"/>
                <a:stretch>
                  <a:fillRect/>
                </a:stretch>
              </a:blipFill>
            </p:spPr>
            <p:txBody>
              <a:bodyPr/>
              <a:lstStyle/>
              <a:p>
                <a:r>
                  <a:rPr lang="zh-CN" alt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BB8F404-4D68-4CF1-A1D1-4545FFCFAAD6}" type="slidenum">
              <a:rPr kumimoji="0" lang="zh-CN" altLang="en-US" sz="2400" b="0" i="0" u="none" strike="noStrike" kern="1200" cap="none" spc="0" normalizeH="0" baseline="0" noProof="0" smtClean="0">
                <a:ln>
                  <a:noFill/>
                </a:ln>
                <a:solidFill>
                  <a:srgbClr val="9A0000"/>
                </a:solidFill>
                <a:effectLst/>
                <a:uLnTx/>
                <a:uFillTx/>
                <a:latin typeface="Calibri" panose="020F0502020204030204" pitchFamily="34" charset="0"/>
                <a:ea typeface="宋体" panose="02010600030101010101" pitchFamily="2" charset="-122"/>
                <a:cs typeface="+mn-cs"/>
              </a:rPr>
            </a:fld>
            <a:endParaRPr kumimoji="0" lang="zh-CN" altLang="en-US" sz="2400" b="0" i="0" u="none" strike="noStrike" kern="1200" cap="none" spc="0" normalizeH="0" baseline="0" noProof="0">
              <a:ln>
                <a:noFill/>
              </a:ln>
              <a:solidFill>
                <a:srgbClr val="9A0000"/>
              </a:solidFill>
              <a:effectLst/>
              <a:uLnTx/>
              <a:uFillTx/>
              <a:latin typeface="Calibri" panose="020F0502020204030204" pitchFamily="34" charset="0"/>
              <a:ea typeface="宋体" panose="02010600030101010101" pitchFamily="2" charset="-122"/>
              <a:cs typeface="+mn-cs"/>
            </a:endParaRPr>
          </a:p>
        </p:txBody>
      </p:sp>
      <p:grpSp>
        <p:nvGrpSpPr>
          <p:cNvPr id="6" name="组合 5"/>
          <p:cNvGrpSpPr/>
          <p:nvPr/>
        </p:nvGrpSpPr>
        <p:grpSpPr>
          <a:xfrm>
            <a:off x="-1" y="392113"/>
            <a:ext cx="4047564" cy="521970"/>
            <a:chOff x="0" y="392113"/>
            <a:chExt cx="3296118" cy="521970"/>
          </a:xfrm>
        </p:grpSpPr>
        <p:sp>
          <p:nvSpPr>
            <p:cNvPr id="7" name="文本框 6"/>
            <p:cNvSpPr txBox="1">
              <a:spLocks noChangeArrowheads="1"/>
            </p:cNvSpPr>
            <p:nvPr/>
          </p:nvSpPr>
          <p:spPr bwMode="auto">
            <a:xfrm>
              <a:off x="343836" y="392113"/>
              <a:ext cx="2952282"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lvl="0" eaLnBrk="1" hangingPunct="1">
                <a:defRPr/>
              </a:pPr>
              <a:r>
                <a:rPr lang="zh-CN" altLang="en-US" sz="2800" b="1" dirty="0">
                  <a:solidFill>
                    <a:srgbClr val="000000"/>
                  </a:solidFill>
                  <a:latin typeface="微软雅黑" panose="020B0503020204020204" pitchFamily="34" charset="-122"/>
                  <a:ea typeface="微软雅黑" panose="020B0503020204020204" pitchFamily="34" charset="-122"/>
                </a:rPr>
                <a:t>实验</a:t>
              </a:r>
              <a:r>
                <a:rPr lang="en-US" altLang="zh-CN" sz="2800" b="1" dirty="0">
                  <a:solidFill>
                    <a:srgbClr val="000000"/>
                  </a:solidFill>
                  <a:latin typeface="微软雅黑" panose="020B0503020204020204" pitchFamily="34" charset="-122"/>
                  <a:ea typeface="微软雅黑" panose="020B0503020204020204" pitchFamily="34" charset="-122"/>
                </a:rPr>
                <a:t>·</a:t>
              </a:r>
              <a:r>
                <a:rPr lang="zh-CN" altLang="en-US" sz="2800" b="1" dirty="0">
                  <a:solidFill>
                    <a:srgbClr val="000000"/>
                  </a:solidFill>
                  <a:latin typeface="微软雅黑" panose="020B0503020204020204" pitchFamily="34" charset="-122"/>
                  <a:ea typeface="微软雅黑" panose="020B0503020204020204" pitchFamily="34" charset="-122"/>
                </a:rPr>
                <a:t>情况 </a:t>
              </a:r>
              <a:r>
                <a:rPr lang="en-US" altLang="zh-CN" sz="2800" b="1" dirty="0">
                  <a:solidFill>
                    <a:srgbClr val="000000"/>
                  </a:solidFill>
                  <a:latin typeface="微软雅黑" panose="020B0503020204020204" pitchFamily="34" charset="-122"/>
                  <a:ea typeface="微软雅黑" panose="020B0503020204020204" pitchFamily="34" charset="-122"/>
                </a:rPr>
                <a:t>1</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 name="矩形 1"/>
            <p:cNvSpPr>
              <a:spLocks noChangeArrowheads="1"/>
            </p:cNvSpPr>
            <p:nvPr/>
          </p:nvSpPr>
          <p:spPr bwMode="auto">
            <a:xfrm>
              <a:off x="0" y="392113"/>
              <a:ext cx="290286" cy="463550"/>
            </a:xfrm>
            <a:prstGeom prst="rect">
              <a:avLst/>
            </a:prstGeom>
            <a:solidFill>
              <a:srgbClr val="9A0000"/>
            </a:soli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mc:AlternateContent xmlns:mc="http://schemas.openxmlformats.org/markup-compatibility/2006">
        <mc:Choice xmlns:a14="http://schemas.microsoft.com/office/drawing/2010/main" Requires="a14">
          <p:sp>
            <p:nvSpPr>
              <p:cNvPr id="3" name="文本框 2"/>
              <p:cNvSpPr txBox="1"/>
              <p:nvPr/>
            </p:nvSpPr>
            <p:spPr>
              <a:xfrm>
                <a:off x="422222" y="999179"/>
                <a:ext cx="4690745" cy="1955159"/>
              </a:xfrm>
              <a:prstGeom prst="rect">
                <a:avLst/>
              </a:prstGeom>
              <a:noFill/>
            </p:spPr>
            <p:txBody>
              <a:bodyPr wrap="square" rtlCol="0">
                <a:noAutofit/>
              </a:bodyPr>
              <a:lstStyle/>
              <a:p>
                <a:r>
                  <a:rPr lang="zh-CN" altLang="en-US" sz="1800" dirty="0">
                    <a:latin typeface="微软雅黑" panose="020B0503020204020204" pitchFamily="34" charset="-122"/>
                    <a:ea typeface="微软雅黑" panose="020B0503020204020204" pitchFamily="34" charset="-122"/>
                  </a:rPr>
                  <a:t>调节至 </a:t>
                </a:r>
                <a14:m>
                  <m:oMath xmlns:m="http://schemas.openxmlformats.org/officeDocument/2006/math">
                    <m:r>
                      <a:rPr lang="en-US" altLang="zh-CN" sz="1800" i="1" dirty="0" smtClean="0">
                        <a:latin typeface="Cambria Math" panose="02040503050406030204" pitchFamily="18" charset="0"/>
                        <a:ea typeface="微软雅黑" panose="020B0503020204020204" pitchFamily="34" charset="-122"/>
                        <a:cs typeface="Cambria Math" panose="02040503050406030204" pitchFamily="18" charset="0"/>
                      </a:rPr>
                      <m:t>𝑚</m:t>
                    </m:r>
                    <m:r>
                      <a:rPr lang="en-US" altLang="zh-CN" sz="1800" dirty="0">
                        <a:latin typeface="Cambria Math" panose="02040503050406030204" pitchFamily="18" charset="0"/>
                        <a:ea typeface="微软雅黑" panose="020B0503020204020204" pitchFamily="34" charset="-122"/>
                        <a:sym typeface="+mn-ea"/>
                      </a:rPr>
                      <m:t>=</m:t>
                    </m:r>
                    <m:r>
                      <a:rPr lang="en-US" altLang="zh-CN" sz="1800" dirty="0">
                        <a:latin typeface="Cambria Math" panose="02040503050406030204" pitchFamily="18" charset="0"/>
                        <a:ea typeface="微软雅黑" panose="020B0503020204020204" pitchFamily="34" charset="-122"/>
                        <a:sym typeface="+mn-ea"/>
                      </a:rPr>
                      <m:t>363</m:t>
                    </m:r>
                    <m:r>
                      <a:rPr lang="en-US" altLang="zh-CN" sz="1800" dirty="0">
                        <a:latin typeface="Cambria Math" panose="02040503050406030204" pitchFamily="18" charset="0"/>
                        <a:ea typeface="微软雅黑" panose="020B0503020204020204" pitchFamily="34" charset="-122"/>
                        <a:sym typeface="+mn-ea"/>
                      </a:rPr>
                      <m:t>.</m:t>
                    </m:r>
                    <m:r>
                      <a:rPr lang="en-US" altLang="zh-CN" sz="1800" dirty="0">
                        <a:latin typeface="Cambria Math" panose="02040503050406030204" pitchFamily="18" charset="0"/>
                        <a:ea typeface="微软雅黑" panose="020B0503020204020204" pitchFamily="34" charset="-122"/>
                        <a:sym typeface="+mn-ea"/>
                      </a:rPr>
                      <m:t>92</m:t>
                    </m:r>
                    <m:r>
                      <m:rPr>
                        <m:nor/>
                      </m:rPr>
                      <a:rPr lang="en-US" altLang="zh-CN" sz="1800" dirty="0">
                        <a:latin typeface="Cambria Math" panose="02040503050406030204" pitchFamily="18" charset="0"/>
                        <a:ea typeface="微软雅黑" panose="020B0503020204020204" pitchFamily="34" charset="-122"/>
                        <a:sym typeface="+mn-ea"/>
                      </a:rPr>
                      <m:t>g</m:t>
                    </m:r>
                  </m:oMath>
                </a14:m>
                <a:r>
                  <a:rPr lang="en-US" altLang="zh-CN" sz="1800" dirty="0">
                    <a:latin typeface="微软雅黑" panose="020B0503020204020204" pitchFamily="34" charset="-122"/>
                    <a:ea typeface="微软雅黑" panose="020B0503020204020204" pitchFamily="34" charset="-122"/>
                  </a:rPr>
                  <a:t>，</a:t>
                </a:r>
                <a14:m>
                  <m:oMath xmlns:m="http://schemas.openxmlformats.org/officeDocument/2006/math">
                    <m:r>
                      <a:rPr lang="en-US" altLang="zh-CN" sz="1800" i="1" dirty="0" smtClean="0">
                        <a:latin typeface="Cambria Math" panose="02040503050406030204" pitchFamily="18" charset="0"/>
                        <a:ea typeface="微软雅黑" panose="020B0503020204020204" pitchFamily="34" charset="-122"/>
                      </a:rPr>
                      <m:t>𝐼</m:t>
                    </m:r>
                    <m:r>
                      <a:rPr lang="en-US" altLang="zh-CN" sz="1800" i="1" dirty="0" smtClean="0">
                        <a:latin typeface="Cambria Math" panose="02040503050406030204" pitchFamily="18" charset="0"/>
                        <a:ea typeface="微软雅黑" panose="020B0503020204020204" pitchFamily="34" charset="-122"/>
                      </a:rPr>
                      <m:t>=</m:t>
                    </m:r>
                    <m:r>
                      <a:rPr lang="en-US" altLang="zh-CN" sz="1800" i="1" dirty="0" smtClean="0">
                        <a:latin typeface="Cambria Math" panose="02040503050406030204" pitchFamily="18" charset="0"/>
                        <a:ea typeface="微软雅黑" panose="020B0503020204020204" pitchFamily="34" charset="-122"/>
                      </a:rPr>
                      <m:t>4</m:t>
                    </m:r>
                    <m:r>
                      <a:rPr lang="en-US" altLang="zh-CN" sz="1800" i="1" dirty="0" smtClean="0">
                        <a:latin typeface="Cambria Math" panose="02040503050406030204" pitchFamily="18" charset="0"/>
                        <a:ea typeface="微软雅黑" panose="020B0503020204020204" pitchFamily="34" charset="-122"/>
                      </a:rPr>
                      <m:t>.</m:t>
                    </m:r>
                    <m:r>
                      <a:rPr lang="en-US" altLang="zh-CN" sz="1800" i="1" dirty="0" smtClean="0">
                        <a:latin typeface="Cambria Math" panose="02040503050406030204" pitchFamily="18" charset="0"/>
                        <a:ea typeface="微软雅黑" panose="020B0503020204020204" pitchFamily="34" charset="-122"/>
                      </a:rPr>
                      <m:t>37</m:t>
                    </m:r>
                    <m:r>
                      <a:rPr lang="en-US" altLang="zh-CN" sz="1800" i="1" dirty="0" smtClean="0">
                        <a:latin typeface="Cambria Math" panose="02040503050406030204" pitchFamily="18" charset="0"/>
                        <a:ea typeface="微软雅黑" panose="020B0503020204020204" pitchFamily="34" charset="-122"/>
                      </a:rPr>
                      <m:t>×</m:t>
                    </m:r>
                    <m:sSup>
                      <m:sSupPr>
                        <m:ctrlPr>
                          <a:rPr lang="en-US" altLang="zh-CN" sz="1800" i="1" dirty="0" smtClean="0">
                            <a:latin typeface="Cambria Math" panose="02040503050406030204" pitchFamily="18" charset="0"/>
                            <a:ea typeface="微软雅黑" panose="020B0503020204020204" pitchFamily="34" charset="-122"/>
                          </a:rPr>
                        </m:ctrlPr>
                      </m:sSupPr>
                      <m:e>
                        <m:r>
                          <a:rPr lang="en-US" altLang="zh-CN" sz="1800" i="1" dirty="0" smtClean="0">
                            <a:latin typeface="Cambria Math" panose="02040503050406030204" pitchFamily="18" charset="0"/>
                            <a:ea typeface="微软雅黑" panose="020B0503020204020204" pitchFamily="34" charset="-122"/>
                          </a:rPr>
                          <m:t>10</m:t>
                        </m:r>
                      </m:e>
                      <m:sup>
                        <m:r>
                          <a:rPr lang="en-US" altLang="zh-CN" sz="1800" i="1" dirty="0" smtClean="0">
                            <a:latin typeface="Cambria Math" panose="02040503050406030204" pitchFamily="18" charset="0"/>
                            <a:ea typeface="微软雅黑" panose="020B0503020204020204" pitchFamily="34" charset="-122"/>
                          </a:rPr>
                          <m:t>−</m:t>
                        </m:r>
                        <m:r>
                          <a:rPr lang="en-US" altLang="zh-CN" sz="1800" i="1" dirty="0" smtClean="0">
                            <a:latin typeface="Cambria Math" panose="02040503050406030204" pitchFamily="18" charset="0"/>
                            <a:ea typeface="微软雅黑" panose="020B0503020204020204" pitchFamily="34" charset="-122"/>
                          </a:rPr>
                          <m:t>6</m:t>
                        </m:r>
                      </m:sup>
                    </m:sSup>
                    <m:r>
                      <m:rPr>
                        <m:nor/>
                      </m:rPr>
                      <a:rPr lang="en-US" altLang="zh-CN" sz="1800" i="0" dirty="0" smtClean="0">
                        <a:latin typeface="Cambria Math" panose="02040503050406030204" pitchFamily="18" charset="0"/>
                        <a:ea typeface="微软雅黑" panose="020B0503020204020204" pitchFamily="34" charset="-122"/>
                      </a:rPr>
                      <m:t>kg</m:t>
                    </m:r>
                    <m:r>
                      <m:rPr>
                        <m:nor/>
                      </m:rPr>
                      <a:rPr lang="en-US" altLang="zh-CN" sz="1800" i="0" dirty="0" smtClean="0">
                        <a:latin typeface="Cambria Math" panose="02040503050406030204" pitchFamily="18" charset="0"/>
                        <a:ea typeface="微软雅黑" panose="020B0503020204020204" pitchFamily="34" charset="-122"/>
                      </a:rPr>
                      <m:t>⋅</m:t>
                    </m:r>
                    <m:sSup>
                      <m:sSupPr>
                        <m:ctrlPr>
                          <a:rPr lang="en-US" altLang="zh-CN" sz="1800" i="0" dirty="0" smtClean="0">
                            <a:latin typeface="Cambria Math" panose="02040503050406030204" pitchFamily="18" charset="0"/>
                            <a:ea typeface="微软雅黑" panose="020B0503020204020204" pitchFamily="34" charset="-122"/>
                          </a:rPr>
                        </m:ctrlPr>
                      </m:sSupPr>
                      <m:e>
                        <m:r>
                          <m:rPr>
                            <m:nor/>
                          </m:rPr>
                          <a:rPr lang="en-US" altLang="zh-CN" sz="1800" i="0" dirty="0" smtClean="0">
                            <a:latin typeface="Cambria Math" panose="02040503050406030204" pitchFamily="18" charset="0"/>
                            <a:ea typeface="微软雅黑" panose="020B0503020204020204" pitchFamily="34" charset="-122"/>
                          </a:rPr>
                          <m:t>m</m:t>
                        </m:r>
                      </m:e>
                      <m:sup>
                        <m:r>
                          <m:rPr>
                            <m:nor/>
                          </m:rPr>
                          <a:rPr lang="en-US" altLang="zh-CN" sz="1800" i="0" dirty="0" smtClean="0">
                            <a:latin typeface="Cambria Math" panose="02040503050406030204" pitchFamily="18" charset="0"/>
                            <a:ea typeface="微软雅黑" panose="020B0503020204020204" pitchFamily="34" charset="-122"/>
                          </a:rPr>
                          <m:t>2</m:t>
                        </m:r>
                      </m:sup>
                    </m:sSup>
                  </m:oMath>
                </a14:m>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时，计算得到 </a:t>
                </a:r>
                <a14:m>
                  <m:oMath xmlns:m="http://schemas.openxmlformats.org/officeDocument/2006/math">
                    <m:sSub>
                      <m:sSubPr>
                        <m:ctrlPr>
                          <a:rPr lang="en-US" altLang="zh-CN" sz="1800" i="1" dirty="0" smtClean="0">
                            <a:latin typeface="Cambria Math" panose="02040503050406030204" pitchFamily="18" charset="0"/>
                            <a:ea typeface="微软雅黑" panose="020B0503020204020204" pitchFamily="34" charset="-122"/>
                          </a:rPr>
                        </m:ctrlPr>
                      </m:sSubPr>
                      <m:e>
                        <m:r>
                          <a:rPr lang="zh-CN" altLang="en-US" sz="1800" i="1" dirty="0" smtClean="0">
                            <a:latin typeface="Cambria Math" panose="02040503050406030204" pitchFamily="18" charset="0"/>
                            <a:ea typeface="微软雅黑" panose="020B0503020204020204" pitchFamily="34" charset="-122"/>
                          </a:rPr>
                          <m:t>𝜔</m:t>
                        </m:r>
                      </m:e>
                      <m:sub>
                        <m:r>
                          <a:rPr lang="en-US" altLang="zh-CN" sz="1800" i="1" dirty="0" err="1">
                            <a:latin typeface="Cambria Math" panose="02040503050406030204" pitchFamily="18" charset="0"/>
                            <a:ea typeface="微软雅黑" panose="020B0503020204020204" pitchFamily="34" charset="-122"/>
                          </a:rPr>
                          <m:t>𝑧</m:t>
                        </m:r>
                      </m:sub>
                    </m:sSub>
                    <m:r>
                      <a:rPr lang="en-US" altLang="zh-CN" sz="1800" i="1" dirty="0">
                        <a:latin typeface="Cambria Math" panose="02040503050406030204" pitchFamily="18" charset="0"/>
                        <a:ea typeface="微软雅黑" panose="020B0503020204020204" pitchFamily="34" charset="-122"/>
                      </a:rPr>
                      <m:t>=</m:t>
                    </m:r>
                    <m:r>
                      <a:rPr lang="en-US" altLang="zh-CN" sz="1800" i="1" dirty="0">
                        <a:latin typeface="Cambria Math" panose="02040503050406030204" pitchFamily="18" charset="0"/>
                        <a:ea typeface="微软雅黑" panose="020B0503020204020204" pitchFamily="34" charset="-122"/>
                      </a:rPr>
                      <m:t>3</m:t>
                    </m:r>
                    <m:r>
                      <a:rPr lang="en-US" altLang="zh-CN" sz="1800" i="1" dirty="0">
                        <a:latin typeface="Cambria Math" panose="02040503050406030204" pitchFamily="18" charset="0"/>
                        <a:ea typeface="微软雅黑" panose="020B0503020204020204" pitchFamily="34" charset="-122"/>
                      </a:rPr>
                      <m:t>.</m:t>
                    </m:r>
                    <m:r>
                      <a:rPr lang="en-US" altLang="zh-CN" sz="1800" i="1" dirty="0">
                        <a:latin typeface="Cambria Math" panose="02040503050406030204" pitchFamily="18" charset="0"/>
                        <a:ea typeface="微软雅黑" panose="020B0503020204020204" pitchFamily="34" charset="-122"/>
                      </a:rPr>
                      <m:t>19</m:t>
                    </m:r>
                    <m:r>
                      <m:rPr>
                        <m:nor/>
                      </m:rPr>
                      <a:rPr lang="en-US" altLang="zh-CN" sz="1800" i="0" dirty="0">
                        <a:latin typeface="Cambria Math" panose="02040503050406030204" pitchFamily="18" charset="0"/>
                        <a:ea typeface="微软雅黑" panose="020B0503020204020204" pitchFamily="34" charset="-122"/>
                      </a:rPr>
                      <m:t>rad</m:t>
                    </m:r>
                    <m:r>
                      <m:rPr>
                        <m:nor/>
                      </m:rPr>
                      <a:rPr lang="en-US" altLang="zh-CN" sz="1800" i="0" dirty="0">
                        <a:latin typeface="Cambria Math" panose="02040503050406030204" pitchFamily="18" charset="0"/>
                        <a:ea typeface="微软雅黑" panose="020B0503020204020204" pitchFamily="34" charset="-122"/>
                      </a:rPr>
                      <m:t>/</m:t>
                    </m:r>
                    <m:r>
                      <m:rPr>
                        <m:nor/>
                      </m:rPr>
                      <a:rPr lang="en-US" altLang="zh-CN" sz="1800" i="0" dirty="0">
                        <a:latin typeface="Cambria Math" panose="02040503050406030204" pitchFamily="18" charset="0"/>
                        <a:ea typeface="微软雅黑" panose="020B0503020204020204" pitchFamily="34" charset="-122"/>
                      </a:rPr>
                      <m:t>s</m:t>
                    </m:r>
                    <m:r>
                      <a:rPr lang="zh-CN" altLang="en-US" i="1" dirty="0">
                        <a:latin typeface="Cambria Math" panose="02040503050406030204" pitchFamily="18" charset="0"/>
                        <a:ea typeface="微软雅黑" panose="020B0503020204020204" pitchFamily="34" charset="-122"/>
                      </a:rPr>
                      <m:t>，</m:t>
                    </m:r>
                    <m:sSub>
                      <m:sSubPr>
                        <m:ctrlPr>
                          <a:rPr lang="en-US" altLang="zh-CN" sz="1800" i="1" dirty="0" smtClean="0">
                            <a:latin typeface="Cambria Math" panose="02040503050406030204" pitchFamily="18" charset="0"/>
                            <a:ea typeface="微软雅黑" panose="020B0503020204020204" pitchFamily="34" charset="-122"/>
                          </a:rPr>
                        </m:ctrlPr>
                      </m:sSubPr>
                      <m:e>
                        <m:r>
                          <a:rPr lang="en-US" altLang="zh-CN" sz="1800" i="1" dirty="0" smtClean="0">
                            <a:latin typeface="Cambria Math" panose="02040503050406030204" pitchFamily="18" charset="0"/>
                            <a:ea typeface="微软雅黑" panose="020B0503020204020204" pitchFamily="34" charset="-122"/>
                          </a:rPr>
                          <m:t>𝜔</m:t>
                        </m:r>
                      </m:e>
                      <m:sub>
                        <m:r>
                          <a:rPr lang="en-US" altLang="zh-CN" sz="1800" i="1" dirty="0">
                            <a:latin typeface="Cambria Math" panose="02040503050406030204" pitchFamily="18" charset="0"/>
                            <a:ea typeface="微软雅黑" panose="020B0503020204020204" pitchFamily="34" charset="-122"/>
                          </a:rPr>
                          <m:t>𝜃</m:t>
                        </m:r>
                      </m:sub>
                    </m:sSub>
                    <m:r>
                      <a:rPr lang="en-US" altLang="zh-CN" sz="1800" i="1" dirty="0">
                        <a:latin typeface="Cambria Math" panose="02040503050406030204" pitchFamily="18" charset="0"/>
                        <a:ea typeface="微软雅黑" panose="020B0503020204020204" pitchFamily="34" charset="-122"/>
                      </a:rPr>
                      <m:t>=</m:t>
                    </m:r>
                    <m:r>
                      <a:rPr lang="en-US" altLang="zh-CN" sz="1800" i="1" dirty="0">
                        <a:latin typeface="Cambria Math" panose="02040503050406030204" pitchFamily="18" charset="0"/>
                        <a:ea typeface="微软雅黑" panose="020B0503020204020204" pitchFamily="34" charset="-122"/>
                      </a:rPr>
                      <m:t>3</m:t>
                    </m:r>
                    <m:r>
                      <a:rPr lang="en-US" altLang="zh-CN" sz="1800" i="1" dirty="0">
                        <a:latin typeface="Cambria Math" panose="02040503050406030204" pitchFamily="18" charset="0"/>
                        <a:ea typeface="微软雅黑" panose="020B0503020204020204" pitchFamily="34" charset="-122"/>
                      </a:rPr>
                      <m:t>.</m:t>
                    </m:r>
                    <m:r>
                      <a:rPr lang="en-US" altLang="zh-CN" sz="1800" i="1" dirty="0">
                        <a:latin typeface="Cambria Math" panose="02040503050406030204" pitchFamily="18" charset="0"/>
                        <a:ea typeface="微软雅黑" panose="020B0503020204020204" pitchFamily="34" charset="-122"/>
                      </a:rPr>
                      <m:t>07</m:t>
                    </m:r>
                    <m:r>
                      <m:rPr>
                        <m:nor/>
                      </m:rPr>
                      <a:rPr lang="en-US" altLang="zh-CN" sz="1800" i="0" dirty="0">
                        <a:latin typeface="Cambria Math" panose="02040503050406030204" pitchFamily="18" charset="0"/>
                        <a:ea typeface="微软雅黑" panose="020B0503020204020204" pitchFamily="34" charset="-122"/>
                      </a:rPr>
                      <m:t>rad</m:t>
                    </m:r>
                    <m:r>
                      <m:rPr>
                        <m:nor/>
                      </m:rPr>
                      <a:rPr lang="en-US" altLang="zh-CN" sz="1800" i="0" dirty="0">
                        <a:latin typeface="Cambria Math" panose="02040503050406030204" pitchFamily="18" charset="0"/>
                        <a:ea typeface="微软雅黑" panose="020B0503020204020204" pitchFamily="34" charset="-122"/>
                      </a:rPr>
                      <m:t>/</m:t>
                    </m:r>
                    <m:r>
                      <m:rPr>
                        <m:nor/>
                      </m:rPr>
                      <a:rPr lang="en-US" altLang="zh-CN" sz="1800" i="0" dirty="0" smtClean="0">
                        <a:latin typeface="Cambria Math" panose="02040503050406030204" pitchFamily="18" charset="0"/>
                        <a:ea typeface="微软雅黑" panose="020B0503020204020204" pitchFamily="34" charset="-122"/>
                      </a:rPr>
                      <m:t>s</m:t>
                    </m:r>
                  </m:oMath>
                </a14:m>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此时 </a:t>
                </a:r>
                <a14:m>
                  <m:oMath xmlns:m="http://schemas.openxmlformats.org/officeDocument/2006/math">
                    <m:sSub>
                      <m:sSubPr>
                        <m:ctrlPr>
                          <a:rPr lang="en-US" altLang="zh-CN" sz="1800" i="1" dirty="0" smtClean="0">
                            <a:latin typeface="Cambria Math" panose="02040503050406030204" pitchFamily="18" charset="0"/>
                            <a:ea typeface="微软雅黑" panose="020B0503020204020204" pitchFamily="34" charset="-122"/>
                          </a:rPr>
                        </m:ctrlPr>
                      </m:sSubPr>
                      <m:e>
                        <m:r>
                          <a:rPr lang="zh-CN" altLang="en-US" sz="1800" i="1" dirty="0" smtClean="0">
                            <a:latin typeface="Cambria Math" panose="02040503050406030204" pitchFamily="18" charset="0"/>
                            <a:ea typeface="微软雅黑" panose="020B0503020204020204" pitchFamily="34" charset="-122"/>
                          </a:rPr>
                          <m:t>𝜔</m:t>
                        </m:r>
                      </m:e>
                      <m:sub>
                        <m:r>
                          <a:rPr lang="en-US" altLang="zh-CN" sz="1800" i="1" dirty="0" err="1" smtClean="0">
                            <a:latin typeface="Cambria Math" panose="02040503050406030204" pitchFamily="18" charset="0"/>
                            <a:ea typeface="微软雅黑" panose="020B0503020204020204" pitchFamily="34" charset="-122"/>
                          </a:rPr>
                          <m:t>𝑧</m:t>
                        </m:r>
                      </m:sub>
                    </m:sSub>
                  </m:oMath>
                </a14:m>
                <a:r>
                  <a:rPr lang="zh-CN" altLang="en-US" sz="1800" dirty="0">
                    <a:latin typeface="微软雅黑" panose="020B0503020204020204" pitchFamily="34" charset="-122"/>
                    <a:ea typeface="微软雅黑" panose="020B0503020204020204" pitchFamily="34" charset="-122"/>
                  </a:rPr>
                  <a:t> 和 </a:t>
                </a:r>
                <a14:m>
                  <m:oMath xmlns:m="http://schemas.openxmlformats.org/officeDocument/2006/math">
                    <m:sSub>
                      <m:sSubPr>
                        <m:ctrlPr>
                          <a:rPr lang="en-US" altLang="zh-CN" sz="1800" i="1" dirty="0" smtClean="0">
                            <a:latin typeface="Cambria Math" panose="02040503050406030204" pitchFamily="18" charset="0"/>
                            <a:ea typeface="微软雅黑" panose="020B0503020204020204" pitchFamily="34" charset="-122"/>
                          </a:rPr>
                        </m:ctrlPr>
                      </m:sSubPr>
                      <m:e>
                        <m:r>
                          <a:rPr lang="zh-CN" altLang="en-US" sz="1800" i="1" dirty="0" smtClean="0">
                            <a:latin typeface="Cambria Math" panose="02040503050406030204" pitchFamily="18" charset="0"/>
                            <a:ea typeface="微软雅黑" panose="020B0503020204020204" pitchFamily="34" charset="-122"/>
                          </a:rPr>
                          <m:t>𝜔</m:t>
                        </m:r>
                      </m:e>
                      <m:sub>
                        <m:r>
                          <a:rPr lang="en-US" altLang="zh-CN" sz="1800" i="1" dirty="0">
                            <a:latin typeface="Cambria Math" panose="02040503050406030204" pitchFamily="18" charset="0"/>
                            <a:ea typeface="微软雅黑" panose="020B0503020204020204" pitchFamily="34" charset="-122"/>
                          </a:rPr>
                          <m:t>𝜃</m:t>
                        </m:r>
                      </m:sub>
                    </m:sSub>
                  </m:oMath>
                </a14:m>
                <a:r>
                  <a:rPr lang="zh-CN" altLang="en-US" sz="1800" dirty="0">
                    <a:latin typeface="微软雅黑" panose="020B0503020204020204" pitchFamily="34" charset="-122"/>
                    <a:ea typeface="微软雅黑" panose="020B0503020204020204" pitchFamily="34" charset="-122"/>
                  </a:rPr>
                  <a:t> 较为接近。</a:t>
                </a:r>
                <a:endParaRPr lang="zh-CN" altLang="en-US" sz="1800" dirty="0">
                  <a:latin typeface="微软雅黑" panose="020B0503020204020204" pitchFamily="34" charset="-122"/>
                  <a:ea typeface="微软雅黑" panose="020B0503020204020204" pitchFamily="34" charset="-122"/>
                </a:endParaRPr>
              </a:p>
              <a:p>
                <a:r>
                  <a:rPr lang="zh-CN" altLang="en-US" sz="1800" dirty="0">
                    <a:latin typeface="微软雅黑" panose="020B0503020204020204" pitchFamily="34" charset="-122"/>
                    <a:ea typeface="微软雅黑" panose="020B0503020204020204" pitchFamily="34" charset="-122"/>
                  </a:rPr>
                  <a:t>利用</a:t>
                </a:r>
                <a:r>
                  <a:rPr lang="en-US" altLang="zh-CN" sz="1800" dirty="0">
                    <a:latin typeface="微软雅黑" panose="020B0503020204020204" pitchFamily="34" charset="-122"/>
                    <a:ea typeface="微软雅黑" panose="020B0503020204020204" pitchFamily="34" charset="-122"/>
                  </a:rPr>
                  <a:t>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Tracker </a:t>
                </a:r>
                <a:r>
                  <a:rPr lang="zh-CN" altLang="en-US" sz="1800" dirty="0">
                    <a:latin typeface="微软雅黑" panose="020B0503020204020204" pitchFamily="34" charset="-122"/>
                    <a:ea typeface="微软雅黑" panose="020B0503020204020204" pitchFamily="34" charset="-122"/>
                  </a:rPr>
                  <a:t>做出摆的</a:t>
                </a:r>
                <a:r>
                  <a:rPr lang="en-US" altLang="zh-CN" sz="1800" dirty="0">
                    <a:latin typeface="微软雅黑" panose="020B0503020204020204" pitchFamily="34" charset="-122"/>
                    <a:ea typeface="微软雅黑" panose="020B0503020204020204" pitchFamily="34" charset="-122"/>
                  </a:rPr>
                  <a:t> </a:t>
                </a:r>
                <a14:m>
                  <m:oMath xmlns:m="http://schemas.openxmlformats.org/officeDocument/2006/math">
                    <m:r>
                      <a:rPr lang="en-US" altLang="zh-CN" sz="1800" i="1">
                        <a:latin typeface="Cambria Math" panose="02040503050406030204" pitchFamily="18" charset="0"/>
                        <a:ea typeface="微软雅黑" panose="020B0503020204020204" pitchFamily="34" charset="-122"/>
                        <a:cs typeface="Cambria Math" panose="02040503050406030204" pitchFamily="18" charset="0"/>
                      </a:rPr>
                      <m:t>𝑧</m:t>
                    </m:r>
                    <m:r>
                      <a:rPr lang="en-US" altLang="zh-CN" sz="1800" i="1">
                        <a:latin typeface="Cambria Math" panose="02040503050406030204" pitchFamily="18" charset="0"/>
                        <a:ea typeface="微软雅黑" panose="020B0503020204020204" pitchFamily="34" charset="-122"/>
                        <a:cs typeface="Cambria Math" panose="02040503050406030204" pitchFamily="18" charset="0"/>
                      </a:rPr>
                      <m:t>−</m:t>
                    </m:r>
                    <m:r>
                      <a:rPr lang="en-US" altLang="zh-CN" sz="1800" i="1">
                        <a:latin typeface="Cambria Math" panose="02040503050406030204" pitchFamily="18" charset="0"/>
                        <a:ea typeface="微软雅黑" panose="020B0503020204020204" pitchFamily="34" charset="-122"/>
                        <a:cs typeface="Cambria Math" panose="02040503050406030204" pitchFamily="18" charset="0"/>
                      </a:rPr>
                      <m:t>𝑡</m:t>
                    </m:r>
                  </m:oMath>
                </a14:m>
                <a:r>
                  <a:rPr lang="en-US" altLang="zh-CN" sz="1800" i="1" dirty="0">
                    <a:latin typeface="Cambria Math" panose="02040503050406030204" pitchFamily="18" charset="0"/>
                    <a:ea typeface="微软雅黑" panose="020B0503020204020204" pitchFamily="34" charset="-122"/>
                    <a:cs typeface="Cambria Math" panose="02040503050406030204" pitchFamily="18" charset="0"/>
                  </a:rPr>
                  <a:t> </a:t>
                </a:r>
                <a:r>
                  <a:rPr lang="zh-CN" altLang="en-US" sz="1800" dirty="0">
                    <a:latin typeface="Cambria Math" panose="02040503050406030204" pitchFamily="18" charset="0"/>
                    <a:ea typeface="微软雅黑" panose="020B0503020204020204" pitchFamily="34" charset="-122"/>
                    <a:cs typeface="Cambria Math" panose="02040503050406030204" pitchFamily="18" charset="0"/>
                  </a:rPr>
                  <a:t>和</a:t>
                </a:r>
                <a:r>
                  <a:rPr lang="en-US" altLang="zh-CN" sz="1800" dirty="0">
                    <a:latin typeface="Cambria Math" panose="02040503050406030204" pitchFamily="18" charset="0"/>
                    <a:ea typeface="微软雅黑" panose="020B0503020204020204" pitchFamily="34" charset="-122"/>
                    <a:cs typeface="Cambria Math" panose="02040503050406030204" pitchFamily="18" charset="0"/>
                  </a:rPr>
                  <a:t> </a:t>
                </a:r>
                <a14:m>
                  <m:oMath xmlns:m="http://schemas.openxmlformats.org/officeDocument/2006/math">
                    <m:r>
                      <a:rPr lang="en-US" altLang="zh-CN" sz="1800" i="1">
                        <a:latin typeface="Cambria Math" panose="02040503050406030204" pitchFamily="18" charset="0"/>
                        <a:ea typeface="微软雅黑" panose="020B0503020204020204" pitchFamily="34" charset="-122"/>
                        <a:cs typeface="Cambria Math" panose="02040503050406030204" pitchFamily="18" charset="0"/>
                      </a:rPr>
                      <m:t>𝜃</m:t>
                    </m:r>
                    <m:r>
                      <a:rPr lang="en-US" altLang="zh-CN" sz="1800" i="1">
                        <a:latin typeface="Cambria Math" panose="02040503050406030204" pitchFamily="18" charset="0"/>
                        <a:ea typeface="微软雅黑" panose="020B0503020204020204" pitchFamily="34" charset="-122"/>
                        <a:cs typeface="Cambria Math" panose="02040503050406030204" pitchFamily="18" charset="0"/>
                      </a:rPr>
                      <m:t>−</m:t>
                    </m:r>
                    <m:r>
                      <m:rPr>
                        <m:sty m:val="p"/>
                      </m:rPr>
                      <a:rPr lang="en-US" altLang="zh-CN" sz="1800" b="0" i="1" smtClean="0">
                        <a:latin typeface="Cambria Math" panose="02040503050406030204" pitchFamily="18" charset="0"/>
                        <a:ea typeface="微软雅黑" panose="020B0503020204020204" pitchFamily="34" charset="-122"/>
                        <a:cs typeface="Cambria Math" panose="02040503050406030204" pitchFamily="18" charset="0"/>
                      </a:rPr>
                      <m:t>t</m:t>
                    </m:r>
                  </m:oMath>
                </a14:m>
                <a:r>
                  <a:rPr lang="en-US" altLang="zh-CN" sz="1800" dirty="0">
                    <a:latin typeface="Cambria Math" panose="02040503050406030204" pitchFamily="18" charset="0"/>
                    <a:ea typeface="微软雅黑" panose="020B0503020204020204" pitchFamily="34" charset="-122"/>
                    <a:cs typeface="Cambria Math" panose="02040503050406030204" pitchFamily="18" charset="0"/>
                  </a:rPr>
                  <a:t> </a:t>
                </a:r>
                <a:r>
                  <a:rPr lang="zh-CN" altLang="en-US" sz="1800" dirty="0">
                    <a:latin typeface="Cambria Math" panose="02040503050406030204" pitchFamily="18" charset="0"/>
                    <a:ea typeface="微软雅黑" panose="020B0503020204020204" pitchFamily="34" charset="-122"/>
                    <a:cs typeface="Cambria Math" panose="02040503050406030204" pitchFamily="18" charset="0"/>
                  </a:rPr>
                  <a:t>图，并使用</a:t>
                </a:r>
                <a:r>
                  <a:rPr lang="en-US" altLang="zh-CN" sz="1800" dirty="0">
                    <a:latin typeface="Cambria Math" panose="02040503050406030204" pitchFamily="18" charset="0"/>
                    <a:ea typeface="微软雅黑" panose="020B0503020204020204" pitchFamily="34" charset="-122"/>
                    <a:cs typeface="Cambria Math" panose="02040503050406030204" pitchFamily="18" charset="0"/>
                  </a:rPr>
                  <a:t>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Origin </a:t>
                </a:r>
                <a:r>
                  <a:rPr lang="zh-CN" altLang="en-US" sz="1800" dirty="0">
                    <a:latin typeface="Cambria Math" panose="02040503050406030204" pitchFamily="18" charset="0"/>
                    <a:ea typeface="微软雅黑" panose="020B0503020204020204" pitchFamily="34" charset="-122"/>
                    <a:cs typeface="Cambria Math" panose="02040503050406030204" pitchFamily="18" charset="0"/>
                  </a:rPr>
                  <a:t>对</a:t>
                </a:r>
                <a:r>
                  <a:rPr lang="en-US" altLang="zh-CN" sz="1800" dirty="0">
                    <a:latin typeface="Cambria Math" panose="02040503050406030204" pitchFamily="18" charset="0"/>
                    <a:ea typeface="微软雅黑" panose="020B0503020204020204" pitchFamily="34" charset="-122"/>
                    <a:cs typeface="Cambria Math" panose="02040503050406030204" pitchFamily="18" charset="0"/>
                  </a:rPr>
                  <a:t> </a:t>
                </a:r>
                <a14:m>
                  <m:oMath xmlns:m="http://schemas.openxmlformats.org/officeDocument/2006/math">
                    <m:r>
                      <a:rPr lang="en-US" altLang="zh-CN" sz="1800" i="1">
                        <a:latin typeface="Cambria Math" panose="02040503050406030204" pitchFamily="18" charset="0"/>
                        <a:ea typeface="微软雅黑" panose="020B0503020204020204" pitchFamily="34" charset="-122"/>
                        <a:cs typeface="Cambria Math" panose="02040503050406030204" pitchFamily="18" charset="0"/>
                      </a:rPr>
                      <m:t>𝑧</m:t>
                    </m:r>
                    <m:r>
                      <a:rPr lang="en-US" altLang="zh-CN" sz="1800" i="1">
                        <a:latin typeface="Cambria Math" panose="02040503050406030204" pitchFamily="18" charset="0"/>
                        <a:ea typeface="微软雅黑" panose="020B0503020204020204" pitchFamily="34" charset="-122"/>
                        <a:cs typeface="Cambria Math" panose="02040503050406030204" pitchFamily="18" charset="0"/>
                      </a:rPr>
                      <m:t>−</m:t>
                    </m:r>
                    <m:r>
                      <m:rPr>
                        <m:sty m:val="p"/>
                      </m:rPr>
                      <a:rPr lang="en-US" altLang="zh-CN" sz="1800" b="0" i="1" smtClean="0">
                        <a:latin typeface="Cambria Math" panose="02040503050406030204" pitchFamily="18" charset="0"/>
                        <a:ea typeface="微软雅黑" panose="020B0503020204020204" pitchFamily="34" charset="-122"/>
                        <a:cs typeface="Cambria Math" panose="02040503050406030204" pitchFamily="18" charset="0"/>
                      </a:rPr>
                      <m:t>t</m:t>
                    </m:r>
                  </m:oMath>
                </a14:m>
                <a:r>
                  <a:rPr lang="en-US" altLang="zh-CN" sz="1800" dirty="0">
                    <a:latin typeface="Cambria Math" panose="02040503050406030204" pitchFamily="18" charset="0"/>
                    <a:ea typeface="微软雅黑" panose="020B0503020204020204" pitchFamily="34" charset="-122"/>
                    <a:cs typeface="Cambria Math" panose="02040503050406030204" pitchFamily="18" charset="0"/>
                  </a:rPr>
                  <a:t> </a:t>
                </a:r>
                <a:r>
                  <a:rPr lang="zh-CN" altLang="en-US" sz="1800" dirty="0">
                    <a:latin typeface="Cambria Math" panose="02040503050406030204" pitchFamily="18" charset="0"/>
                    <a:ea typeface="微软雅黑" panose="020B0503020204020204" pitchFamily="34" charset="-122"/>
                    <a:cs typeface="Cambria Math" panose="02040503050406030204" pitchFamily="18" charset="0"/>
                  </a:rPr>
                  <a:t>图进行傅里叶分析，得到下图：</a:t>
                </a:r>
                <a:endParaRPr lang="zh-CN" altLang="en-US" sz="1800" dirty="0">
                  <a:latin typeface="Cambria Math" panose="02040503050406030204" pitchFamily="18" charset="0"/>
                  <a:ea typeface="微软雅黑" panose="020B0503020204020204" pitchFamily="34" charset="-122"/>
                  <a:cs typeface="Cambria Math" panose="02040503050406030204" pitchFamily="18"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422222" y="999179"/>
                <a:ext cx="4690745" cy="1955159"/>
              </a:xfrm>
              <a:prstGeom prst="rect">
                <a:avLst/>
              </a:prstGeom>
              <a:blipFill rotWithShape="1">
                <a:blip r:embed="rId1"/>
                <a:stretch>
                  <a:fillRect l="-12" t="-17" r="12" b="16"/>
                </a:stretch>
              </a:blipFill>
            </p:spPr>
            <p:txBody>
              <a:bodyPr/>
              <a:lstStyle/>
              <a:p>
                <a:r>
                  <a:rPr lang="zh-CN" altLang="en-US">
                    <a:noFill/>
                  </a:rPr>
                  <a:t> </a:t>
                </a:r>
              </a:p>
            </p:txBody>
          </p:sp>
        </mc:Fallback>
      </mc:AlternateContent>
      <p:pic>
        <p:nvPicPr>
          <p:cNvPr id="5" name="图片 4" descr="1"/>
          <p:cNvPicPr>
            <a:picLocks noChangeAspect="1"/>
          </p:cNvPicPr>
          <p:nvPr/>
        </p:nvPicPr>
        <p:blipFill>
          <a:blip r:embed="rId2"/>
          <a:stretch>
            <a:fillRect/>
          </a:stretch>
        </p:blipFill>
        <p:spPr>
          <a:xfrm>
            <a:off x="422275" y="3039745"/>
            <a:ext cx="4827905" cy="3695700"/>
          </a:xfrm>
          <a:prstGeom prst="rect">
            <a:avLst/>
          </a:prstGeom>
        </p:spPr>
      </p:pic>
      <p:pic>
        <p:nvPicPr>
          <p:cNvPr id="9" name="图片 8" descr="2"/>
          <p:cNvPicPr>
            <a:picLocks noChangeAspect="1"/>
          </p:cNvPicPr>
          <p:nvPr/>
        </p:nvPicPr>
        <p:blipFill>
          <a:blip r:embed="rId3"/>
          <a:stretch>
            <a:fillRect/>
          </a:stretch>
        </p:blipFill>
        <p:spPr>
          <a:xfrm>
            <a:off x="5323205" y="3039745"/>
            <a:ext cx="6245225" cy="3350260"/>
          </a:xfrm>
          <a:prstGeom prst="rect">
            <a:avLst/>
          </a:prstGeom>
        </p:spPr>
      </p:pic>
      <p:sp>
        <p:nvSpPr>
          <p:cNvPr id="11" name="文本框 10"/>
          <p:cNvSpPr txBox="1"/>
          <p:nvPr/>
        </p:nvSpPr>
        <p:spPr>
          <a:xfrm>
            <a:off x="5588635" y="1085215"/>
            <a:ext cx="4747895" cy="374015"/>
          </a:xfrm>
          <a:prstGeom prst="rect">
            <a:avLst/>
          </a:prstGeom>
          <a:noFill/>
        </p:spPr>
        <p:txBody>
          <a:bodyPr wrap="square" rtlCol="0">
            <a:noAutofit/>
          </a:bodyPr>
          <a:lstStyle/>
          <a:p>
            <a:endParaRPr lang="zh-CN" altLang="en-US"/>
          </a:p>
        </p:txBody>
      </p:sp>
      <mc:AlternateContent xmlns:mc="http://schemas.openxmlformats.org/markup-compatibility/2006">
        <mc:Choice xmlns:a14="http://schemas.microsoft.com/office/drawing/2010/main" Requires="a14">
          <p:sp>
            <p:nvSpPr>
              <p:cNvPr id="4" name="文本框 3"/>
              <p:cNvSpPr txBox="1"/>
              <p:nvPr/>
            </p:nvSpPr>
            <p:spPr>
              <a:xfrm>
                <a:off x="5468232" y="999179"/>
                <a:ext cx="5837627" cy="2031325"/>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傅里叶分析的频谱有两个峰，分别为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𝑓</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m:t>
                    </m:r>
                    <m:r>
                      <a:rPr lang="en-US" altLang="zh-CN" i="1" dirty="0">
                        <a:latin typeface="Cambria Math" panose="02040503050406030204" pitchFamily="18" charset="0"/>
                      </a:rPr>
                      <m:t>0</m:t>
                    </m:r>
                    <m:r>
                      <a:rPr lang="en-US" altLang="zh-CN" i="1" dirty="0">
                        <a:latin typeface="Cambria Math" panose="02040503050406030204" pitchFamily="18" charset="0"/>
                      </a:rPr>
                      <m:t>.</m:t>
                    </m:r>
                    <m:r>
                      <a:rPr lang="en-US" altLang="zh-CN" i="1" dirty="0">
                        <a:latin typeface="Cambria Math" panose="02040503050406030204" pitchFamily="18" charset="0"/>
                      </a:rPr>
                      <m:t>516</m:t>
                    </m:r>
                    <m:r>
                      <m:rPr>
                        <m:nor/>
                      </m:rPr>
                      <a:rPr lang="en-US" altLang="zh-CN" i="0" dirty="0">
                        <a:latin typeface="微软雅黑" panose="020B0503020204020204" pitchFamily="34" charset="-122"/>
                        <a:ea typeface="微软雅黑" panose="020B0503020204020204" pitchFamily="34" charset="-122"/>
                      </a:rPr>
                      <m:t>Hz</m:t>
                    </m:r>
                  </m:oMath>
                </a14:m>
                <a:r>
                  <a:rPr lang="zh-CN" altLang="en-US" dirty="0">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𝑓</m:t>
                        </m:r>
                      </m:e>
                      <m:sub>
                        <m:r>
                          <a:rPr lang="en-US" altLang="zh-CN" i="1" dirty="0">
                            <a:latin typeface="Cambria Math" panose="02040503050406030204" pitchFamily="18" charset="0"/>
                          </a:rPr>
                          <m:t>2</m:t>
                        </m:r>
                      </m:sub>
                    </m:sSub>
                    <m:r>
                      <a:rPr lang="en-US" altLang="zh-CN" i="1" dirty="0">
                        <a:latin typeface="Cambria Math" panose="02040503050406030204" pitchFamily="18" charset="0"/>
                      </a:rPr>
                      <m:t>=</m:t>
                    </m:r>
                    <m:r>
                      <a:rPr lang="en-US" altLang="zh-CN" i="1" dirty="0">
                        <a:latin typeface="Cambria Math" panose="02040503050406030204" pitchFamily="18" charset="0"/>
                      </a:rPr>
                      <m:t>0</m:t>
                    </m:r>
                    <m:r>
                      <a:rPr lang="en-US" altLang="zh-CN" i="1" dirty="0">
                        <a:latin typeface="Cambria Math" panose="02040503050406030204" pitchFamily="18" charset="0"/>
                      </a:rPr>
                      <m:t>.</m:t>
                    </m:r>
                    <m:r>
                      <a:rPr lang="en-US" altLang="zh-CN" i="1" dirty="0">
                        <a:latin typeface="Cambria Math" panose="02040503050406030204" pitchFamily="18" charset="0"/>
                      </a:rPr>
                      <m:t>500</m:t>
                    </m:r>
                    <m:r>
                      <m:rPr>
                        <m:nor/>
                      </m:rPr>
                      <a:rPr lang="en-US" altLang="zh-CN" i="0" dirty="0">
                        <a:latin typeface="微软雅黑" panose="020B0503020204020204" pitchFamily="34" charset="-122"/>
                        <a:ea typeface="微软雅黑" panose="020B0503020204020204" pitchFamily="34" charset="-122"/>
                      </a:rPr>
                      <m:t>Hz</m:t>
                    </m:r>
                  </m:oMath>
                </a14:m>
                <a:r>
                  <a:rPr lang="zh-CN" altLang="en-US" dirty="0">
                    <a:latin typeface="微软雅黑" panose="020B0503020204020204" pitchFamily="34" charset="-122"/>
                    <a:ea typeface="微软雅黑" panose="020B0503020204020204" pitchFamily="34" charset="-122"/>
                  </a:rPr>
                  <a:t>，利用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𝑓</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𝑓</m:t>
                        </m:r>
                      </m:e>
                      <m:sub>
                        <m:r>
                          <a:rPr lang="en-US" altLang="zh-CN" i="1" dirty="0" smtClean="0">
                            <a:latin typeface="Cambria Math" panose="02040503050406030204" pitchFamily="18" charset="0"/>
                          </a:rPr>
                          <m:t>2</m:t>
                        </m:r>
                      </m:sub>
                    </m:sSub>
                  </m:oMath>
                </a14:m>
                <a:r>
                  <a:rPr lang="zh-CN" altLang="en-US" dirty="0">
                    <a:latin typeface="微软雅黑" panose="020B0503020204020204" pitchFamily="34" charset="-122"/>
                    <a:ea typeface="微软雅黑" panose="020B0503020204020204" pitchFamily="34" charset="-122"/>
                  </a:rPr>
                  <a:t>可分别求解出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𝜔</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m:t>
                    </m:r>
                    <m:r>
                      <a:rPr lang="en-US" altLang="zh-CN" i="1" dirty="0">
                        <a:latin typeface="Cambria Math" panose="02040503050406030204" pitchFamily="18" charset="0"/>
                      </a:rPr>
                      <m:t>3</m:t>
                    </m:r>
                    <m:r>
                      <a:rPr lang="en-US" altLang="zh-CN" i="1" dirty="0">
                        <a:latin typeface="Cambria Math" panose="02040503050406030204" pitchFamily="18" charset="0"/>
                      </a:rPr>
                      <m:t>.</m:t>
                    </m:r>
                    <m:r>
                      <a:rPr lang="en-US" altLang="zh-CN" i="1" dirty="0">
                        <a:latin typeface="Cambria Math" panose="02040503050406030204" pitchFamily="18" charset="0"/>
                      </a:rPr>
                      <m:t>24</m:t>
                    </m:r>
                    <m:r>
                      <m:rPr>
                        <m:nor/>
                      </m:rPr>
                      <a:rPr lang="en-US" altLang="zh-CN" i="0" dirty="0">
                        <a:latin typeface="微软雅黑" panose="020B0503020204020204" pitchFamily="34" charset="-122"/>
                        <a:ea typeface="微软雅黑" panose="020B0503020204020204" pitchFamily="34" charset="-122"/>
                      </a:rPr>
                      <m:t>rad</m:t>
                    </m:r>
                    <m:r>
                      <m:rPr>
                        <m:nor/>
                      </m:rPr>
                      <a:rPr lang="en-US" altLang="zh-CN" i="0" dirty="0">
                        <a:latin typeface="微软雅黑" panose="020B0503020204020204" pitchFamily="34" charset="-122"/>
                        <a:ea typeface="微软雅黑" panose="020B0503020204020204" pitchFamily="34" charset="-122"/>
                      </a:rPr>
                      <m:t>/</m:t>
                    </m:r>
                    <m:r>
                      <m:rPr>
                        <m:nor/>
                      </m:rPr>
                      <a:rPr lang="en-US" altLang="zh-CN" i="0" dirty="0">
                        <a:latin typeface="微软雅黑" panose="020B0503020204020204" pitchFamily="34" charset="-122"/>
                        <a:ea typeface="微软雅黑" panose="020B0503020204020204" pitchFamily="34" charset="-122"/>
                      </a:rPr>
                      <m:t>s</m:t>
                    </m:r>
                  </m:oMath>
                </a14:m>
                <a:r>
                  <a:rPr lang="zh-CN" altLang="en-US" dirty="0">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𝜔</m:t>
                        </m:r>
                      </m:e>
                      <m:sub>
                        <m:r>
                          <a:rPr lang="en-US" altLang="zh-CN" i="1" dirty="0">
                            <a:latin typeface="Cambria Math" panose="02040503050406030204" pitchFamily="18" charset="0"/>
                          </a:rPr>
                          <m:t>2</m:t>
                        </m:r>
                      </m:sub>
                    </m:sSub>
                    <m:r>
                      <a:rPr lang="en-US" altLang="zh-CN" i="1" dirty="0">
                        <a:latin typeface="Cambria Math" panose="02040503050406030204" pitchFamily="18" charset="0"/>
                      </a:rPr>
                      <m:t>=</m:t>
                    </m:r>
                    <m:r>
                      <a:rPr lang="en-US" altLang="zh-CN" i="1" dirty="0">
                        <a:latin typeface="Cambria Math" panose="02040503050406030204" pitchFamily="18" charset="0"/>
                      </a:rPr>
                      <m:t>3</m:t>
                    </m:r>
                    <m:r>
                      <a:rPr lang="en-US" altLang="zh-CN" i="1" dirty="0">
                        <a:latin typeface="Cambria Math" panose="02040503050406030204" pitchFamily="18" charset="0"/>
                      </a:rPr>
                      <m:t>.</m:t>
                    </m:r>
                    <m:r>
                      <a:rPr lang="en-US" altLang="zh-CN" i="1" dirty="0">
                        <a:latin typeface="Cambria Math" panose="02040503050406030204" pitchFamily="18" charset="0"/>
                      </a:rPr>
                      <m:t>14</m:t>
                    </m:r>
                    <m:r>
                      <m:rPr>
                        <m:nor/>
                      </m:rPr>
                      <a:rPr lang="en-US" altLang="zh-CN" i="0" dirty="0">
                        <a:latin typeface="微软雅黑" panose="020B0503020204020204" pitchFamily="34" charset="-122"/>
                        <a:ea typeface="微软雅黑" panose="020B0503020204020204" pitchFamily="34" charset="-122"/>
                      </a:rPr>
                      <m:t>rad</m:t>
                    </m:r>
                    <m:r>
                      <m:rPr>
                        <m:nor/>
                      </m:rPr>
                      <a:rPr lang="en-US" altLang="zh-CN" i="0" dirty="0">
                        <a:latin typeface="微软雅黑" panose="020B0503020204020204" pitchFamily="34" charset="-122"/>
                        <a:ea typeface="微软雅黑" panose="020B0503020204020204" pitchFamily="34" charset="-122"/>
                      </a:rPr>
                      <m:t>/</m:t>
                    </m:r>
                    <m:r>
                      <m:rPr>
                        <m:nor/>
                      </m:rPr>
                      <a:rPr lang="en-US" altLang="zh-CN" i="0" dirty="0">
                        <a:latin typeface="微软雅黑" panose="020B0503020204020204" pitchFamily="34" charset="-122"/>
                        <a:ea typeface="微软雅黑" panose="020B0503020204020204" pitchFamily="34" charset="-122"/>
                      </a:rPr>
                      <m:t>s</m:t>
                    </m:r>
                  </m:oMath>
                </a14:m>
                <a:r>
                  <a:rPr lang="zh-CN" altLang="en-US" dirty="0">
                    <a:latin typeface="微软雅黑" panose="020B0503020204020204" pitchFamily="34" charset="-122"/>
                    <a:ea typeface="微软雅黑" panose="020B0503020204020204" pitchFamily="34" charset="-122"/>
                  </a:rPr>
                  <a:t>，再利用式 </a:t>
                </a:r>
                <a:r>
                  <a:rPr lang="en-US" altLang="zh-CN" dirty="0">
                    <a:latin typeface="微软雅黑" panose="020B0503020204020204" pitchFamily="34" charset="-122"/>
                    <a:ea typeface="微软雅黑" panose="020B0503020204020204" pitchFamily="34" charset="-122"/>
                  </a:rPr>
                  <a:t>(7) </a:t>
                </a:r>
                <a:r>
                  <a:rPr lang="zh-CN" altLang="en-US" dirty="0">
                    <a:latin typeface="微软雅黑" panose="020B0503020204020204" pitchFamily="34" charset="-122"/>
                    <a:ea typeface="微软雅黑" panose="020B0503020204020204" pitchFamily="34" charset="-122"/>
                  </a:rPr>
                  <a:t>得到 </a:t>
                </a:r>
                <a14:m>
                  <m:oMath xmlns:m="http://schemas.openxmlformats.org/officeDocument/2006/math">
                    <m:r>
                      <a:rPr lang="en-US" altLang="zh-CN" i="1" dirty="0" smtClean="0">
                        <a:latin typeface="Cambria Math" panose="02040503050406030204" pitchFamily="18" charset="0"/>
                      </a:rPr>
                      <m:t>𝜖</m:t>
                    </m:r>
                    <m:r>
                      <a:rPr lang="en-US" altLang="zh-CN" i="1" dirty="0">
                        <a:latin typeface="Cambria Math" panose="02040503050406030204" pitchFamily="18" charset="0"/>
                      </a:rPr>
                      <m:t>=</m:t>
                    </m:r>
                    <m:r>
                      <a:rPr lang="en-US" altLang="zh-CN" i="1" dirty="0" smtClean="0">
                        <a:latin typeface="Cambria Math" panose="02040503050406030204" pitchFamily="18" charset="0"/>
                      </a:rPr>
                      <m:t>0</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00022</m:t>
                    </m:r>
                  </m:oMath>
                </a14:m>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得到的 </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rPr>
                      <m:t>𝜖</m:t>
                    </m:r>
                  </m:oMath>
                </a14:m>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相当小。同时实验图像也完全符合预想中拍现象的图谱：</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rPr>
                      <m:t>𝑧</m:t>
                    </m:r>
                  </m:oMath>
                </a14:m>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和 </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rPr>
                      <m:t>𝜃</m:t>
                    </m:r>
                  </m:oMath>
                </a14:m>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的振幅交替增大减小，且在一个达到最大的同时，另一个达到最小；但是振幅存在整体上的衰减。</a:t>
                </a:r>
                <a:endParaRPr lang="zh-CN" altLang="en-US" dirty="0">
                  <a:latin typeface="微软雅黑" panose="020B0503020204020204" pitchFamily="34" charset="-122"/>
                  <a:ea typeface="微软雅黑" panose="020B0503020204020204" pitchFamily="34"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5468232" y="999179"/>
                <a:ext cx="5837627" cy="2031325"/>
              </a:xfrm>
              <a:prstGeom prst="rect">
                <a:avLst/>
              </a:prstGeom>
              <a:blipFill rotWithShape="1">
                <a:blip r:embed="rId4"/>
                <a:stretch>
                  <a:fillRect l="-4" t="-16" r="5" b="-10521"/>
                </a:stretch>
              </a:blipFill>
            </p:spPr>
            <p:txBody>
              <a:bodyPr/>
              <a:lstStyle/>
              <a:p>
                <a:r>
                  <a:rPr lang="zh-CN"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BB8F404-4D68-4CF1-A1D1-4545FFCFAAD6}" type="slidenum">
              <a:rPr kumimoji="0" lang="zh-CN" altLang="en-US" sz="2400" b="0" i="0" u="none" strike="noStrike" kern="1200" cap="none" spc="0" normalizeH="0" baseline="0" noProof="0" smtClean="0">
                <a:ln>
                  <a:noFill/>
                </a:ln>
                <a:solidFill>
                  <a:srgbClr val="9A0000"/>
                </a:solidFill>
                <a:effectLst/>
                <a:uLnTx/>
                <a:uFillTx/>
                <a:latin typeface="Calibri" panose="020F0502020204030204" pitchFamily="34" charset="0"/>
                <a:ea typeface="宋体" panose="02010600030101010101" pitchFamily="2" charset="-122"/>
                <a:cs typeface="+mn-cs"/>
              </a:rPr>
            </a:fld>
            <a:endParaRPr kumimoji="0" lang="zh-CN" altLang="en-US" sz="2400" b="0" i="0" u="none" strike="noStrike" kern="1200" cap="none" spc="0" normalizeH="0" baseline="0" noProof="0">
              <a:ln>
                <a:noFill/>
              </a:ln>
              <a:solidFill>
                <a:srgbClr val="9A0000"/>
              </a:solidFill>
              <a:effectLst/>
              <a:uLnTx/>
              <a:uFillTx/>
              <a:latin typeface="Calibri" panose="020F0502020204030204" pitchFamily="34" charset="0"/>
              <a:ea typeface="宋体" panose="02010600030101010101" pitchFamily="2" charset="-122"/>
              <a:cs typeface="+mn-cs"/>
            </a:endParaRPr>
          </a:p>
        </p:txBody>
      </p:sp>
      <p:grpSp>
        <p:nvGrpSpPr>
          <p:cNvPr id="6" name="组合 5"/>
          <p:cNvGrpSpPr/>
          <p:nvPr/>
        </p:nvGrpSpPr>
        <p:grpSpPr>
          <a:xfrm>
            <a:off x="-1" y="392113"/>
            <a:ext cx="4047564" cy="521970"/>
            <a:chOff x="0" y="392113"/>
            <a:chExt cx="3296118" cy="521970"/>
          </a:xfrm>
        </p:grpSpPr>
        <p:sp>
          <p:nvSpPr>
            <p:cNvPr id="7" name="文本框 6"/>
            <p:cNvSpPr txBox="1">
              <a:spLocks noChangeArrowheads="1"/>
            </p:cNvSpPr>
            <p:nvPr/>
          </p:nvSpPr>
          <p:spPr bwMode="auto">
            <a:xfrm>
              <a:off x="343836" y="392113"/>
              <a:ext cx="2952282"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lvl="0" eaLnBrk="1" hangingPunct="1">
                <a:defRPr/>
              </a:pPr>
              <a:r>
                <a:rPr lang="zh-CN" altLang="en-US" sz="2800" b="1" dirty="0">
                  <a:solidFill>
                    <a:srgbClr val="000000"/>
                  </a:solidFill>
                  <a:latin typeface="微软雅黑" panose="020B0503020204020204" pitchFamily="34" charset="-122"/>
                  <a:ea typeface="微软雅黑" panose="020B0503020204020204" pitchFamily="34" charset="-122"/>
                </a:rPr>
                <a:t>实验</a:t>
              </a:r>
              <a:r>
                <a:rPr lang="en-US" altLang="zh-CN" sz="2800" b="1" dirty="0">
                  <a:solidFill>
                    <a:srgbClr val="000000"/>
                  </a:solidFill>
                  <a:latin typeface="微软雅黑" panose="020B0503020204020204" pitchFamily="34" charset="-122"/>
                  <a:ea typeface="微软雅黑" panose="020B0503020204020204" pitchFamily="34" charset="-122"/>
                </a:rPr>
                <a:t>·</a:t>
              </a:r>
              <a:r>
                <a:rPr lang="zh-CN" altLang="en-US" sz="2800" b="1" dirty="0">
                  <a:solidFill>
                    <a:srgbClr val="000000"/>
                  </a:solidFill>
                  <a:latin typeface="微软雅黑" panose="020B0503020204020204" pitchFamily="34" charset="-122"/>
                  <a:ea typeface="微软雅黑" panose="020B0503020204020204" pitchFamily="34" charset="-122"/>
                </a:rPr>
                <a:t>情况</a:t>
              </a:r>
              <a:r>
                <a:rPr lang="en-US" altLang="zh-CN" sz="2800" b="1" dirty="0">
                  <a:solidFill>
                    <a:srgbClr val="000000"/>
                  </a:solidFill>
                  <a:latin typeface="微软雅黑" panose="020B0503020204020204" pitchFamily="34" charset="-122"/>
                  <a:ea typeface="微软雅黑" panose="020B0503020204020204" pitchFamily="34" charset="-122"/>
                </a:rPr>
                <a:t> 2</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 name="矩形 1"/>
            <p:cNvSpPr>
              <a:spLocks noChangeArrowheads="1"/>
            </p:cNvSpPr>
            <p:nvPr/>
          </p:nvSpPr>
          <p:spPr bwMode="auto">
            <a:xfrm>
              <a:off x="0" y="392113"/>
              <a:ext cx="290286" cy="463550"/>
            </a:xfrm>
            <a:prstGeom prst="rect">
              <a:avLst/>
            </a:prstGeom>
            <a:solidFill>
              <a:srgbClr val="9A0000"/>
            </a:soli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mc:AlternateContent xmlns:mc="http://schemas.openxmlformats.org/markup-compatibility/2006">
        <mc:Choice xmlns:a14="http://schemas.microsoft.com/office/drawing/2010/main" Requires="a14">
          <p:sp>
            <p:nvSpPr>
              <p:cNvPr id="3" name="文本框 2"/>
              <p:cNvSpPr txBox="1"/>
              <p:nvPr/>
            </p:nvSpPr>
            <p:spPr>
              <a:xfrm>
                <a:off x="422222" y="999179"/>
                <a:ext cx="4690745" cy="1955159"/>
              </a:xfrm>
              <a:prstGeom prst="rect">
                <a:avLst/>
              </a:prstGeom>
              <a:noFill/>
            </p:spPr>
            <p:txBody>
              <a:bodyPr wrap="square" rtlCol="0">
                <a:noAutofit/>
              </a:bodyPr>
              <a:lstStyle/>
              <a:p>
                <a:r>
                  <a:rPr lang="zh-CN" altLang="en-US" sz="1800" dirty="0">
                    <a:latin typeface="微软雅黑" panose="020B0503020204020204" pitchFamily="34" charset="-122"/>
                    <a:ea typeface="微软雅黑" panose="020B0503020204020204" pitchFamily="34" charset="-122"/>
                  </a:rPr>
                  <a:t>调节至 </a:t>
                </a:r>
                <a14:m>
                  <m:oMath xmlns:m="http://schemas.openxmlformats.org/officeDocument/2006/math">
                    <m:r>
                      <a:rPr lang="en-US" altLang="zh-CN" sz="1800" i="1" dirty="0" smtClean="0">
                        <a:latin typeface="Cambria Math" panose="02040503050406030204" pitchFamily="18" charset="0"/>
                        <a:ea typeface="微软雅黑" panose="020B0503020204020204" pitchFamily="34" charset="-122"/>
                        <a:cs typeface="Cambria Math" panose="02040503050406030204" pitchFamily="18" charset="0"/>
                      </a:rPr>
                      <m:t>𝑚</m:t>
                    </m:r>
                    <m:r>
                      <a:rPr lang="en-US" altLang="zh-CN" sz="1800" dirty="0">
                        <a:latin typeface="Cambria Math" panose="02040503050406030204" pitchFamily="18" charset="0"/>
                        <a:ea typeface="微软雅黑" panose="020B0503020204020204" pitchFamily="34" charset="-122"/>
                        <a:sym typeface="+mn-ea"/>
                      </a:rPr>
                      <m:t>=</m:t>
                    </m:r>
                    <m:r>
                      <a:rPr lang="en-US" altLang="zh-CN" sz="1800" dirty="0">
                        <a:latin typeface="Cambria Math" panose="02040503050406030204" pitchFamily="18" charset="0"/>
                        <a:ea typeface="微软雅黑" panose="020B0503020204020204" pitchFamily="34" charset="-122"/>
                        <a:sym typeface="+mn-ea"/>
                      </a:rPr>
                      <m:t>3</m:t>
                    </m:r>
                    <m:r>
                      <a:rPr lang="en-US" altLang="zh-CN" sz="1800" b="0" i="0" dirty="0" smtClean="0">
                        <a:latin typeface="Cambria Math" panose="02040503050406030204" pitchFamily="18" charset="0"/>
                        <a:ea typeface="微软雅黑" panose="020B0503020204020204" pitchFamily="34" charset="-122"/>
                        <a:sym typeface="+mn-ea"/>
                      </a:rPr>
                      <m:t>42</m:t>
                    </m:r>
                    <m:r>
                      <a:rPr lang="en-US" altLang="zh-CN" sz="1800" dirty="0">
                        <a:latin typeface="Cambria Math" panose="02040503050406030204" pitchFamily="18" charset="0"/>
                        <a:ea typeface="微软雅黑" panose="020B0503020204020204" pitchFamily="34" charset="-122"/>
                        <a:sym typeface="+mn-ea"/>
                      </a:rPr>
                      <m:t>.</m:t>
                    </m:r>
                    <m:r>
                      <m:rPr>
                        <m:nor/>
                      </m:rPr>
                      <a:rPr lang="en-US" altLang="zh-CN" sz="1800" b="0" i="0" dirty="0" smtClean="0">
                        <a:latin typeface="Cambria Math" panose="02040503050406030204" pitchFamily="18" charset="0"/>
                        <a:ea typeface="微软雅黑" panose="020B0503020204020204" pitchFamily="34" charset="-122"/>
                        <a:sym typeface="+mn-ea"/>
                      </a:rPr>
                      <m:t>34</m:t>
                    </m:r>
                    <m:r>
                      <m:rPr>
                        <m:nor/>
                      </m:rPr>
                      <a:rPr lang="en-US" altLang="zh-CN" sz="1800" dirty="0">
                        <a:latin typeface="Cambria Math" panose="02040503050406030204" pitchFamily="18" charset="0"/>
                        <a:ea typeface="微软雅黑" panose="020B0503020204020204" pitchFamily="34" charset="-122"/>
                        <a:sym typeface="+mn-ea"/>
                      </a:rPr>
                      <m:t>g</m:t>
                    </m:r>
                  </m:oMath>
                </a14:m>
                <a:r>
                  <a:rPr lang="en-US" altLang="zh-CN" sz="1800" dirty="0">
                    <a:latin typeface="微软雅黑" panose="020B0503020204020204" pitchFamily="34" charset="-122"/>
                    <a:ea typeface="微软雅黑" panose="020B0503020204020204" pitchFamily="34" charset="-122"/>
                  </a:rPr>
                  <a:t>，</a:t>
                </a:r>
                <a14:m>
                  <m:oMath xmlns:m="http://schemas.openxmlformats.org/officeDocument/2006/math">
                    <m:r>
                      <a:rPr lang="en-US" altLang="zh-CN" sz="1800" i="1" dirty="0" smtClean="0">
                        <a:latin typeface="Cambria Math" panose="02040503050406030204" pitchFamily="18" charset="0"/>
                        <a:ea typeface="微软雅黑" panose="020B0503020204020204" pitchFamily="34" charset="-122"/>
                      </a:rPr>
                      <m:t>𝐼</m:t>
                    </m:r>
                    <m:r>
                      <a:rPr lang="en-US" altLang="zh-CN" sz="1800" i="1" dirty="0" smtClean="0">
                        <a:latin typeface="Cambria Math" panose="02040503050406030204" pitchFamily="18" charset="0"/>
                        <a:ea typeface="微软雅黑" panose="020B0503020204020204" pitchFamily="34" charset="-122"/>
                      </a:rPr>
                      <m:t>=</m:t>
                    </m:r>
                    <m:r>
                      <a:rPr lang="en-US" altLang="zh-CN" sz="1800" i="1" dirty="0" smtClean="0">
                        <a:latin typeface="Cambria Math" panose="02040503050406030204" pitchFamily="18" charset="0"/>
                        <a:ea typeface="微软雅黑" panose="020B0503020204020204" pitchFamily="34" charset="-122"/>
                      </a:rPr>
                      <m:t>3</m:t>
                    </m:r>
                    <m:r>
                      <a:rPr lang="en-US" altLang="zh-CN" sz="1800" i="1" dirty="0" smtClean="0">
                        <a:latin typeface="Cambria Math" panose="02040503050406030204" pitchFamily="18" charset="0"/>
                        <a:ea typeface="微软雅黑" panose="020B0503020204020204" pitchFamily="34" charset="-122"/>
                      </a:rPr>
                      <m:t>.</m:t>
                    </m:r>
                    <m:r>
                      <a:rPr lang="en-US" altLang="zh-CN" sz="1800" i="1" dirty="0" smtClean="0">
                        <a:latin typeface="Cambria Math" panose="02040503050406030204" pitchFamily="18" charset="0"/>
                        <a:ea typeface="微软雅黑" panose="020B0503020204020204" pitchFamily="34" charset="-122"/>
                      </a:rPr>
                      <m:t>09</m:t>
                    </m:r>
                    <m:r>
                      <a:rPr lang="en-US" altLang="zh-CN" sz="1800" i="1" dirty="0" smtClean="0">
                        <a:latin typeface="Cambria Math" panose="02040503050406030204" pitchFamily="18" charset="0"/>
                        <a:ea typeface="微软雅黑" panose="020B0503020204020204" pitchFamily="34" charset="-122"/>
                      </a:rPr>
                      <m:t>×</m:t>
                    </m:r>
                    <m:sSup>
                      <m:sSupPr>
                        <m:ctrlPr>
                          <a:rPr lang="en-US" altLang="zh-CN" sz="1800" i="1" dirty="0" smtClean="0">
                            <a:latin typeface="Cambria Math" panose="02040503050406030204" pitchFamily="18" charset="0"/>
                            <a:ea typeface="微软雅黑" panose="020B0503020204020204" pitchFamily="34" charset="-122"/>
                          </a:rPr>
                        </m:ctrlPr>
                      </m:sSupPr>
                      <m:e>
                        <m:r>
                          <a:rPr lang="en-US" altLang="zh-CN" sz="1800" i="1" dirty="0" smtClean="0">
                            <a:latin typeface="Cambria Math" panose="02040503050406030204" pitchFamily="18" charset="0"/>
                            <a:ea typeface="微软雅黑" panose="020B0503020204020204" pitchFamily="34" charset="-122"/>
                          </a:rPr>
                          <m:t>10</m:t>
                        </m:r>
                      </m:e>
                      <m:sup>
                        <m:r>
                          <a:rPr lang="en-US" altLang="zh-CN" sz="1800" i="1" dirty="0" smtClean="0">
                            <a:latin typeface="Cambria Math" panose="02040503050406030204" pitchFamily="18" charset="0"/>
                            <a:ea typeface="微软雅黑" panose="020B0503020204020204" pitchFamily="34" charset="-122"/>
                          </a:rPr>
                          <m:t>−</m:t>
                        </m:r>
                        <m:r>
                          <a:rPr lang="en-US" altLang="zh-CN" sz="1800" b="0" i="1" dirty="0" smtClean="0">
                            <a:latin typeface="Cambria Math" panose="02040503050406030204" pitchFamily="18" charset="0"/>
                            <a:ea typeface="微软雅黑" panose="020B0503020204020204" pitchFamily="34" charset="-122"/>
                          </a:rPr>
                          <m:t>5</m:t>
                        </m:r>
                      </m:sup>
                    </m:sSup>
                    <m:r>
                      <m:rPr>
                        <m:nor/>
                      </m:rPr>
                      <a:rPr lang="en-US" altLang="zh-CN" sz="1800" i="0" dirty="0" smtClean="0">
                        <a:latin typeface="Cambria Math" panose="02040503050406030204" pitchFamily="18" charset="0"/>
                        <a:ea typeface="微软雅黑" panose="020B0503020204020204" pitchFamily="34" charset="-122"/>
                      </a:rPr>
                      <m:t>kg</m:t>
                    </m:r>
                    <m:r>
                      <m:rPr>
                        <m:nor/>
                      </m:rPr>
                      <a:rPr lang="en-US" altLang="zh-CN" sz="1800" i="0" dirty="0" smtClean="0">
                        <a:latin typeface="Cambria Math" panose="02040503050406030204" pitchFamily="18" charset="0"/>
                        <a:ea typeface="微软雅黑" panose="020B0503020204020204" pitchFamily="34" charset="-122"/>
                      </a:rPr>
                      <m:t>⋅</m:t>
                    </m:r>
                    <m:sSup>
                      <m:sSupPr>
                        <m:ctrlPr>
                          <a:rPr lang="en-US" altLang="zh-CN" sz="1800" i="0" dirty="0" smtClean="0">
                            <a:latin typeface="Cambria Math" panose="02040503050406030204" pitchFamily="18" charset="0"/>
                            <a:ea typeface="微软雅黑" panose="020B0503020204020204" pitchFamily="34" charset="-122"/>
                          </a:rPr>
                        </m:ctrlPr>
                      </m:sSupPr>
                      <m:e>
                        <m:r>
                          <m:rPr>
                            <m:nor/>
                          </m:rPr>
                          <a:rPr lang="en-US" altLang="zh-CN" sz="1800" i="0" dirty="0" smtClean="0">
                            <a:latin typeface="Cambria Math" panose="02040503050406030204" pitchFamily="18" charset="0"/>
                            <a:ea typeface="微软雅黑" panose="020B0503020204020204" pitchFamily="34" charset="-122"/>
                          </a:rPr>
                          <m:t>m</m:t>
                        </m:r>
                      </m:e>
                      <m:sup>
                        <m:r>
                          <m:rPr>
                            <m:nor/>
                          </m:rPr>
                          <a:rPr lang="en-US" altLang="zh-CN" sz="1800" i="0" dirty="0" smtClean="0">
                            <a:latin typeface="Cambria Math" panose="02040503050406030204" pitchFamily="18" charset="0"/>
                            <a:ea typeface="微软雅黑" panose="020B0503020204020204" pitchFamily="34" charset="-122"/>
                          </a:rPr>
                          <m:t>2</m:t>
                        </m:r>
                      </m:sup>
                    </m:sSup>
                  </m:oMath>
                </a14:m>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时，计算得到 </a:t>
                </a:r>
                <a14:m>
                  <m:oMath xmlns:m="http://schemas.openxmlformats.org/officeDocument/2006/math">
                    <m:sSub>
                      <m:sSubPr>
                        <m:ctrlPr>
                          <a:rPr lang="en-US" altLang="zh-CN" sz="1800" i="1" dirty="0" smtClean="0">
                            <a:latin typeface="Cambria Math" panose="02040503050406030204" pitchFamily="18" charset="0"/>
                            <a:ea typeface="微软雅黑" panose="020B0503020204020204" pitchFamily="34" charset="-122"/>
                          </a:rPr>
                        </m:ctrlPr>
                      </m:sSubPr>
                      <m:e>
                        <m:r>
                          <a:rPr lang="zh-CN" altLang="en-US" sz="1800" i="1" dirty="0" smtClean="0">
                            <a:latin typeface="Cambria Math" panose="02040503050406030204" pitchFamily="18" charset="0"/>
                            <a:ea typeface="微软雅黑" panose="020B0503020204020204" pitchFamily="34" charset="-122"/>
                          </a:rPr>
                          <m:t>𝜔</m:t>
                        </m:r>
                      </m:e>
                      <m:sub>
                        <m:r>
                          <a:rPr lang="en-US" altLang="zh-CN" sz="1800" i="1" dirty="0" err="1">
                            <a:latin typeface="Cambria Math" panose="02040503050406030204" pitchFamily="18" charset="0"/>
                            <a:ea typeface="微软雅黑" panose="020B0503020204020204" pitchFamily="34" charset="-122"/>
                          </a:rPr>
                          <m:t>𝑧</m:t>
                        </m:r>
                      </m:sub>
                    </m:sSub>
                    <m:r>
                      <a:rPr lang="en-US" altLang="zh-CN" sz="1800" i="1" dirty="0">
                        <a:latin typeface="Cambria Math" panose="02040503050406030204" pitchFamily="18" charset="0"/>
                        <a:ea typeface="微软雅黑" panose="020B0503020204020204" pitchFamily="34" charset="-122"/>
                      </a:rPr>
                      <m:t>=</m:t>
                    </m:r>
                    <m:r>
                      <a:rPr lang="en-US" altLang="zh-CN" sz="1800" i="1" dirty="0">
                        <a:latin typeface="Cambria Math" panose="02040503050406030204" pitchFamily="18" charset="0"/>
                        <a:ea typeface="微软雅黑" panose="020B0503020204020204" pitchFamily="34" charset="-122"/>
                      </a:rPr>
                      <m:t>3</m:t>
                    </m:r>
                    <m:r>
                      <a:rPr lang="en-US" altLang="zh-CN" sz="1800" i="1" dirty="0">
                        <a:latin typeface="Cambria Math" panose="02040503050406030204" pitchFamily="18" charset="0"/>
                        <a:ea typeface="微软雅黑" panose="020B0503020204020204" pitchFamily="34" charset="-122"/>
                      </a:rPr>
                      <m:t>.</m:t>
                    </m:r>
                    <m:r>
                      <m:rPr>
                        <m:nor/>
                      </m:rPr>
                      <a:rPr lang="en-US" altLang="zh-CN" sz="1800" b="0" i="0" dirty="0" smtClean="0">
                        <a:latin typeface="Cambria Math" panose="02040503050406030204" pitchFamily="18" charset="0"/>
                        <a:ea typeface="微软雅黑" panose="020B0503020204020204" pitchFamily="34" charset="-122"/>
                      </a:rPr>
                      <m:t>29</m:t>
                    </m:r>
                    <m:r>
                      <m:rPr>
                        <m:nor/>
                      </m:rPr>
                      <a:rPr lang="en-US" altLang="zh-CN" sz="1800" i="0" dirty="0">
                        <a:latin typeface="Cambria Math" panose="02040503050406030204" pitchFamily="18" charset="0"/>
                        <a:ea typeface="微软雅黑" panose="020B0503020204020204" pitchFamily="34" charset="-122"/>
                      </a:rPr>
                      <m:t>rad</m:t>
                    </m:r>
                    <m:r>
                      <m:rPr>
                        <m:nor/>
                      </m:rPr>
                      <a:rPr lang="en-US" altLang="zh-CN" sz="1800" i="0" dirty="0">
                        <a:latin typeface="Cambria Math" panose="02040503050406030204" pitchFamily="18" charset="0"/>
                        <a:ea typeface="微软雅黑" panose="020B0503020204020204" pitchFamily="34" charset="-122"/>
                      </a:rPr>
                      <m:t>/</m:t>
                    </m:r>
                    <m:r>
                      <m:rPr>
                        <m:nor/>
                      </m:rPr>
                      <a:rPr lang="en-US" altLang="zh-CN" sz="1800" i="0" dirty="0">
                        <a:latin typeface="Cambria Math" panose="02040503050406030204" pitchFamily="18" charset="0"/>
                        <a:ea typeface="微软雅黑" panose="020B0503020204020204" pitchFamily="34" charset="-122"/>
                      </a:rPr>
                      <m:t>s</m:t>
                    </m:r>
                    <m:r>
                      <a:rPr lang="zh-CN" altLang="en-US" i="1" dirty="0">
                        <a:latin typeface="Cambria Math" panose="02040503050406030204" pitchFamily="18" charset="0"/>
                        <a:ea typeface="微软雅黑" panose="020B0503020204020204" pitchFamily="34" charset="-122"/>
                      </a:rPr>
                      <m:t>，</m:t>
                    </m:r>
                    <m:sSub>
                      <m:sSubPr>
                        <m:ctrlPr>
                          <a:rPr lang="en-US" altLang="zh-CN" sz="1800" i="1" dirty="0" smtClean="0">
                            <a:latin typeface="Cambria Math" panose="02040503050406030204" pitchFamily="18" charset="0"/>
                            <a:ea typeface="微软雅黑" panose="020B0503020204020204" pitchFamily="34" charset="-122"/>
                          </a:rPr>
                        </m:ctrlPr>
                      </m:sSubPr>
                      <m:e>
                        <m:r>
                          <a:rPr lang="en-US" altLang="zh-CN" sz="1800" i="1" dirty="0" smtClean="0">
                            <a:latin typeface="Cambria Math" panose="02040503050406030204" pitchFamily="18" charset="0"/>
                            <a:ea typeface="微软雅黑" panose="020B0503020204020204" pitchFamily="34" charset="-122"/>
                          </a:rPr>
                          <m:t>𝜔</m:t>
                        </m:r>
                      </m:e>
                      <m:sub>
                        <m:r>
                          <a:rPr lang="en-US" altLang="zh-CN" sz="1800" i="1" dirty="0">
                            <a:latin typeface="Cambria Math" panose="02040503050406030204" pitchFamily="18" charset="0"/>
                            <a:ea typeface="微软雅黑" panose="020B0503020204020204" pitchFamily="34" charset="-122"/>
                          </a:rPr>
                          <m:t>𝜃</m:t>
                        </m:r>
                      </m:sub>
                    </m:sSub>
                    <m:r>
                      <a:rPr lang="en-US" altLang="zh-CN" sz="1800" i="1" dirty="0">
                        <a:latin typeface="Cambria Math" panose="02040503050406030204" pitchFamily="18" charset="0"/>
                        <a:ea typeface="微软雅黑" panose="020B0503020204020204" pitchFamily="34" charset="-122"/>
                      </a:rPr>
                      <m:t>=</m:t>
                    </m:r>
                    <m:r>
                      <m:rPr>
                        <m:nor/>
                      </m:rPr>
                      <a:rPr lang="en-US" altLang="zh-CN" sz="1800" b="0" i="0" dirty="0" smtClean="0">
                        <a:latin typeface="Cambria Math" panose="02040503050406030204" pitchFamily="18" charset="0"/>
                        <a:ea typeface="微软雅黑" panose="020B0503020204020204" pitchFamily="34" charset="-122"/>
                      </a:rPr>
                      <m:t>1</m:t>
                    </m:r>
                    <m:r>
                      <m:rPr>
                        <m:nor/>
                      </m:rPr>
                      <a:rPr lang="en-US" altLang="zh-CN" sz="1800" b="0" i="0" dirty="0" smtClean="0">
                        <a:latin typeface="Cambria Math" panose="02040503050406030204" pitchFamily="18" charset="0"/>
                        <a:ea typeface="微软雅黑" panose="020B0503020204020204" pitchFamily="34" charset="-122"/>
                      </a:rPr>
                      <m:t>.</m:t>
                    </m:r>
                    <m:r>
                      <m:rPr>
                        <m:nor/>
                      </m:rPr>
                      <a:rPr lang="en-US" altLang="zh-CN" sz="1800" b="0" i="0" dirty="0" smtClean="0">
                        <a:latin typeface="Cambria Math" panose="02040503050406030204" pitchFamily="18" charset="0"/>
                        <a:ea typeface="微软雅黑" panose="020B0503020204020204" pitchFamily="34" charset="-122"/>
                      </a:rPr>
                      <m:t>16</m:t>
                    </m:r>
                    <m:r>
                      <m:rPr>
                        <m:nor/>
                      </m:rPr>
                      <a:rPr lang="en-US" altLang="zh-CN" sz="1800" i="0" dirty="0">
                        <a:latin typeface="Cambria Math" panose="02040503050406030204" pitchFamily="18" charset="0"/>
                        <a:ea typeface="微软雅黑" panose="020B0503020204020204" pitchFamily="34" charset="-122"/>
                      </a:rPr>
                      <m:t>rad</m:t>
                    </m:r>
                    <m:r>
                      <m:rPr>
                        <m:nor/>
                      </m:rPr>
                      <a:rPr lang="en-US" altLang="zh-CN" sz="1800" i="0" dirty="0">
                        <a:latin typeface="Cambria Math" panose="02040503050406030204" pitchFamily="18" charset="0"/>
                        <a:ea typeface="微软雅黑" panose="020B0503020204020204" pitchFamily="34" charset="-122"/>
                      </a:rPr>
                      <m:t>/</m:t>
                    </m:r>
                    <m:r>
                      <m:rPr>
                        <m:nor/>
                      </m:rPr>
                      <a:rPr lang="en-US" altLang="zh-CN" sz="1800" i="0" dirty="0" smtClean="0">
                        <a:latin typeface="Cambria Math" panose="02040503050406030204" pitchFamily="18" charset="0"/>
                        <a:ea typeface="微软雅黑" panose="020B0503020204020204" pitchFamily="34" charset="-122"/>
                      </a:rPr>
                      <m:t>s</m:t>
                    </m:r>
                  </m:oMath>
                </a14:m>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此时 </a:t>
                </a:r>
                <a14:m>
                  <m:oMath xmlns:m="http://schemas.openxmlformats.org/officeDocument/2006/math">
                    <m:sSub>
                      <m:sSubPr>
                        <m:ctrlPr>
                          <a:rPr lang="en-US" altLang="zh-CN" sz="1800" i="1" dirty="0" smtClean="0">
                            <a:latin typeface="Cambria Math" panose="02040503050406030204" pitchFamily="18" charset="0"/>
                            <a:ea typeface="微软雅黑" panose="020B0503020204020204" pitchFamily="34" charset="-122"/>
                          </a:rPr>
                        </m:ctrlPr>
                      </m:sSubPr>
                      <m:e>
                        <m:r>
                          <a:rPr lang="zh-CN" altLang="en-US" sz="1800" i="1" dirty="0" smtClean="0">
                            <a:latin typeface="Cambria Math" panose="02040503050406030204" pitchFamily="18" charset="0"/>
                            <a:ea typeface="微软雅黑" panose="020B0503020204020204" pitchFamily="34" charset="-122"/>
                          </a:rPr>
                          <m:t>𝜔</m:t>
                        </m:r>
                      </m:e>
                      <m:sub>
                        <m:r>
                          <a:rPr lang="en-US" altLang="zh-CN" sz="1800" i="1" dirty="0" err="1" smtClean="0">
                            <a:latin typeface="Cambria Math" panose="02040503050406030204" pitchFamily="18" charset="0"/>
                            <a:ea typeface="微软雅黑" panose="020B0503020204020204" pitchFamily="34" charset="-122"/>
                          </a:rPr>
                          <m:t>𝑧</m:t>
                        </m:r>
                      </m:sub>
                    </m:sSub>
                  </m:oMath>
                </a14:m>
                <a:r>
                  <a:rPr lang="zh-CN" altLang="en-US" sz="1800" dirty="0">
                    <a:latin typeface="微软雅黑" panose="020B0503020204020204" pitchFamily="34" charset="-122"/>
                    <a:ea typeface="微软雅黑" panose="020B0503020204020204" pitchFamily="34" charset="-122"/>
                  </a:rPr>
                  <a:t> 和 </a:t>
                </a:r>
                <a14:m>
                  <m:oMath xmlns:m="http://schemas.openxmlformats.org/officeDocument/2006/math">
                    <m:sSub>
                      <m:sSubPr>
                        <m:ctrlPr>
                          <a:rPr lang="en-US" altLang="zh-CN" sz="1800" i="1" dirty="0" smtClean="0">
                            <a:latin typeface="Cambria Math" panose="02040503050406030204" pitchFamily="18" charset="0"/>
                            <a:ea typeface="微软雅黑" panose="020B0503020204020204" pitchFamily="34" charset="-122"/>
                          </a:rPr>
                        </m:ctrlPr>
                      </m:sSubPr>
                      <m:e>
                        <m:r>
                          <a:rPr lang="zh-CN" altLang="en-US" sz="1800" i="1" dirty="0" smtClean="0">
                            <a:latin typeface="Cambria Math" panose="02040503050406030204" pitchFamily="18" charset="0"/>
                            <a:ea typeface="微软雅黑" panose="020B0503020204020204" pitchFamily="34" charset="-122"/>
                          </a:rPr>
                          <m:t>𝜔</m:t>
                        </m:r>
                      </m:e>
                      <m:sub>
                        <m:r>
                          <a:rPr lang="en-US" altLang="zh-CN" sz="1800" i="1" dirty="0">
                            <a:latin typeface="Cambria Math" panose="02040503050406030204" pitchFamily="18" charset="0"/>
                            <a:ea typeface="微软雅黑" panose="020B0503020204020204" pitchFamily="34" charset="-122"/>
                          </a:rPr>
                          <m:t>𝜃</m:t>
                        </m:r>
                      </m:sub>
                    </m:sSub>
                  </m:oMath>
                </a14:m>
                <a:r>
                  <a:rPr lang="zh-CN" altLang="en-US" sz="1800" dirty="0">
                    <a:latin typeface="微软雅黑" panose="020B0503020204020204" pitchFamily="34" charset="-122"/>
                    <a:ea typeface="微软雅黑" panose="020B0503020204020204" pitchFamily="34" charset="-122"/>
                  </a:rPr>
                  <a:t> 有了一定偏差。</a:t>
                </a:r>
                <a:endParaRPr lang="zh-CN" altLang="en-US" sz="1800" dirty="0">
                  <a:latin typeface="微软雅黑" panose="020B0503020204020204" pitchFamily="34" charset="-122"/>
                  <a:ea typeface="微软雅黑" panose="020B0503020204020204" pitchFamily="34" charset="-122"/>
                </a:endParaRPr>
              </a:p>
              <a:p>
                <a:r>
                  <a:rPr lang="zh-CN" altLang="en-US" sz="1800" dirty="0">
                    <a:latin typeface="微软雅黑" panose="020B0503020204020204" pitchFamily="34" charset="-122"/>
                    <a:ea typeface="微软雅黑" panose="020B0503020204020204" pitchFamily="34" charset="-122"/>
                  </a:rPr>
                  <a:t>利用</a:t>
                </a:r>
                <a:r>
                  <a:rPr lang="en-US" altLang="zh-CN" sz="1800" dirty="0">
                    <a:latin typeface="微软雅黑" panose="020B0503020204020204" pitchFamily="34" charset="-122"/>
                    <a:ea typeface="微软雅黑" panose="020B0503020204020204" pitchFamily="34" charset="-122"/>
                  </a:rPr>
                  <a:t>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Tracker </a:t>
                </a:r>
                <a:r>
                  <a:rPr lang="zh-CN" altLang="en-US" sz="1800" dirty="0">
                    <a:latin typeface="微软雅黑" panose="020B0503020204020204" pitchFamily="34" charset="-122"/>
                    <a:ea typeface="微软雅黑" panose="020B0503020204020204" pitchFamily="34" charset="-122"/>
                  </a:rPr>
                  <a:t>做出摆的</a:t>
                </a:r>
                <a:r>
                  <a:rPr lang="en-US" altLang="zh-CN" sz="1800" dirty="0">
                    <a:latin typeface="微软雅黑" panose="020B0503020204020204" pitchFamily="34" charset="-122"/>
                    <a:ea typeface="微软雅黑" panose="020B0503020204020204" pitchFamily="34" charset="-122"/>
                  </a:rPr>
                  <a:t> </a:t>
                </a:r>
                <a14:m>
                  <m:oMath xmlns:m="http://schemas.openxmlformats.org/officeDocument/2006/math">
                    <m:r>
                      <a:rPr lang="en-US" altLang="zh-CN" sz="1800" i="1">
                        <a:latin typeface="Cambria Math" panose="02040503050406030204" pitchFamily="18" charset="0"/>
                        <a:ea typeface="微软雅黑" panose="020B0503020204020204" pitchFamily="34" charset="-122"/>
                        <a:cs typeface="Cambria Math" panose="02040503050406030204" pitchFamily="18" charset="0"/>
                      </a:rPr>
                      <m:t>𝑧</m:t>
                    </m:r>
                    <m:r>
                      <a:rPr lang="en-US" altLang="zh-CN" sz="1800" i="1">
                        <a:latin typeface="Cambria Math" panose="02040503050406030204" pitchFamily="18" charset="0"/>
                        <a:ea typeface="微软雅黑" panose="020B0503020204020204" pitchFamily="34" charset="-122"/>
                        <a:cs typeface="Cambria Math" panose="02040503050406030204" pitchFamily="18" charset="0"/>
                      </a:rPr>
                      <m:t>−</m:t>
                    </m:r>
                    <m:r>
                      <a:rPr lang="en-US" altLang="zh-CN" sz="1800" i="1">
                        <a:latin typeface="Cambria Math" panose="02040503050406030204" pitchFamily="18" charset="0"/>
                        <a:ea typeface="微软雅黑" panose="020B0503020204020204" pitchFamily="34" charset="-122"/>
                        <a:cs typeface="Cambria Math" panose="02040503050406030204" pitchFamily="18" charset="0"/>
                      </a:rPr>
                      <m:t>𝑡</m:t>
                    </m:r>
                  </m:oMath>
                </a14:m>
                <a:r>
                  <a:rPr lang="en-US" altLang="zh-CN" sz="1800" i="1" dirty="0">
                    <a:latin typeface="Cambria Math" panose="02040503050406030204" pitchFamily="18" charset="0"/>
                    <a:ea typeface="微软雅黑" panose="020B0503020204020204" pitchFamily="34" charset="-122"/>
                    <a:cs typeface="Cambria Math" panose="02040503050406030204" pitchFamily="18" charset="0"/>
                  </a:rPr>
                  <a:t> </a:t>
                </a:r>
                <a:r>
                  <a:rPr lang="zh-CN" altLang="en-US" sz="1800" dirty="0">
                    <a:latin typeface="Cambria Math" panose="02040503050406030204" pitchFamily="18" charset="0"/>
                    <a:ea typeface="微软雅黑" panose="020B0503020204020204" pitchFamily="34" charset="-122"/>
                    <a:cs typeface="Cambria Math" panose="02040503050406030204" pitchFamily="18" charset="0"/>
                  </a:rPr>
                  <a:t>和</a:t>
                </a:r>
                <a:r>
                  <a:rPr lang="en-US" altLang="zh-CN" sz="1800" dirty="0">
                    <a:latin typeface="Cambria Math" panose="02040503050406030204" pitchFamily="18" charset="0"/>
                    <a:ea typeface="微软雅黑" panose="020B0503020204020204" pitchFamily="34" charset="-122"/>
                    <a:cs typeface="Cambria Math" panose="02040503050406030204" pitchFamily="18" charset="0"/>
                  </a:rPr>
                  <a:t> </a:t>
                </a:r>
                <a14:m>
                  <m:oMath xmlns:m="http://schemas.openxmlformats.org/officeDocument/2006/math">
                    <m:r>
                      <a:rPr lang="en-US" altLang="zh-CN" sz="1800" i="1">
                        <a:latin typeface="Cambria Math" panose="02040503050406030204" pitchFamily="18" charset="0"/>
                        <a:ea typeface="微软雅黑" panose="020B0503020204020204" pitchFamily="34" charset="-122"/>
                        <a:cs typeface="Cambria Math" panose="02040503050406030204" pitchFamily="18" charset="0"/>
                      </a:rPr>
                      <m:t>𝜃</m:t>
                    </m:r>
                    <m:r>
                      <a:rPr lang="en-US" altLang="zh-CN" sz="1800" i="1">
                        <a:latin typeface="Cambria Math" panose="02040503050406030204" pitchFamily="18" charset="0"/>
                        <a:ea typeface="微软雅黑" panose="020B0503020204020204" pitchFamily="34" charset="-122"/>
                        <a:cs typeface="Cambria Math" panose="02040503050406030204" pitchFamily="18" charset="0"/>
                      </a:rPr>
                      <m:t>−</m:t>
                    </m:r>
                    <m:r>
                      <m:rPr>
                        <m:sty m:val="p"/>
                      </m:rPr>
                      <a:rPr lang="en-US" altLang="zh-CN" sz="1800" b="0" i="1" smtClean="0">
                        <a:latin typeface="Cambria Math" panose="02040503050406030204" pitchFamily="18" charset="0"/>
                        <a:ea typeface="微软雅黑" panose="020B0503020204020204" pitchFamily="34" charset="-122"/>
                        <a:cs typeface="Cambria Math" panose="02040503050406030204" pitchFamily="18" charset="0"/>
                      </a:rPr>
                      <m:t>t</m:t>
                    </m:r>
                  </m:oMath>
                </a14:m>
                <a:r>
                  <a:rPr lang="en-US" altLang="zh-CN" sz="1800" dirty="0">
                    <a:latin typeface="Cambria Math" panose="02040503050406030204" pitchFamily="18" charset="0"/>
                    <a:ea typeface="微软雅黑" panose="020B0503020204020204" pitchFamily="34" charset="-122"/>
                    <a:cs typeface="Cambria Math" panose="02040503050406030204" pitchFamily="18" charset="0"/>
                  </a:rPr>
                  <a:t> </a:t>
                </a:r>
                <a:r>
                  <a:rPr lang="zh-CN" altLang="en-US" sz="1800" dirty="0">
                    <a:latin typeface="Cambria Math" panose="02040503050406030204" pitchFamily="18" charset="0"/>
                    <a:ea typeface="微软雅黑" panose="020B0503020204020204" pitchFamily="34" charset="-122"/>
                    <a:cs typeface="Cambria Math" panose="02040503050406030204" pitchFamily="18" charset="0"/>
                  </a:rPr>
                  <a:t>图，并使用</a:t>
                </a:r>
                <a:r>
                  <a:rPr lang="en-US" altLang="zh-CN" sz="1800" dirty="0">
                    <a:latin typeface="Cambria Math" panose="02040503050406030204" pitchFamily="18" charset="0"/>
                    <a:ea typeface="微软雅黑" panose="020B0503020204020204" pitchFamily="34" charset="-122"/>
                    <a:cs typeface="Cambria Math" panose="02040503050406030204" pitchFamily="18" charset="0"/>
                  </a:rPr>
                  <a:t>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Origin </a:t>
                </a:r>
                <a:r>
                  <a:rPr lang="zh-CN" altLang="en-US" sz="1800" dirty="0">
                    <a:latin typeface="Cambria Math" panose="02040503050406030204" pitchFamily="18" charset="0"/>
                    <a:ea typeface="微软雅黑" panose="020B0503020204020204" pitchFamily="34" charset="-122"/>
                    <a:cs typeface="Cambria Math" panose="02040503050406030204" pitchFamily="18" charset="0"/>
                  </a:rPr>
                  <a:t>对</a:t>
                </a:r>
                <a:r>
                  <a:rPr lang="en-US" altLang="zh-CN" sz="1800" dirty="0">
                    <a:latin typeface="Cambria Math" panose="02040503050406030204" pitchFamily="18" charset="0"/>
                    <a:ea typeface="微软雅黑" panose="020B0503020204020204" pitchFamily="34" charset="-122"/>
                    <a:cs typeface="Cambria Math" panose="02040503050406030204" pitchFamily="18" charset="0"/>
                  </a:rPr>
                  <a:t> </a:t>
                </a:r>
                <a14:m>
                  <m:oMath xmlns:m="http://schemas.openxmlformats.org/officeDocument/2006/math">
                    <m:r>
                      <a:rPr lang="en-US" altLang="zh-CN" sz="1800" i="1">
                        <a:latin typeface="Cambria Math" panose="02040503050406030204" pitchFamily="18" charset="0"/>
                        <a:ea typeface="微软雅黑" panose="020B0503020204020204" pitchFamily="34" charset="-122"/>
                        <a:cs typeface="Cambria Math" panose="02040503050406030204" pitchFamily="18" charset="0"/>
                      </a:rPr>
                      <m:t>𝑧</m:t>
                    </m:r>
                    <m:r>
                      <a:rPr lang="en-US" altLang="zh-CN" sz="1800" i="1">
                        <a:latin typeface="Cambria Math" panose="02040503050406030204" pitchFamily="18" charset="0"/>
                        <a:ea typeface="微软雅黑" panose="020B0503020204020204" pitchFamily="34" charset="-122"/>
                        <a:cs typeface="Cambria Math" panose="02040503050406030204" pitchFamily="18" charset="0"/>
                      </a:rPr>
                      <m:t>−</m:t>
                    </m:r>
                    <m:r>
                      <m:rPr>
                        <m:sty m:val="p"/>
                      </m:rPr>
                      <a:rPr lang="en-US" altLang="zh-CN" sz="1800" b="0" i="1" smtClean="0">
                        <a:latin typeface="Cambria Math" panose="02040503050406030204" pitchFamily="18" charset="0"/>
                        <a:ea typeface="微软雅黑" panose="020B0503020204020204" pitchFamily="34" charset="-122"/>
                        <a:cs typeface="Cambria Math" panose="02040503050406030204" pitchFamily="18" charset="0"/>
                      </a:rPr>
                      <m:t>t</m:t>
                    </m:r>
                  </m:oMath>
                </a14:m>
                <a:r>
                  <a:rPr lang="en-US" altLang="zh-CN" sz="1800" dirty="0">
                    <a:latin typeface="Cambria Math" panose="02040503050406030204" pitchFamily="18" charset="0"/>
                    <a:ea typeface="微软雅黑" panose="020B0503020204020204" pitchFamily="34" charset="-122"/>
                    <a:cs typeface="Cambria Math" panose="02040503050406030204" pitchFamily="18" charset="0"/>
                  </a:rPr>
                  <a:t> </a:t>
                </a:r>
                <a:r>
                  <a:rPr lang="zh-CN" altLang="en-US" sz="1800" dirty="0">
                    <a:latin typeface="Cambria Math" panose="02040503050406030204" pitchFamily="18" charset="0"/>
                    <a:ea typeface="微软雅黑" panose="020B0503020204020204" pitchFamily="34" charset="-122"/>
                    <a:cs typeface="Cambria Math" panose="02040503050406030204" pitchFamily="18" charset="0"/>
                  </a:rPr>
                  <a:t>图进行傅里叶分析，得到下图：</a:t>
                </a:r>
                <a:endParaRPr lang="zh-CN" altLang="en-US" sz="1800" dirty="0">
                  <a:latin typeface="Cambria Math" panose="02040503050406030204" pitchFamily="18" charset="0"/>
                  <a:ea typeface="微软雅黑" panose="020B0503020204020204" pitchFamily="34" charset="-122"/>
                  <a:cs typeface="Cambria Math" panose="02040503050406030204" pitchFamily="18"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422222" y="999179"/>
                <a:ext cx="4690745" cy="1955159"/>
              </a:xfrm>
              <a:prstGeom prst="rect">
                <a:avLst/>
              </a:prstGeom>
              <a:blipFill rotWithShape="1">
                <a:blip r:embed="rId1"/>
                <a:stretch>
                  <a:fillRect l="-12" t="-17" r="12" b="16"/>
                </a:stretch>
              </a:blipFill>
            </p:spPr>
            <p:txBody>
              <a:bodyPr/>
              <a:lstStyle/>
              <a:p>
                <a:r>
                  <a:rPr lang="zh-CN" altLang="en-US">
                    <a:noFill/>
                  </a:rPr>
                  <a:t> </a:t>
                </a:r>
              </a:p>
            </p:txBody>
          </p:sp>
        </mc:Fallback>
      </mc:AlternateContent>
      <p:sp>
        <p:nvSpPr>
          <p:cNvPr id="11" name="文本框 10"/>
          <p:cNvSpPr txBox="1"/>
          <p:nvPr/>
        </p:nvSpPr>
        <p:spPr>
          <a:xfrm>
            <a:off x="5588635" y="1085215"/>
            <a:ext cx="4747895" cy="374015"/>
          </a:xfrm>
          <a:prstGeom prst="rect">
            <a:avLst/>
          </a:prstGeom>
          <a:noFill/>
        </p:spPr>
        <p:txBody>
          <a:bodyPr wrap="square" rtlCol="0">
            <a:noAutofit/>
          </a:bodyPr>
          <a:lstStyle/>
          <a:p>
            <a:endParaRPr lang="zh-CN" altLang="en-US"/>
          </a:p>
        </p:txBody>
      </p:sp>
      <p:sp>
        <p:nvSpPr>
          <p:cNvPr id="4" name="文本框 3"/>
          <p:cNvSpPr txBox="1"/>
          <p:nvPr/>
        </p:nvSpPr>
        <p:spPr>
          <a:xfrm>
            <a:off x="5468232" y="999179"/>
            <a:ext cx="5837627" cy="1200329"/>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此时拍现象已经相对情况一而言不明显，但仍然可以看到振幅存在增大减小，而傅里叶分析只能显现一个峰，这是因为能量转化量很小，其中一个频率对应的振幅已经相当的小，隐没在了背景噪声中。</a:t>
            </a:r>
            <a:endParaRPr lang="zh-CN" altLang="en-US" dirty="0">
              <a:latin typeface="微软雅黑" panose="020B0503020204020204" pitchFamily="34" charset="-122"/>
              <a:ea typeface="微软雅黑" panose="020B0503020204020204" pitchFamily="34" charset="-122"/>
            </a:endParaRPr>
          </a:p>
        </p:txBody>
      </p:sp>
      <p:pic>
        <p:nvPicPr>
          <p:cNvPr id="12" name="图片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8679" y="3030504"/>
            <a:ext cx="4417829" cy="3382057"/>
          </a:xfrm>
          <a:prstGeom prst="rect">
            <a:avLst/>
          </a:prstGeom>
        </p:spPr>
      </p:pic>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68232" y="3030503"/>
            <a:ext cx="5837626" cy="316078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BB8F404-4D68-4CF1-A1D1-4545FFCFAAD6}" type="slidenum">
              <a:rPr kumimoji="0" lang="zh-CN" altLang="en-US" sz="2400" b="0" i="0" u="none" strike="noStrike" kern="1200" cap="none" spc="0" normalizeH="0" baseline="0" noProof="0" smtClean="0">
                <a:ln>
                  <a:noFill/>
                </a:ln>
                <a:solidFill>
                  <a:srgbClr val="9A0000"/>
                </a:solidFill>
                <a:effectLst/>
                <a:uLnTx/>
                <a:uFillTx/>
                <a:latin typeface="Calibri" panose="020F0502020204030204" pitchFamily="34" charset="0"/>
                <a:ea typeface="宋体" panose="02010600030101010101" pitchFamily="2" charset="-122"/>
                <a:cs typeface="+mn-cs"/>
              </a:rPr>
            </a:fld>
            <a:endParaRPr kumimoji="0" lang="zh-CN" altLang="en-US" sz="2400" b="0" i="0" u="none" strike="noStrike" kern="1200" cap="none" spc="0" normalizeH="0" baseline="0" noProof="0">
              <a:ln>
                <a:noFill/>
              </a:ln>
              <a:solidFill>
                <a:srgbClr val="9A0000"/>
              </a:solidFill>
              <a:effectLst/>
              <a:uLnTx/>
              <a:uFillTx/>
              <a:latin typeface="Calibri" panose="020F0502020204030204" pitchFamily="34" charset="0"/>
              <a:ea typeface="宋体" panose="02010600030101010101" pitchFamily="2" charset="-122"/>
              <a:cs typeface="+mn-cs"/>
            </a:endParaRPr>
          </a:p>
        </p:txBody>
      </p:sp>
      <p:grpSp>
        <p:nvGrpSpPr>
          <p:cNvPr id="6" name="组合 5"/>
          <p:cNvGrpSpPr/>
          <p:nvPr/>
        </p:nvGrpSpPr>
        <p:grpSpPr>
          <a:xfrm>
            <a:off x="-1" y="392113"/>
            <a:ext cx="4047564" cy="521970"/>
            <a:chOff x="0" y="392113"/>
            <a:chExt cx="3296118" cy="521970"/>
          </a:xfrm>
        </p:grpSpPr>
        <p:sp>
          <p:nvSpPr>
            <p:cNvPr id="7" name="文本框 6"/>
            <p:cNvSpPr txBox="1">
              <a:spLocks noChangeArrowheads="1"/>
            </p:cNvSpPr>
            <p:nvPr/>
          </p:nvSpPr>
          <p:spPr bwMode="auto">
            <a:xfrm>
              <a:off x="343836" y="392113"/>
              <a:ext cx="2952282"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lvl="0" eaLnBrk="1" hangingPunct="1">
                <a:defRPr/>
              </a:pPr>
              <a:r>
                <a:rPr lang="zh-CN" altLang="en-US" sz="2800" b="1" dirty="0">
                  <a:solidFill>
                    <a:srgbClr val="000000"/>
                  </a:solidFill>
                  <a:latin typeface="微软雅黑" panose="020B0503020204020204" pitchFamily="34" charset="-122"/>
                  <a:ea typeface="微软雅黑" panose="020B0503020204020204" pitchFamily="34" charset="-122"/>
                </a:rPr>
                <a:t>实验</a:t>
              </a:r>
              <a:r>
                <a:rPr lang="en-US" altLang="zh-CN" sz="2800" b="1" dirty="0">
                  <a:solidFill>
                    <a:srgbClr val="000000"/>
                  </a:solidFill>
                  <a:latin typeface="微软雅黑" panose="020B0503020204020204" pitchFamily="34" charset="-122"/>
                  <a:ea typeface="微软雅黑" panose="020B0503020204020204" pitchFamily="34" charset="-122"/>
                </a:rPr>
                <a:t>·</a:t>
              </a:r>
              <a:r>
                <a:rPr lang="zh-CN" altLang="en-US" sz="2800" b="1" dirty="0">
                  <a:solidFill>
                    <a:srgbClr val="000000"/>
                  </a:solidFill>
                  <a:latin typeface="微软雅黑" panose="020B0503020204020204" pitchFamily="34" charset="-122"/>
                  <a:ea typeface="微软雅黑" panose="020B0503020204020204" pitchFamily="34" charset="-122"/>
                </a:rPr>
                <a:t>情况 </a:t>
              </a:r>
              <a:r>
                <a:rPr lang="en-US" altLang="zh-CN" sz="2800" b="1" dirty="0">
                  <a:solidFill>
                    <a:srgbClr val="000000"/>
                  </a:solidFill>
                  <a:latin typeface="微软雅黑" panose="020B0503020204020204" pitchFamily="34" charset="-122"/>
                  <a:ea typeface="微软雅黑" panose="020B0503020204020204" pitchFamily="34" charset="-122"/>
                </a:rPr>
                <a:t>3</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 name="矩形 1"/>
            <p:cNvSpPr>
              <a:spLocks noChangeArrowheads="1"/>
            </p:cNvSpPr>
            <p:nvPr/>
          </p:nvSpPr>
          <p:spPr bwMode="auto">
            <a:xfrm>
              <a:off x="0" y="392113"/>
              <a:ext cx="290286" cy="463550"/>
            </a:xfrm>
            <a:prstGeom prst="rect">
              <a:avLst/>
            </a:prstGeom>
            <a:solidFill>
              <a:srgbClr val="9A0000"/>
            </a:soli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mc:AlternateContent xmlns:mc="http://schemas.openxmlformats.org/markup-compatibility/2006">
        <mc:Choice xmlns:a14="http://schemas.microsoft.com/office/drawing/2010/main" Requires="a14">
          <p:sp>
            <p:nvSpPr>
              <p:cNvPr id="3" name="文本框 2"/>
              <p:cNvSpPr txBox="1"/>
              <p:nvPr/>
            </p:nvSpPr>
            <p:spPr>
              <a:xfrm>
                <a:off x="422222" y="999179"/>
                <a:ext cx="4690745" cy="1955159"/>
              </a:xfrm>
              <a:prstGeom prst="rect">
                <a:avLst/>
              </a:prstGeom>
              <a:noFill/>
            </p:spPr>
            <p:txBody>
              <a:bodyPr wrap="square" rtlCol="0">
                <a:noAutofit/>
              </a:bodyPr>
              <a:lstStyle/>
              <a:p>
                <a:r>
                  <a:rPr lang="zh-CN" altLang="en-US" sz="1800" dirty="0">
                    <a:latin typeface="微软雅黑" panose="020B0503020204020204" pitchFamily="34" charset="-122"/>
                    <a:ea typeface="微软雅黑" panose="020B0503020204020204" pitchFamily="34" charset="-122"/>
                  </a:rPr>
                  <a:t>调节至 </a:t>
                </a:r>
                <a14:m>
                  <m:oMath xmlns:m="http://schemas.openxmlformats.org/officeDocument/2006/math">
                    <m:r>
                      <a:rPr lang="en-US" altLang="zh-CN" sz="1800" i="1" dirty="0" smtClean="0">
                        <a:latin typeface="Cambria Math" panose="02040503050406030204" pitchFamily="18" charset="0"/>
                        <a:ea typeface="微软雅黑" panose="020B0503020204020204" pitchFamily="34" charset="-122"/>
                        <a:cs typeface="Cambria Math" panose="02040503050406030204" pitchFamily="18" charset="0"/>
                      </a:rPr>
                      <m:t>𝑚</m:t>
                    </m:r>
                    <m:r>
                      <a:rPr lang="en-US" altLang="zh-CN" sz="1800" dirty="0">
                        <a:latin typeface="Cambria Math" panose="02040503050406030204" pitchFamily="18" charset="0"/>
                        <a:ea typeface="微软雅黑" panose="020B0503020204020204" pitchFamily="34" charset="-122"/>
                        <a:sym typeface="+mn-ea"/>
                      </a:rPr>
                      <m:t>=</m:t>
                    </m:r>
                    <m:r>
                      <a:rPr lang="en-US" altLang="zh-CN" sz="1800" dirty="0">
                        <a:latin typeface="Cambria Math" panose="02040503050406030204" pitchFamily="18" charset="0"/>
                        <a:ea typeface="微软雅黑" panose="020B0503020204020204" pitchFamily="34" charset="-122"/>
                        <a:sym typeface="+mn-ea"/>
                      </a:rPr>
                      <m:t>3</m:t>
                    </m:r>
                    <m:r>
                      <a:rPr lang="en-US" altLang="zh-CN" sz="1800" b="0" i="0" dirty="0" smtClean="0">
                        <a:latin typeface="Cambria Math" panose="02040503050406030204" pitchFamily="18" charset="0"/>
                        <a:ea typeface="微软雅黑" panose="020B0503020204020204" pitchFamily="34" charset="-122"/>
                        <a:sym typeface="+mn-ea"/>
                      </a:rPr>
                      <m:t>98</m:t>
                    </m:r>
                    <m:r>
                      <a:rPr lang="en-US" altLang="zh-CN" sz="1800" b="0" i="0" dirty="0" smtClean="0">
                        <a:latin typeface="Cambria Math" panose="02040503050406030204" pitchFamily="18" charset="0"/>
                        <a:ea typeface="微软雅黑" panose="020B0503020204020204" pitchFamily="34" charset="-122"/>
                        <a:sym typeface="+mn-ea"/>
                      </a:rPr>
                      <m:t>.</m:t>
                    </m:r>
                    <m:r>
                      <a:rPr lang="en-US" altLang="zh-CN" sz="1800" b="0" i="0" dirty="0" smtClean="0">
                        <a:latin typeface="Cambria Math" panose="02040503050406030204" pitchFamily="18" charset="0"/>
                        <a:ea typeface="微软雅黑" panose="020B0503020204020204" pitchFamily="34" charset="-122"/>
                        <a:sym typeface="+mn-ea"/>
                      </a:rPr>
                      <m:t>92</m:t>
                    </m:r>
                    <m:r>
                      <m:rPr>
                        <m:nor/>
                      </m:rPr>
                      <a:rPr lang="en-US" altLang="zh-CN" sz="1800" dirty="0">
                        <a:latin typeface="Cambria Math" panose="02040503050406030204" pitchFamily="18" charset="0"/>
                        <a:ea typeface="微软雅黑" panose="020B0503020204020204" pitchFamily="34" charset="-122"/>
                        <a:sym typeface="+mn-ea"/>
                      </a:rPr>
                      <m:t>g</m:t>
                    </m:r>
                  </m:oMath>
                </a14:m>
                <a:r>
                  <a:rPr lang="en-US" altLang="zh-CN" sz="1800" dirty="0">
                    <a:latin typeface="微软雅黑" panose="020B0503020204020204" pitchFamily="34" charset="-122"/>
                    <a:ea typeface="微软雅黑" panose="020B0503020204020204" pitchFamily="34" charset="-122"/>
                  </a:rPr>
                  <a:t>，</a:t>
                </a:r>
                <a14:m>
                  <m:oMath xmlns:m="http://schemas.openxmlformats.org/officeDocument/2006/math">
                    <m:r>
                      <a:rPr lang="en-US" altLang="zh-CN" sz="1800" i="1" dirty="0" smtClean="0">
                        <a:latin typeface="Cambria Math" panose="02040503050406030204" pitchFamily="18" charset="0"/>
                        <a:ea typeface="微软雅黑" panose="020B0503020204020204" pitchFamily="34" charset="-122"/>
                      </a:rPr>
                      <m:t>𝐼</m:t>
                    </m:r>
                    <m:r>
                      <a:rPr lang="en-US" altLang="zh-CN" sz="1800" i="1" dirty="0" smtClean="0">
                        <a:latin typeface="Cambria Math" panose="02040503050406030204" pitchFamily="18" charset="0"/>
                        <a:ea typeface="微软雅黑" panose="020B0503020204020204" pitchFamily="34" charset="-122"/>
                      </a:rPr>
                      <m:t>=</m:t>
                    </m:r>
                    <m:r>
                      <a:rPr lang="en-US" altLang="zh-CN" sz="1800" i="1" dirty="0" smtClean="0">
                        <a:latin typeface="Cambria Math" panose="02040503050406030204" pitchFamily="18" charset="0"/>
                        <a:ea typeface="微软雅黑" panose="020B0503020204020204" pitchFamily="34" charset="-122"/>
                      </a:rPr>
                      <m:t>7</m:t>
                    </m:r>
                    <m:r>
                      <a:rPr lang="en-US" altLang="zh-CN" sz="1800" i="1" dirty="0" smtClean="0">
                        <a:latin typeface="Cambria Math" panose="02040503050406030204" pitchFamily="18" charset="0"/>
                        <a:ea typeface="微软雅黑" panose="020B0503020204020204" pitchFamily="34" charset="-122"/>
                      </a:rPr>
                      <m:t>.</m:t>
                    </m:r>
                    <m:r>
                      <a:rPr lang="en-US" altLang="zh-CN" sz="1800" i="1" dirty="0" smtClean="0">
                        <a:latin typeface="Cambria Math" panose="02040503050406030204" pitchFamily="18" charset="0"/>
                        <a:ea typeface="微软雅黑" panose="020B0503020204020204" pitchFamily="34" charset="-122"/>
                      </a:rPr>
                      <m:t>39</m:t>
                    </m:r>
                    <m:r>
                      <a:rPr lang="en-US" altLang="zh-CN" sz="1800" i="1" dirty="0" smtClean="0">
                        <a:latin typeface="Cambria Math" panose="02040503050406030204" pitchFamily="18" charset="0"/>
                        <a:ea typeface="微软雅黑" panose="020B0503020204020204" pitchFamily="34" charset="-122"/>
                      </a:rPr>
                      <m:t>×</m:t>
                    </m:r>
                    <m:sSup>
                      <m:sSupPr>
                        <m:ctrlPr>
                          <a:rPr lang="en-US" altLang="zh-CN" sz="1800" i="1" dirty="0" smtClean="0">
                            <a:latin typeface="Cambria Math" panose="02040503050406030204" pitchFamily="18" charset="0"/>
                            <a:ea typeface="微软雅黑" panose="020B0503020204020204" pitchFamily="34" charset="-122"/>
                          </a:rPr>
                        </m:ctrlPr>
                      </m:sSupPr>
                      <m:e>
                        <m:r>
                          <a:rPr lang="en-US" altLang="zh-CN" sz="1800" i="1" dirty="0" smtClean="0">
                            <a:latin typeface="Cambria Math" panose="02040503050406030204" pitchFamily="18" charset="0"/>
                            <a:ea typeface="微软雅黑" panose="020B0503020204020204" pitchFamily="34" charset="-122"/>
                          </a:rPr>
                          <m:t>10</m:t>
                        </m:r>
                      </m:e>
                      <m:sup>
                        <m:r>
                          <a:rPr lang="en-US" altLang="zh-CN" sz="1800" i="1" dirty="0" smtClean="0">
                            <a:latin typeface="Cambria Math" panose="02040503050406030204" pitchFamily="18" charset="0"/>
                            <a:ea typeface="微软雅黑" panose="020B0503020204020204" pitchFamily="34" charset="-122"/>
                          </a:rPr>
                          <m:t>−</m:t>
                        </m:r>
                        <m:r>
                          <a:rPr lang="en-US" altLang="zh-CN" sz="1800" b="0" i="1" dirty="0" smtClean="0">
                            <a:latin typeface="Cambria Math" panose="02040503050406030204" pitchFamily="18" charset="0"/>
                            <a:ea typeface="微软雅黑" panose="020B0503020204020204" pitchFamily="34" charset="-122"/>
                          </a:rPr>
                          <m:t>5</m:t>
                        </m:r>
                      </m:sup>
                    </m:sSup>
                    <m:r>
                      <m:rPr>
                        <m:nor/>
                      </m:rPr>
                      <a:rPr lang="en-US" altLang="zh-CN" sz="1800" i="0" dirty="0" smtClean="0">
                        <a:latin typeface="Cambria Math" panose="02040503050406030204" pitchFamily="18" charset="0"/>
                        <a:ea typeface="微软雅黑" panose="020B0503020204020204" pitchFamily="34" charset="-122"/>
                      </a:rPr>
                      <m:t>kg</m:t>
                    </m:r>
                    <m:r>
                      <m:rPr>
                        <m:nor/>
                      </m:rPr>
                      <a:rPr lang="en-US" altLang="zh-CN" sz="1800" i="0" dirty="0" smtClean="0">
                        <a:latin typeface="Cambria Math" panose="02040503050406030204" pitchFamily="18" charset="0"/>
                        <a:ea typeface="微软雅黑" panose="020B0503020204020204" pitchFamily="34" charset="-122"/>
                      </a:rPr>
                      <m:t>⋅</m:t>
                    </m:r>
                    <m:sSup>
                      <m:sSupPr>
                        <m:ctrlPr>
                          <a:rPr lang="en-US" altLang="zh-CN" sz="1800" i="0" dirty="0" smtClean="0">
                            <a:latin typeface="Cambria Math" panose="02040503050406030204" pitchFamily="18" charset="0"/>
                            <a:ea typeface="微软雅黑" panose="020B0503020204020204" pitchFamily="34" charset="-122"/>
                          </a:rPr>
                        </m:ctrlPr>
                      </m:sSupPr>
                      <m:e>
                        <m:r>
                          <m:rPr>
                            <m:nor/>
                          </m:rPr>
                          <a:rPr lang="en-US" altLang="zh-CN" sz="1800" i="0" dirty="0" smtClean="0">
                            <a:latin typeface="Cambria Math" panose="02040503050406030204" pitchFamily="18" charset="0"/>
                            <a:ea typeface="微软雅黑" panose="020B0503020204020204" pitchFamily="34" charset="-122"/>
                          </a:rPr>
                          <m:t>m</m:t>
                        </m:r>
                      </m:e>
                      <m:sup>
                        <m:r>
                          <m:rPr>
                            <m:nor/>
                          </m:rPr>
                          <a:rPr lang="en-US" altLang="zh-CN" sz="1800" i="0" dirty="0" smtClean="0">
                            <a:latin typeface="Cambria Math" panose="02040503050406030204" pitchFamily="18" charset="0"/>
                            <a:ea typeface="微软雅黑" panose="020B0503020204020204" pitchFamily="34" charset="-122"/>
                          </a:rPr>
                          <m:t>2</m:t>
                        </m:r>
                      </m:sup>
                    </m:sSup>
                  </m:oMath>
                </a14:m>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时，计算得到 </a:t>
                </a:r>
                <a14:m>
                  <m:oMath xmlns:m="http://schemas.openxmlformats.org/officeDocument/2006/math">
                    <m:sSub>
                      <m:sSubPr>
                        <m:ctrlPr>
                          <a:rPr lang="en-US" altLang="zh-CN" sz="1800" i="1" dirty="0" smtClean="0">
                            <a:latin typeface="Cambria Math" panose="02040503050406030204" pitchFamily="18" charset="0"/>
                            <a:ea typeface="微软雅黑" panose="020B0503020204020204" pitchFamily="34" charset="-122"/>
                          </a:rPr>
                        </m:ctrlPr>
                      </m:sSubPr>
                      <m:e>
                        <m:r>
                          <a:rPr lang="zh-CN" altLang="en-US" sz="1800" i="1" dirty="0" smtClean="0">
                            <a:latin typeface="Cambria Math" panose="02040503050406030204" pitchFamily="18" charset="0"/>
                            <a:ea typeface="微软雅黑" panose="020B0503020204020204" pitchFamily="34" charset="-122"/>
                          </a:rPr>
                          <m:t>𝜔</m:t>
                        </m:r>
                      </m:e>
                      <m:sub>
                        <m:r>
                          <a:rPr lang="en-US" altLang="zh-CN" sz="1800" i="1" dirty="0" err="1">
                            <a:latin typeface="Cambria Math" panose="02040503050406030204" pitchFamily="18" charset="0"/>
                            <a:ea typeface="微软雅黑" panose="020B0503020204020204" pitchFamily="34" charset="-122"/>
                          </a:rPr>
                          <m:t>𝑧</m:t>
                        </m:r>
                      </m:sub>
                    </m:sSub>
                    <m:r>
                      <a:rPr lang="en-US" altLang="zh-CN" sz="1800" i="1" dirty="0">
                        <a:latin typeface="Cambria Math" panose="02040503050406030204" pitchFamily="18" charset="0"/>
                        <a:ea typeface="微软雅黑" panose="020B0503020204020204" pitchFamily="34" charset="-122"/>
                      </a:rPr>
                      <m:t>=</m:t>
                    </m:r>
                    <m:r>
                      <a:rPr lang="en-US" altLang="zh-CN" sz="1800" i="1" dirty="0">
                        <a:latin typeface="Cambria Math" panose="02040503050406030204" pitchFamily="18" charset="0"/>
                        <a:ea typeface="微软雅黑" panose="020B0503020204020204" pitchFamily="34" charset="-122"/>
                      </a:rPr>
                      <m:t>3</m:t>
                    </m:r>
                    <m:r>
                      <a:rPr lang="en-US" altLang="zh-CN" sz="1800" i="1" dirty="0">
                        <a:latin typeface="Cambria Math" panose="02040503050406030204" pitchFamily="18" charset="0"/>
                        <a:ea typeface="微软雅黑" panose="020B0503020204020204" pitchFamily="34" charset="-122"/>
                      </a:rPr>
                      <m:t>.</m:t>
                    </m:r>
                    <m:r>
                      <m:rPr>
                        <m:nor/>
                      </m:rPr>
                      <a:rPr lang="en-US" altLang="zh-CN" sz="1800" b="0" i="0" dirty="0" smtClean="0">
                        <a:latin typeface="Cambria Math" panose="02040503050406030204" pitchFamily="18" charset="0"/>
                        <a:ea typeface="微软雅黑" panose="020B0503020204020204" pitchFamily="34" charset="-122"/>
                      </a:rPr>
                      <m:t>04</m:t>
                    </m:r>
                    <m:r>
                      <m:rPr>
                        <m:nor/>
                      </m:rPr>
                      <a:rPr lang="en-US" altLang="zh-CN" sz="1800" i="0" dirty="0">
                        <a:latin typeface="Cambria Math" panose="02040503050406030204" pitchFamily="18" charset="0"/>
                        <a:ea typeface="微软雅黑" panose="020B0503020204020204" pitchFamily="34" charset="-122"/>
                      </a:rPr>
                      <m:t>rad</m:t>
                    </m:r>
                    <m:r>
                      <m:rPr>
                        <m:nor/>
                      </m:rPr>
                      <a:rPr lang="en-US" altLang="zh-CN" sz="1800" i="0" dirty="0">
                        <a:latin typeface="Cambria Math" panose="02040503050406030204" pitchFamily="18" charset="0"/>
                        <a:ea typeface="微软雅黑" panose="020B0503020204020204" pitchFamily="34" charset="-122"/>
                      </a:rPr>
                      <m:t>/</m:t>
                    </m:r>
                    <m:r>
                      <m:rPr>
                        <m:nor/>
                      </m:rPr>
                      <a:rPr lang="en-US" altLang="zh-CN" sz="1800" i="0" dirty="0">
                        <a:latin typeface="Cambria Math" panose="02040503050406030204" pitchFamily="18" charset="0"/>
                        <a:ea typeface="微软雅黑" panose="020B0503020204020204" pitchFamily="34" charset="-122"/>
                      </a:rPr>
                      <m:t>s</m:t>
                    </m:r>
                    <m:r>
                      <a:rPr lang="zh-CN" altLang="en-US" i="1" dirty="0">
                        <a:latin typeface="Cambria Math" panose="02040503050406030204" pitchFamily="18" charset="0"/>
                        <a:ea typeface="微软雅黑" panose="020B0503020204020204" pitchFamily="34" charset="-122"/>
                      </a:rPr>
                      <m:t>，</m:t>
                    </m:r>
                    <m:sSub>
                      <m:sSubPr>
                        <m:ctrlPr>
                          <a:rPr lang="en-US" altLang="zh-CN" sz="1800" i="1" dirty="0" smtClean="0">
                            <a:latin typeface="Cambria Math" panose="02040503050406030204" pitchFamily="18" charset="0"/>
                            <a:ea typeface="微软雅黑" panose="020B0503020204020204" pitchFamily="34" charset="-122"/>
                          </a:rPr>
                        </m:ctrlPr>
                      </m:sSubPr>
                      <m:e>
                        <m:r>
                          <a:rPr lang="en-US" altLang="zh-CN" sz="1800" i="1" dirty="0" smtClean="0">
                            <a:latin typeface="Cambria Math" panose="02040503050406030204" pitchFamily="18" charset="0"/>
                            <a:ea typeface="微软雅黑" panose="020B0503020204020204" pitchFamily="34" charset="-122"/>
                          </a:rPr>
                          <m:t>𝜔</m:t>
                        </m:r>
                      </m:e>
                      <m:sub>
                        <m:r>
                          <a:rPr lang="en-US" altLang="zh-CN" sz="1800" i="1" dirty="0">
                            <a:latin typeface="Cambria Math" panose="02040503050406030204" pitchFamily="18" charset="0"/>
                            <a:ea typeface="微软雅黑" panose="020B0503020204020204" pitchFamily="34" charset="-122"/>
                          </a:rPr>
                          <m:t>𝜃</m:t>
                        </m:r>
                      </m:sub>
                    </m:sSub>
                    <m:r>
                      <a:rPr lang="en-US" altLang="zh-CN" sz="1800" i="1" dirty="0">
                        <a:latin typeface="Cambria Math" panose="02040503050406030204" pitchFamily="18" charset="0"/>
                        <a:ea typeface="微软雅黑" panose="020B0503020204020204" pitchFamily="34" charset="-122"/>
                      </a:rPr>
                      <m:t>=</m:t>
                    </m:r>
                    <m:r>
                      <m:rPr>
                        <m:nor/>
                      </m:rPr>
                      <a:rPr lang="en-US" altLang="zh-CN" sz="1800" b="0" i="0" dirty="0" smtClean="0">
                        <a:latin typeface="Cambria Math" panose="02040503050406030204" pitchFamily="18" charset="0"/>
                        <a:ea typeface="微软雅黑" panose="020B0503020204020204" pitchFamily="34" charset="-122"/>
                      </a:rPr>
                      <m:t>0</m:t>
                    </m:r>
                    <m:r>
                      <m:rPr>
                        <m:nor/>
                      </m:rPr>
                      <a:rPr lang="en-US" altLang="zh-CN" sz="1800" b="0" i="0" dirty="0" smtClean="0">
                        <a:latin typeface="Cambria Math" panose="02040503050406030204" pitchFamily="18" charset="0"/>
                        <a:ea typeface="微软雅黑" panose="020B0503020204020204" pitchFamily="34" charset="-122"/>
                      </a:rPr>
                      <m:t>.</m:t>
                    </m:r>
                    <m:r>
                      <m:rPr>
                        <m:nor/>
                      </m:rPr>
                      <a:rPr lang="en-US" altLang="zh-CN" sz="1800" b="0" i="0" dirty="0" smtClean="0">
                        <a:latin typeface="Cambria Math" panose="02040503050406030204" pitchFamily="18" charset="0"/>
                        <a:ea typeface="微软雅黑" panose="020B0503020204020204" pitchFamily="34" charset="-122"/>
                      </a:rPr>
                      <m:t>75</m:t>
                    </m:r>
                    <m:r>
                      <m:rPr>
                        <m:nor/>
                      </m:rPr>
                      <a:rPr lang="en-US" altLang="zh-CN" sz="1800" i="0" dirty="0">
                        <a:latin typeface="Cambria Math" panose="02040503050406030204" pitchFamily="18" charset="0"/>
                        <a:ea typeface="微软雅黑" panose="020B0503020204020204" pitchFamily="34" charset="-122"/>
                      </a:rPr>
                      <m:t>rad</m:t>
                    </m:r>
                    <m:r>
                      <m:rPr>
                        <m:nor/>
                      </m:rPr>
                      <a:rPr lang="en-US" altLang="zh-CN" sz="1800" i="0" dirty="0">
                        <a:latin typeface="Cambria Math" panose="02040503050406030204" pitchFamily="18" charset="0"/>
                        <a:ea typeface="微软雅黑" panose="020B0503020204020204" pitchFamily="34" charset="-122"/>
                      </a:rPr>
                      <m:t>/</m:t>
                    </m:r>
                    <m:r>
                      <m:rPr>
                        <m:nor/>
                      </m:rPr>
                      <a:rPr lang="en-US" altLang="zh-CN" sz="1800" i="0" dirty="0" smtClean="0">
                        <a:latin typeface="Cambria Math" panose="02040503050406030204" pitchFamily="18" charset="0"/>
                        <a:ea typeface="微软雅黑" panose="020B0503020204020204" pitchFamily="34" charset="-122"/>
                      </a:rPr>
                      <m:t>s</m:t>
                    </m:r>
                  </m:oMath>
                </a14:m>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此时 </a:t>
                </a:r>
                <a14:m>
                  <m:oMath xmlns:m="http://schemas.openxmlformats.org/officeDocument/2006/math">
                    <m:sSub>
                      <m:sSubPr>
                        <m:ctrlPr>
                          <a:rPr lang="en-US" altLang="zh-CN" sz="1800" i="1" dirty="0" smtClean="0">
                            <a:latin typeface="Cambria Math" panose="02040503050406030204" pitchFamily="18" charset="0"/>
                            <a:ea typeface="微软雅黑" panose="020B0503020204020204" pitchFamily="34" charset="-122"/>
                          </a:rPr>
                        </m:ctrlPr>
                      </m:sSubPr>
                      <m:e>
                        <m:r>
                          <a:rPr lang="zh-CN" altLang="en-US" sz="1800" i="1" dirty="0" smtClean="0">
                            <a:latin typeface="Cambria Math" panose="02040503050406030204" pitchFamily="18" charset="0"/>
                            <a:ea typeface="微软雅黑" panose="020B0503020204020204" pitchFamily="34" charset="-122"/>
                          </a:rPr>
                          <m:t>𝜔</m:t>
                        </m:r>
                      </m:e>
                      <m:sub>
                        <m:r>
                          <a:rPr lang="en-US" altLang="zh-CN" sz="1800" i="1" dirty="0" err="1" smtClean="0">
                            <a:latin typeface="Cambria Math" panose="02040503050406030204" pitchFamily="18" charset="0"/>
                            <a:ea typeface="微软雅黑" panose="020B0503020204020204" pitchFamily="34" charset="-122"/>
                          </a:rPr>
                          <m:t>𝑧</m:t>
                        </m:r>
                      </m:sub>
                    </m:sSub>
                  </m:oMath>
                </a14:m>
                <a:r>
                  <a:rPr lang="zh-CN" altLang="en-US" sz="1800" dirty="0">
                    <a:latin typeface="微软雅黑" panose="020B0503020204020204" pitchFamily="34" charset="-122"/>
                    <a:ea typeface="微软雅黑" panose="020B0503020204020204" pitchFamily="34" charset="-122"/>
                  </a:rPr>
                  <a:t> 和 </a:t>
                </a:r>
                <a14:m>
                  <m:oMath xmlns:m="http://schemas.openxmlformats.org/officeDocument/2006/math">
                    <m:sSub>
                      <m:sSubPr>
                        <m:ctrlPr>
                          <a:rPr lang="en-US" altLang="zh-CN" sz="1800" i="1" dirty="0" smtClean="0">
                            <a:latin typeface="Cambria Math" panose="02040503050406030204" pitchFamily="18" charset="0"/>
                            <a:ea typeface="微软雅黑" panose="020B0503020204020204" pitchFamily="34" charset="-122"/>
                          </a:rPr>
                        </m:ctrlPr>
                      </m:sSubPr>
                      <m:e>
                        <m:r>
                          <a:rPr lang="zh-CN" altLang="en-US" sz="1800" i="1" dirty="0" smtClean="0">
                            <a:latin typeface="Cambria Math" panose="02040503050406030204" pitchFamily="18" charset="0"/>
                            <a:ea typeface="微软雅黑" panose="020B0503020204020204" pitchFamily="34" charset="-122"/>
                          </a:rPr>
                          <m:t>𝜔</m:t>
                        </m:r>
                      </m:e>
                      <m:sub>
                        <m:r>
                          <a:rPr lang="en-US" altLang="zh-CN" sz="1800" i="1" dirty="0">
                            <a:latin typeface="Cambria Math" panose="02040503050406030204" pitchFamily="18" charset="0"/>
                            <a:ea typeface="微软雅黑" panose="020B0503020204020204" pitchFamily="34" charset="-122"/>
                          </a:rPr>
                          <m:t>𝜃</m:t>
                        </m:r>
                      </m:sub>
                    </m:sSub>
                  </m:oMath>
                </a14:m>
                <a:r>
                  <a:rPr lang="zh-CN" altLang="en-US" sz="1800"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差别更大</a:t>
                </a:r>
                <a:r>
                  <a:rPr lang="zh-CN" altLang="en-US" sz="1800" dirty="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a:p>
                <a:r>
                  <a:rPr lang="zh-CN" altLang="en-US" sz="1800" dirty="0">
                    <a:latin typeface="微软雅黑" panose="020B0503020204020204" pitchFamily="34" charset="-122"/>
                    <a:ea typeface="微软雅黑" panose="020B0503020204020204" pitchFamily="34" charset="-122"/>
                  </a:rPr>
                  <a:t>利用</a:t>
                </a:r>
                <a:r>
                  <a:rPr lang="en-US" altLang="zh-CN" sz="1800" dirty="0">
                    <a:latin typeface="微软雅黑" panose="020B0503020204020204" pitchFamily="34" charset="-122"/>
                    <a:ea typeface="微软雅黑" panose="020B0503020204020204" pitchFamily="34" charset="-122"/>
                  </a:rPr>
                  <a:t>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Tracker </a:t>
                </a:r>
                <a:r>
                  <a:rPr lang="zh-CN" altLang="en-US" sz="1800" dirty="0">
                    <a:latin typeface="微软雅黑" panose="020B0503020204020204" pitchFamily="34" charset="-122"/>
                    <a:ea typeface="微软雅黑" panose="020B0503020204020204" pitchFamily="34" charset="-122"/>
                  </a:rPr>
                  <a:t>做出摆的</a:t>
                </a:r>
                <a:r>
                  <a:rPr lang="en-US" altLang="zh-CN" sz="1800" dirty="0">
                    <a:latin typeface="微软雅黑" panose="020B0503020204020204" pitchFamily="34" charset="-122"/>
                    <a:ea typeface="微软雅黑" panose="020B0503020204020204" pitchFamily="34" charset="-122"/>
                  </a:rPr>
                  <a:t> </a:t>
                </a:r>
                <a14:m>
                  <m:oMath xmlns:m="http://schemas.openxmlformats.org/officeDocument/2006/math">
                    <m:r>
                      <a:rPr lang="en-US" altLang="zh-CN" sz="1800" i="1">
                        <a:latin typeface="Cambria Math" panose="02040503050406030204" pitchFamily="18" charset="0"/>
                        <a:ea typeface="微软雅黑" panose="020B0503020204020204" pitchFamily="34" charset="-122"/>
                        <a:cs typeface="Cambria Math" panose="02040503050406030204" pitchFamily="18" charset="0"/>
                      </a:rPr>
                      <m:t>𝑧</m:t>
                    </m:r>
                    <m:r>
                      <a:rPr lang="en-US" altLang="zh-CN" sz="1800" i="1">
                        <a:latin typeface="Cambria Math" panose="02040503050406030204" pitchFamily="18" charset="0"/>
                        <a:ea typeface="微软雅黑" panose="020B0503020204020204" pitchFamily="34" charset="-122"/>
                        <a:cs typeface="Cambria Math" panose="02040503050406030204" pitchFamily="18" charset="0"/>
                      </a:rPr>
                      <m:t>−</m:t>
                    </m:r>
                    <m:r>
                      <a:rPr lang="en-US" altLang="zh-CN" sz="1800" i="1">
                        <a:latin typeface="Cambria Math" panose="02040503050406030204" pitchFamily="18" charset="0"/>
                        <a:ea typeface="微软雅黑" panose="020B0503020204020204" pitchFamily="34" charset="-122"/>
                        <a:cs typeface="Cambria Math" panose="02040503050406030204" pitchFamily="18" charset="0"/>
                      </a:rPr>
                      <m:t>𝑡</m:t>
                    </m:r>
                  </m:oMath>
                </a14:m>
                <a:r>
                  <a:rPr lang="en-US" altLang="zh-CN" sz="1800" i="1" dirty="0">
                    <a:latin typeface="Cambria Math" panose="02040503050406030204" pitchFamily="18" charset="0"/>
                    <a:ea typeface="微软雅黑" panose="020B0503020204020204" pitchFamily="34" charset="-122"/>
                    <a:cs typeface="Cambria Math" panose="02040503050406030204" pitchFamily="18" charset="0"/>
                  </a:rPr>
                  <a:t> </a:t>
                </a:r>
                <a:r>
                  <a:rPr lang="zh-CN" altLang="en-US" sz="1800" dirty="0">
                    <a:latin typeface="Cambria Math" panose="02040503050406030204" pitchFamily="18" charset="0"/>
                    <a:ea typeface="微软雅黑" panose="020B0503020204020204" pitchFamily="34" charset="-122"/>
                    <a:cs typeface="Cambria Math" panose="02040503050406030204" pitchFamily="18" charset="0"/>
                  </a:rPr>
                  <a:t>和</a:t>
                </a:r>
                <a:r>
                  <a:rPr lang="en-US" altLang="zh-CN" sz="1800" dirty="0">
                    <a:latin typeface="Cambria Math" panose="02040503050406030204" pitchFamily="18" charset="0"/>
                    <a:ea typeface="微软雅黑" panose="020B0503020204020204" pitchFamily="34" charset="-122"/>
                    <a:cs typeface="Cambria Math" panose="02040503050406030204" pitchFamily="18" charset="0"/>
                  </a:rPr>
                  <a:t> </a:t>
                </a:r>
                <a14:m>
                  <m:oMath xmlns:m="http://schemas.openxmlformats.org/officeDocument/2006/math">
                    <m:r>
                      <a:rPr lang="en-US" altLang="zh-CN" sz="1800" i="1">
                        <a:latin typeface="Cambria Math" panose="02040503050406030204" pitchFamily="18" charset="0"/>
                        <a:ea typeface="微软雅黑" panose="020B0503020204020204" pitchFamily="34" charset="-122"/>
                        <a:cs typeface="Cambria Math" panose="02040503050406030204" pitchFamily="18" charset="0"/>
                      </a:rPr>
                      <m:t>𝜃</m:t>
                    </m:r>
                    <m:r>
                      <a:rPr lang="en-US" altLang="zh-CN" sz="1800" i="1">
                        <a:latin typeface="Cambria Math" panose="02040503050406030204" pitchFamily="18" charset="0"/>
                        <a:ea typeface="微软雅黑" panose="020B0503020204020204" pitchFamily="34" charset="-122"/>
                        <a:cs typeface="Cambria Math" panose="02040503050406030204" pitchFamily="18" charset="0"/>
                      </a:rPr>
                      <m:t>−</m:t>
                    </m:r>
                    <m:r>
                      <m:rPr>
                        <m:sty m:val="p"/>
                      </m:rPr>
                      <a:rPr lang="en-US" altLang="zh-CN" sz="1800" b="0" i="1" smtClean="0">
                        <a:latin typeface="Cambria Math" panose="02040503050406030204" pitchFamily="18" charset="0"/>
                        <a:ea typeface="微软雅黑" panose="020B0503020204020204" pitchFamily="34" charset="-122"/>
                        <a:cs typeface="Cambria Math" panose="02040503050406030204" pitchFamily="18" charset="0"/>
                      </a:rPr>
                      <m:t>t</m:t>
                    </m:r>
                  </m:oMath>
                </a14:m>
                <a:r>
                  <a:rPr lang="en-US" altLang="zh-CN" sz="1800" dirty="0">
                    <a:latin typeface="Cambria Math" panose="02040503050406030204" pitchFamily="18" charset="0"/>
                    <a:ea typeface="微软雅黑" panose="020B0503020204020204" pitchFamily="34" charset="-122"/>
                    <a:cs typeface="Cambria Math" panose="02040503050406030204" pitchFamily="18" charset="0"/>
                  </a:rPr>
                  <a:t> </a:t>
                </a:r>
                <a:r>
                  <a:rPr lang="zh-CN" altLang="en-US" sz="1800" dirty="0">
                    <a:latin typeface="Cambria Math" panose="02040503050406030204" pitchFamily="18" charset="0"/>
                    <a:ea typeface="微软雅黑" panose="020B0503020204020204" pitchFamily="34" charset="-122"/>
                    <a:cs typeface="Cambria Math" panose="02040503050406030204" pitchFamily="18" charset="0"/>
                  </a:rPr>
                  <a:t>图，并使用</a:t>
                </a:r>
                <a:r>
                  <a:rPr lang="en-US" altLang="zh-CN" sz="1800" dirty="0">
                    <a:latin typeface="Cambria Math" panose="02040503050406030204" pitchFamily="18" charset="0"/>
                    <a:ea typeface="微软雅黑" panose="020B0503020204020204" pitchFamily="34" charset="-122"/>
                    <a:cs typeface="Cambria Math" panose="02040503050406030204" pitchFamily="18" charset="0"/>
                  </a:rPr>
                  <a:t>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Origin </a:t>
                </a:r>
                <a:r>
                  <a:rPr lang="zh-CN" altLang="en-US" sz="1800" dirty="0">
                    <a:latin typeface="Cambria Math" panose="02040503050406030204" pitchFamily="18" charset="0"/>
                    <a:ea typeface="微软雅黑" panose="020B0503020204020204" pitchFamily="34" charset="-122"/>
                    <a:cs typeface="Cambria Math" panose="02040503050406030204" pitchFamily="18" charset="0"/>
                  </a:rPr>
                  <a:t>对</a:t>
                </a:r>
                <a:r>
                  <a:rPr lang="en-US" altLang="zh-CN" sz="1800" dirty="0">
                    <a:latin typeface="Cambria Math" panose="02040503050406030204" pitchFamily="18" charset="0"/>
                    <a:ea typeface="微软雅黑" panose="020B0503020204020204" pitchFamily="34" charset="-122"/>
                    <a:cs typeface="Cambria Math" panose="02040503050406030204" pitchFamily="18" charset="0"/>
                  </a:rPr>
                  <a:t> </a:t>
                </a:r>
                <a14:m>
                  <m:oMath xmlns:m="http://schemas.openxmlformats.org/officeDocument/2006/math">
                    <m:r>
                      <a:rPr lang="en-US" altLang="zh-CN" sz="1800" i="1">
                        <a:latin typeface="Cambria Math" panose="02040503050406030204" pitchFamily="18" charset="0"/>
                        <a:ea typeface="微软雅黑" panose="020B0503020204020204" pitchFamily="34" charset="-122"/>
                        <a:cs typeface="Cambria Math" panose="02040503050406030204" pitchFamily="18" charset="0"/>
                      </a:rPr>
                      <m:t>𝑧</m:t>
                    </m:r>
                    <m:r>
                      <a:rPr lang="en-US" altLang="zh-CN" sz="1800" i="1">
                        <a:latin typeface="Cambria Math" panose="02040503050406030204" pitchFamily="18" charset="0"/>
                        <a:ea typeface="微软雅黑" panose="020B0503020204020204" pitchFamily="34" charset="-122"/>
                        <a:cs typeface="Cambria Math" panose="02040503050406030204" pitchFamily="18" charset="0"/>
                      </a:rPr>
                      <m:t>−</m:t>
                    </m:r>
                    <m:r>
                      <m:rPr>
                        <m:sty m:val="p"/>
                      </m:rPr>
                      <a:rPr lang="en-US" altLang="zh-CN" sz="1800" b="0" i="1" smtClean="0">
                        <a:latin typeface="Cambria Math" panose="02040503050406030204" pitchFamily="18" charset="0"/>
                        <a:ea typeface="微软雅黑" panose="020B0503020204020204" pitchFamily="34" charset="-122"/>
                        <a:cs typeface="Cambria Math" panose="02040503050406030204" pitchFamily="18" charset="0"/>
                      </a:rPr>
                      <m:t>t</m:t>
                    </m:r>
                  </m:oMath>
                </a14:m>
                <a:r>
                  <a:rPr lang="en-US" altLang="zh-CN" sz="1800" dirty="0">
                    <a:latin typeface="Cambria Math" panose="02040503050406030204" pitchFamily="18" charset="0"/>
                    <a:ea typeface="微软雅黑" panose="020B0503020204020204" pitchFamily="34" charset="-122"/>
                    <a:cs typeface="Cambria Math" panose="02040503050406030204" pitchFamily="18" charset="0"/>
                  </a:rPr>
                  <a:t> </a:t>
                </a:r>
                <a:r>
                  <a:rPr lang="zh-CN" altLang="en-US" sz="1800" dirty="0">
                    <a:latin typeface="Cambria Math" panose="02040503050406030204" pitchFamily="18" charset="0"/>
                    <a:ea typeface="微软雅黑" panose="020B0503020204020204" pitchFamily="34" charset="-122"/>
                    <a:cs typeface="Cambria Math" panose="02040503050406030204" pitchFamily="18" charset="0"/>
                  </a:rPr>
                  <a:t>图进行傅里叶分析，得到下图：</a:t>
                </a:r>
                <a:endParaRPr lang="zh-CN" altLang="en-US" sz="1800" dirty="0">
                  <a:latin typeface="Cambria Math" panose="02040503050406030204" pitchFamily="18" charset="0"/>
                  <a:ea typeface="微软雅黑" panose="020B0503020204020204" pitchFamily="34" charset="-122"/>
                  <a:cs typeface="Cambria Math" panose="02040503050406030204" pitchFamily="18"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422222" y="999179"/>
                <a:ext cx="4690745" cy="1955159"/>
              </a:xfrm>
              <a:prstGeom prst="rect">
                <a:avLst/>
              </a:prstGeom>
              <a:blipFill rotWithShape="1">
                <a:blip r:embed="rId1"/>
                <a:stretch>
                  <a:fillRect l="-12" t="-17" r="12" b="16"/>
                </a:stretch>
              </a:blipFill>
            </p:spPr>
            <p:txBody>
              <a:bodyPr/>
              <a:lstStyle/>
              <a:p>
                <a:r>
                  <a:rPr lang="zh-CN" altLang="en-US">
                    <a:noFill/>
                  </a:rPr>
                  <a:t> </a:t>
                </a:r>
              </a:p>
            </p:txBody>
          </p:sp>
        </mc:Fallback>
      </mc:AlternateContent>
      <p:sp>
        <p:nvSpPr>
          <p:cNvPr id="11" name="文本框 10"/>
          <p:cNvSpPr txBox="1"/>
          <p:nvPr/>
        </p:nvSpPr>
        <p:spPr>
          <a:xfrm>
            <a:off x="5588635" y="1085215"/>
            <a:ext cx="4747895" cy="374015"/>
          </a:xfrm>
          <a:prstGeom prst="rect">
            <a:avLst/>
          </a:prstGeom>
          <a:noFill/>
        </p:spPr>
        <p:txBody>
          <a:bodyPr wrap="square" rtlCol="0">
            <a:noAutofit/>
          </a:bodyPr>
          <a:lstStyle/>
          <a:p>
            <a:endParaRPr lang="zh-CN" altLang="en-US"/>
          </a:p>
        </p:txBody>
      </p:sp>
      <p:sp>
        <p:nvSpPr>
          <p:cNvPr id="4" name="文本框 3"/>
          <p:cNvSpPr txBox="1"/>
          <p:nvPr/>
        </p:nvSpPr>
        <p:spPr>
          <a:xfrm>
            <a:off x="5468232" y="999179"/>
            <a:ext cx="5837627" cy="1754326"/>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此时拍现象已经近乎完全消失。傅里叶分析只能显现一个峰，耦合现象已经近乎消失了。</a:t>
            </a:r>
            <a:endParaRPr lang="zh-CN" altLang="en-US"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在这一情况下，扭转运动和竖直振动同样会进行能量的相互转移，但是扭转的振幅太小，使得竖直振动向扭转运动能量的转化相较于竖直振动本身极小，几乎可以忽略，这也导致了拍现象几乎完全消失。</a:t>
            </a:r>
            <a:endParaRPr lang="zh-CN" altLang="en-US" dirty="0">
              <a:latin typeface="微软雅黑" panose="020B0503020204020204" pitchFamily="34" charset="-122"/>
              <a:ea typeface="微软雅黑" panose="020B0503020204020204" pitchFamily="34" charset="-122"/>
            </a:endParaRPr>
          </a:p>
        </p:txBody>
      </p:sp>
      <p:pic>
        <p:nvPicPr>
          <p:cNvPr id="5" name="图片 4" descr="5"/>
          <p:cNvPicPr>
            <a:picLocks noChangeAspect="1"/>
          </p:cNvPicPr>
          <p:nvPr/>
        </p:nvPicPr>
        <p:blipFill>
          <a:blip r:embed="rId2"/>
          <a:stretch>
            <a:fillRect/>
          </a:stretch>
        </p:blipFill>
        <p:spPr>
          <a:xfrm>
            <a:off x="422275" y="2915920"/>
            <a:ext cx="4741545" cy="3629660"/>
          </a:xfrm>
          <a:prstGeom prst="rect">
            <a:avLst/>
          </a:prstGeom>
        </p:spPr>
      </p:pic>
      <p:pic>
        <p:nvPicPr>
          <p:cNvPr id="9" name="图片 8" descr="6"/>
          <p:cNvPicPr>
            <a:picLocks noChangeAspect="1"/>
          </p:cNvPicPr>
          <p:nvPr/>
        </p:nvPicPr>
        <p:blipFill>
          <a:blip r:embed="rId3"/>
          <a:stretch>
            <a:fillRect/>
          </a:stretch>
        </p:blipFill>
        <p:spPr>
          <a:xfrm>
            <a:off x="5930900" y="2954655"/>
            <a:ext cx="4404995" cy="332486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BB8F404-4D68-4CF1-A1D1-4545FFCFAAD6}" type="slidenum">
              <a:rPr kumimoji="0" lang="zh-CN" altLang="en-US" sz="2400" b="0" i="0" u="none" strike="noStrike" kern="1200" cap="none" spc="0" normalizeH="0" baseline="0" noProof="0" smtClean="0">
                <a:ln>
                  <a:noFill/>
                </a:ln>
                <a:solidFill>
                  <a:srgbClr val="9A0000"/>
                </a:solidFill>
                <a:effectLst/>
                <a:uLnTx/>
                <a:uFillTx/>
                <a:latin typeface="Calibri" panose="020F0502020204030204" pitchFamily="34" charset="0"/>
                <a:ea typeface="宋体" panose="02010600030101010101" pitchFamily="2" charset="-122"/>
                <a:cs typeface="+mn-cs"/>
              </a:rPr>
            </a:fld>
            <a:endParaRPr kumimoji="0" lang="zh-CN" altLang="en-US" sz="2400" b="0" i="0" u="none" strike="noStrike" kern="1200" cap="none" spc="0" normalizeH="0" baseline="0" noProof="0">
              <a:ln>
                <a:noFill/>
              </a:ln>
              <a:solidFill>
                <a:srgbClr val="9A0000"/>
              </a:solidFill>
              <a:effectLst/>
              <a:uLnTx/>
              <a:uFillTx/>
              <a:latin typeface="Calibri" panose="020F0502020204030204" pitchFamily="34" charset="0"/>
              <a:ea typeface="宋体" panose="02010600030101010101" pitchFamily="2" charset="-122"/>
              <a:cs typeface="+mn-cs"/>
            </a:endParaRPr>
          </a:p>
        </p:txBody>
      </p:sp>
      <p:grpSp>
        <p:nvGrpSpPr>
          <p:cNvPr id="11" name="组合 10"/>
          <p:cNvGrpSpPr/>
          <p:nvPr/>
        </p:nvGrpSpPr>
        <p:grpSpPr>
          <a:xfrm>
            <a:off x="-1" y="392113"/>
            <a:ext cx="4047564" cy="523220"/>
            <a:chOff x="0" y="392113"/>
            <a:chExt cx="3296118" cy="523220"/>
          </a:xfrm>
        </p:grpSpPr>
        <p:sp>
          <p:nvSpPr>
            <p:cNvPr id="12" name="文本框 11"/>
            <p:cNvSpPr txBox="1">
              <a:spLocks noChangeArrowheads="1"/>
            </p:cNvSpPr>
            <p:nvPr/>
          </p:nvSpPr>
          <p:spPr bwMode="auto">
            <a:xfrm>
              <a:off x="343836" y="392113"/>
              <a:ext cx="29522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lvl="0" eaLnBrk="1" hangingPunct="1">
                <a:defRPr/>
              </a:pPr>
              <a:r>
                <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理论实验对比</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 name="矩形 1"/>
            <p:cNvSpPr>
              <a:spLocks noChangeArrowheads="1"/>
            </p:cNvSpPr>
            <p:nvPr/>
          </p:nvSpPr>
          <p:spPr bwMode="auto">
            <a:xfrm>
              <a:off x="0" y="392113"/>
              <a:ext cx="290286" cy="463550"/>
            </a:xfrm>
            <a:prstGeom prst="rect">
              <a:avLst/>
            </a:prstGeom>
            <a:solidFill>
              <a:srgbClr val="9A0000"/>
            </a:soli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4" name="文本框 3"/>
          <p:cNvSpPr txBox="1"/>
          <p:nvPr/>
        </p:nvSpPr>
        <p:spPr>
          <a:xfrm>
            <a:off x="422222" y="1265626"/>
            <a:ext cx="10726191"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情况 </a:t>
            </a:r>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的图像与理想的拍图像的对比如下：</a:t>
            </a:r>
            <a:endParaRPr lang="zh-CN" altLang="en-US" dirty="0">
              <a:latin typeface="微软雅黑" panose="020B0503020204020204" pitchFamily="34" charset="-122"/>
              <a:ea typeface="微软雅黑" panose="020B0503020204020204" pitchFamily="34" charset="-122"/>
            </a:endParaRPr>
          </a:p>
        </p:txBody>
      </p:sp>
      <p:pic>
        <p:nvPicPr>
          <p:cNvPr id="5" name="图片 4" descr="1"/>
          <p:cNvPicPr>
            <a:picLocks noChangeAspect="1"/>
          </p:cNvPicPr>
          <p:nvPr/>
        </p:nvPicPr>
        <p:blipFill>
          <a:blip r:embed="rId1"/>
          <a:stretch>
            <a:fillRect/>
          </a:stretch>
        </p:blipFill>
        <p:spPr>
          <a:xfrm>
            <a:off x="422222" y="1749896"/>
            <a:ext cx="4827905" cy="3695700"/>
          </a:xfrm>
          <a:prstGeom prst="rect">
            <a:avLst/>
          </a:prstGeom>
        </p:spPr>
      </p:pic>
      <p:pic>
        <p:nvPicPr>
          <p:cNvPr id="7" name="图片 6"/>
          <p:cNvPicPr>
            <a:picLocks noChangeAspect="1"/>
          </p:cNvPicPr>
          <p:nvPr/>
        </p:nvPicPr>
        <p:blipFill>
          <a:blip r:embed="rId2"/>
          <a:stretch>
            <a:fillRect/>
          </a:stretch>
        </p:blipFill>
        <p:spPr>
          <a:xfrm>
            <a:off x="5862258" y="1749896"/>
            <a:ext cx="5123473" cy="3215720"/>
          </a:xfrm>
          <a:prstGeom prst="rect">
            <a:avLst/>
          </a:prstGeom>
        </p:spPr>
      </p:pic>
      <mc:AlternateContent xmlns:mc="http://schemas.openxmlformats.org/markup-compatibility/2006">
        <mc:Choice xmlns:a14="http://schemas.microsoft.com/office/drawing/2010/main" Requires="a14">
          <p:sp>
            <p:nvSpPr>
              <p:cNvPr id="8" name="文本框 7"/>
              <p:cNvSpPr txBox="1"/>
              <p:nvPr/>
            </p:nvSpPr>
            <p:spPr>
              <a:xfrm>
                <a:off x="520784" y="5359232"/>
                <a:ext cx="10391460"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两者性质基本吻合，这也验证了最初线性耦合的假设，求出来的 </a:t>
                </a:r>
                <a14:m>
                  <m:oMath xmlns:m="http://schemas.openxmlformats.org/officeDocument/2006/math">
                    <m:r>
                      <a:rPr lang="zh-CN" altLang="en-US" i="1" smtClean="0">
                        <a:latin typeface="Cambria Math" panose="02040503050406030204" pitchFamily="18" charset="0"/>
                      </a:rPr>
                      <m:t>𝜖</m:t>
                    </m:r>
                  </m:oMath>
                </a14:m>
                <a:r>
                  <a:rPr lang="zh-CN" altLang="en-US" dirty="0">
                    <a:latin typeface="微软雅黑" panose="020B0503020204020204" pitchFamily="34" charset="-122"/>
                    <a:ea typeface="微软雅黑" panose="020B0503020204020204" pitchFamily="34" charset="-122"/>
                  </a:rPr>
                  <a:t> 较小也反映了理论分析的正确性。</a:t>
                </a:r>
                <a:endParaRPr lang="zh-CN" altLang="en-US" dirty="0">
                  <a:latin typeface="微软雅黑" panose="020B0503020204020204" pitchFamily="34" charset="-122"/>
                  <a:ea typeface="微软雅黑" panose="020B0503020204020204" pitchFamily="34" charset="-122"/>
                </a:endParaRPr>
              </a:p>
            </p:txBody>
          </p:sp>
        </mc:Choice>
        <mc:Fallback>
          <p:sp>
            <p:nvSpPr>
              <p:cNvPr id="8" name="文本框 7"/>
              <p:cNvSpPr txBox="1">
                <a:spLocks noRot="1" noChangeAspect="1" noMove="1" noResize="1" noEditPoints="1" noAdjustHandles="1" noChangeArrowheads="1" noChangeShapeType="1" noTextEdit="1"/>
              </p:cNvSpPr>
              <p:nvPr/>
            </p:nvSpPr>
            <p:spPr>
              <a:xfrm>
                <a:off x="520784" y="5359232"/>
                <a:ext cx="10391460" cy="369332"/>
              </a:xfrm>
              <a:prstGeom prst="rect">
                <a:avLst/>
              </a:prstGeom>
              <a:blipFill rotWithShape="1">
                <a:blip r:embed="rId3"/>
                <a:stretch>
                  <a:fillRect l="-1" t="-126" r="4" b="62"/>
                </a:stretch>
              </a:blipFill>
            </p:spPr>
            <p:txBody>
              <a:bodyPr/>
              <a:lstStyle/>
              <a:p>
                <a:r>
                  <a:rPr lang="zh-CN" altLang="en-US">
                    <a:noFill/>
                  </a:rPr>
                  <a:t> </a:t>
                </a:r>
              </a:p>
            </p:txBody>
          </p:sp>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BB8F404-4D68-4CF1-A1D1-4545FFCFAAD6}" type="slidenum">
              <a:rPr kumimoji="0" lang="zh-CN" altLang="en-US" sz="2400" b="0" i="0" u="none" strike="noStrike" kern="1200" cap="none" spc="0" normalizeH="0" baseline="0" noProof="0" smtClean="0">
                <a:ln>
                  <a:noFill/>
                </a:ln>
                <a:solidFill>
                  <a:srgbClr val="9A0000"/>
                </a:solidFill>
                <a:effectLst/>
                <a:uLnTx/>
                <a:uFillTx/>
                <a:latin typeface="Calibri" panose="020F0502020204030204" pitchFamily="34" charset="0"/>
                <a:ea typeface="宋体" panose="02010600030101010101" pitchFamily="2" charset="-122"/>
                <a:cs typeface="+mn-cs"/>
              </a:rPr>
            </a:fld>
            <a:endParaRPr kumimoji="0" lang="zh-CN" altLang="en-US" sz="2400" b="0" i="0" u="none" strike="noStrike" kern="1200" cap="none" spc="0" normalizeH="0" baseline="0" noProof="0">
              <a:ln>
                <a:noFill/>
              </a:ln>
              <a:solidFill>
                <a:srgbClr val="9A0000"/>
              </a:solidFill>
              <a:effectLst/>
              <a:uLnTx/>
              <a:uFillTx/>
              <a:latin typeface="Calibri" panose="020F0502020204030204" pitchFamily="34" charset="0"/>
              <a:ea typeface="宋体" panose="02010600030101010101" pitchFamily="2" charset="-122"/>
              <a:cs typeface="+mn-cs"/>
            </a:endParaRPr>
          </a:p>
        </p:txBody>
      </p:sp>
      <p:grpSp>
        <p:nvGrpSpPr>
          <p:cNvPr id="11" name="组合 10"/>
          <p:cNvGrpSpPr/>
          <p:nvPr/>
        </p:nvGrpSpPr>
        <p:grpSpPr>
          <a:xfrm>
            <a:off x="-1" y="392113"/>
            <a:ext cx="4047564" cy="523220"/>
            <a:chOff x="0" y="392113"/>
            <a:chExt cx="3296118" cy="523220"/>
          </a:xfrm>
        </p:grpSpPr>
        <p:sp>
          <p:nvSpPr>
            <p:cNvPr id="12" name="文本框 11"/>
            <p:cNvSpPr txBox="1">
              <a:spLocks noChangeArrowheads="1"/>
            </p:cNvSpPr>
            <p:nvPr/>
          </p:nvSpPr>
          <p:spPr bwMode="auto">
            <a:xfrm>
              <a:off x="343836" y="392113"/>
              <a:ext cx="29522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lvl="0" eaLnBrk="1" hangingPunct="1">
                <a:defRPr/>
              </a:pPr>
              <a:r>
                <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误差分析</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 name="矩形 1"/>
            <p:cNvSpPr>
              <a:spLocks noChangeArrowheads="1"/>
            </p:cNvSpPr>
            <p:nvPr/>
          </p:nvSpPr>
          <p:spPr bwMode="auto">
            <a:xfrm>
              <a:off x="0" y="392113"/>
              <a:ext cx="290286" cy="463550"/>
            </a:xfrm>
            <a:prstGeom prst="rect">
              <a:avLst/>
            </a:prstGeom>
            <a:solidFill>
              <a:srgbClr val="9A0000"/>
            </a:soli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mc:AlternateContent xmlns:mc="http://schemas.openxmlformats.org/markup-compatibility/2006">
        <mc:Choice xmlns:a14="http://schemas.microsoft.com/office/drawing/2010/main" Requires="a14">
          <p:sp>
            <p:nvSpPr>
              <p:cNvPr id="3" name="文本框 2"/>
              <p:cNvSpPr txBox="1"/>
              <p:nvPr/>
            </p:nvSpPr>
            <p:spPr>
              <a:xfrm>
                <a:off x="422222" y="1217181"/>
                <a:ext cx="10811834" cy="452431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实际实验中发现韦氏摆实际上会在 </a:t>
                </a:r>
                <a14:m>
                  <m:oMath xmlns:m="http://schemas.openxmlformats.org/officeDocument/2006/math">
                    <m:r>
                      <a:rPr lang="en-US" altLang="zh-CN" sz="2400" i="1" dirty="0" smtClean="0">
                        <a:latin typeface="Cambria Math" panose="02040503050406030204" pitchFamily="18" charset="0"/>
                      </a:rPr>
                      <m:t>𝑥𝑦</m:t>
                    </m:r>
                  </m:oMath>
                </a14:m>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平面中产生运动，也即实际上韦氏摆的运动在两个机位下都成椭圆运动而非理想中的直线运动</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定点。这导致了韦氏摆并不是时刻水平于地面的，而是与地面有倾斜角，于是角度测量就会产生误差，叠加上 </a:t>
                </a:r>
                <a:r>
                  <a:rPr lang="en-US" altLang="zh-CN" sz="2400" dirty="0">
                    <a:latin typeface="微软雅黑" panose="020B0503020204020204" pitchFamily="34" charset="-122"/>
                    <a:ea typeface="微软雅黑" panose="020B0503020204020204" pitchFamily="34" charset="-122"/>
                  </a:rPr>
                  <a:t>Tracker </a:t>
                </a:r>
                <a:r>
                  <a:rPr lang="zh-CN" altLang="en-US" sz="2400" dirty="0">
                    <a:latin typeface="微软雅黑" panose="020B0503020204020204" pitchFamily="34" charset="-122"/>
                    <a:ea typeface="微软雅黑" panose="020B0503020204020204" pitchFamily="34" charset="-122"/>
                  </a:rPr>
                  <a:t>使用产生的不可忽略的误差，包括追踪标记点的选取偏差，以及由于相机并不在摆正下方造成的角度偏差，角度测量就会产生较大的误差，很遗憾我并未想出比较好的办法限制其在一定范围内。但是利用傅里叶分析也可以规避对 </a:t>
                </a:r>
                <a14:m>
                  <m:oMath xmlns:m="http://schemas.openxmlformats.org/officeDocument/2006/math">
                    <m:r>
                      <a:rPr lang="en-US" altLang="zh-CN" sz="2400" i="1" dirty="0" smtClean="0">
                        <a:latin typeface="Cambria Math" panose="02040503050406030204" pitchFamily="18" charset="0"/>
                      </a:rPr>
                      <m:t>𝜃</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𝑡</m:t>
                    </m:r>
                  </m:oMath>
                </a14:m>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图像进行研究。</a:t>
                </a:r>
                <a:endParaRPr lang="en-US" altLang="zh-CN" sz="2400" dirty="0">
                  <a:latin typeface="微软雅黑" panose="020B0503020204020204" pitchFamily="34" charset="-122"/>
                  <a:ea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实际实验中存在各种阻力，在情况一的图像中，可以清楚的看到振幅随时间整体上是衰减的，这一衰减间接导致了在情况二三下，拍的现象不明显，因为拍现象中的振幅增大相较于阻力造成的能量衰减较小。同时这也导致了傅里叶分析图像中周围小的杂峰的出现。</a:t>
                </a:r>
                <a:endParaRPr lang="zh-CN" altLang="en-US" sz="2400" dirty="0">
                  <a:latin typeface="微软雅黑" panose="020B0503020204020204" pitchFamily="34" charset="-122"/>
                  <a:ea typeface="微软雅黑" panose="020B0503020204020204" pitchFamily="34" charset="-122"/>
                </a:endParaRPr>
              </a:p>
            </p:txBody>
          </p:sp>
        </mc:Choice>
        <mc:Fallback>
          <p:sp>
            <p:nvSpPr>
              <p:cNvPr id="3" name="文本框 2"/>
              <p:cNvSpPr txBox="1">
                <a:spLocks noRot="1" noChangeAspect="1" noMove="1" noResize="1" noEditPoints="1" noAdjustHandles="1" noChangeArrowheads="1" noChangeShapeType="1" noTextEdit="1"/>
              </p:cNvSpPr>
              <p:nvPr/>
            </p:nvSpPr>
            <p:spPr>
              <a:xfrm>
                <a:off x="422222" y="1217181"/>
                <a:ext cx="10811834" cy="4524315"/>
              </a:xfrm>
              <a:prstGeom prst="rect">
                <a:avLst/>
              </a:prstGeom>
              <a:blipFill rotWithShape="1">
                <a:blip r:embed="rId1"/>
                <a:stretch>
                  <a:fillRect l="-5" t="-12" r="3" b="10"/>
                </a:stretch>
              </a:blipFill>
            </p:spPr>
            <p:txBody>
              <a:bodyPr/>
              <a:lstStyle/>
              <a:p>
                <a:r>
                  <a:rPr lang="zh-CN" altLang="en-US">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ABB8F404-4D68-4CF1-A1D1-4545FFCFAAD6}" type="slidenum">
              <a:rPr lang="zh-CN" altLang="en-US" smtClean="0"/>
            </a:fld>
            <a:endParaRPr lang="zh-CN" altLang="en-US" dirty="0"/>
          </a:p>
        </p:txBody>
      </p:sp>
      <p:sp>
        <p:nvSpPr>
          <p:cNvPr id="3" name="菱形 2"/>
          <p:cNvSpPr/>
          <p:nvPr/>
        </p:nvSpPr>
        <p:spPr>
          <a:xfrm>
            <a:off x="3057934" y="2107066"/>
            <a:ext cx="2643868" cy="2643868"/>
          </a:xfrm>
          <a:prstGeom prst="diamond">
            <a:avLst/>
          </a:prstGeom>
          <a:noFill/>
          <a:ln w="2857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菱形 3"/>
          <p:cNvSpPr/>
          <p:nvPr/>
        </p:nvSpPr>
        <p:spPr>
          <a:xfrm>
            <a:off x="5132161" y="1279752"/>
            <a:ext cx="4298496" cy="4298496"/>
          </a:xfrm>
          <a:prstGeom prst="diamond">
            <a:avLst/>
          </a:prstGeom>
          <a:noFill/>
          <a:ln w="2857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A72020"/>
              </a:solidFill>
            </a:endParaRPr>
          </a:p>
        </p:txBody>
      </p:sp>
      <p:sp>
        <p:nvSpPr>
          <p:cNvPr id="5" name="文本框 4"/>
          <p:cNvSpPr txBox="1"/>
          <p:nvPr/>
        </p:nvSpPr>
        <p:spPr>
          <a:xfrm>
            <a:off x="3822112" y="2321004"/>
            <a:ext cx="1057092" cy="2214880"/>
          </a:xfrm>
          <a:prstGeom prst="rect">
            <a:avLst/>
          </a:prstGeom>
          <a:noFill/>
        </p:spPr>
        <p:txBody>
          <a:bodyPr wrap="square" rtlCol="0">
            <a:spAutoFit/>
            <a:scene3d>
              <a:camera prst="orthographicFront"/>
              <a:lightRig rig="threePt" dir="t"/>
            </a:scene3d>
            <a:sp3d contourW="12700"/>
          </a:bodyPr>
          <a:lstStyle/>
          <a:p>
            <a:pPr algn="ctr"/>
            <a:r>
              <a:rPr lang="en-US" altLang="zh-CN" sz="13800" dirty="0">
                <a:solidFill>
                  <a:srgbClr val="A72020"/>
                </a:solidFill>
                <a:latin typeface="Agency FB" panose="020B0503020202020204" pitchFamily="34" charset="0"/>
              </a:rPr>
              <a:t>4</a:t>
            </a:r>
            <a:endParaRPr lang="en-US" altLang="zh-CN" sz="13800" dirty="0">
              <a:solidFill>
                <a:srgbClr val="A72020"/>
              </a:solidFill>
              <a:latin typeface="Agency FB" panose="020B0503020202020204" pitchFamily="34" charset="0"/>
            </a:endParaRPr>
          </a:p>
        </p:txBody>
      </p:sp>
      <p:sp>
        <p:nvSpPr>
          <p:cNvPr id="6" name="文本框 5"/>
          <p:cNvSpPr txBox="1"/>
          <p:nvPr/>
        </p:nvSpPr>
        <p:spPr>
          <a:xfrm>
            <a:off x="5402262" y="2959430"/>
            <a:ext cx="3904343" cy="829945"/>
          </a:xfrm>
          <a:prstGeom prst="rect">
            <a:avLst/>
          </a:prstGeom>
          <a:noFill/>
        </p:spPr>
        <p:txBody>
          <a:bodyPr wrap="square" rtlCol="0">
            <a:spAutoFit/>
            <a:scene3d>
              <a:camera prst="orthographicFront"/>
              <a:lightRig rig="threePt" dir="t"/>
            </a:scene3d>
            <a:sp3d contourW="12700"/>
          </a:bodyPr>
          <a:lstStyle>
            <a:defPPr>
              <a:defRPr lang="en-US"/>
            </a:defPPr>
            <a:lvl1pPr algn="ctr">
              <a:defRPr sz="2800" b="1">
                <a:solidFill>
                  <a:schemeClr val="tx1">
                    <a:lumMod val="75000"/>
                    <a:lumOff val="25000"/>
                  </a:schemeClr>
                </a:solidFill>
                <a:latin typeface="Century Gothic" panose="020B0502020202020204" pitchFamily="34" charset="0"/>
              </a:defRPr>
            </a:lvl1pPr>
          </a:lstStyle>
          <a:p>
            <a:r>
              <a:rPr lang="zh-CN" altLang="en-US" sz="4800" dirty="0">
                <a:solidFill>
                  <a:srgbClr val="A72020"/>
                </a:solidFill>
                <a:latin typeface="微软雅黑" panose="020B0503020204020204" pitchFamily="34" charset="-122"/>
                <a:ea typeface="微软雅黑" panose="020B0503020204020204" pitchFamily="34" charset="-122"/>
              </a:rPr>
              <a:t>结论展望</a:t>
            </a:r>
            <a:endParaRPr lang="zh-CN" altLang="en-US" sz="4800" dirty="0">
              <a:solidFill>
                <a:srgbClr val="A72020"/>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3692525" y="3283585"/>
            <a:ext cx="1374775" cy="398780"/>
          </a:xfrm>
          <a:prstGeom prst="rect">
            <a:avLst/>
          </a:prstGeom>
          <a:solidFill>
            <a:srgbClr val="FCFCFC"/>
          </a:solidFill>
        </p:spPr>
        <p:txBody>
          <a:bodyPr wrap="square" rtlCol="0">
            <a:spAutoFit/>
            <a:scene3d>
              <a:camera prst="orthographicFront"/>
              <a:lightRig rig="threePt" dir="t"/>
            </a:scene3d>
            <a:sp3d contourW="12700"/>
          </a:bodyPr>
          <a:lstStyle/>
          <a:p>
            <a:pPr algn="ctr"/>
            <a:r>
              <a:rPr lang="en-US" altLang="zh-CN" sz="2000" b="1" dirty="0">
                <a:solidFill>
                  <a:srgbClr val="A72020"/>
                </a:solidFill>
                <a:latin typeface="Century Gothic" panose="020B0502020202020204" pitchFamily="34" charset="0"/>
              </a:rPr>
              <a:t>PART 04</a:t>
            </a:r>
            <a:endParaRPr lang="en-US" altLang="zh-CN" sz="2000" b="1" dirty="0">
              <a:solidFill>
                <a:srgbClr val="A72020"/>
              </a:solidFill>
              <a:latin typeface="Century Gothic" panose="020B0502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anim calcmode="lin" valueType="num">
                                      <p:cBhvr>
                                        <p:cTn id="23" dur="1000" fill="hold"/>
                                        <p:tgtEl>
                                          <p:spTgt spid="6"/>
                                        </p:tgtEl>
                                        <p:attrNameLst>
                                          <p:attrName>ppt_x</p:attrName>
                                        </p:attrNameLst>
                                      </p:cBhvr>
                                      <p:tavLst>
                                        <p:tav tm="0">
                                          <p:val>
                                            <p:strVal val="#ppt_x"/>
                                          </p:val>
                                        </p:tav>
                                        <p:tav tm="100000">
                                          <p:val>
                                            <p:strVal val="#ppt_x"/>
                                          </p:val>
                                        </p:tav>
                                      </p:tavLst>
                                    </p:anim>
                                    <p:anim calcmode="lin" valueType="num">
                                      <p:cBhvr>
                                        <p:cTn id="24" dur="1000" fill="hold"/>
                                        <p:tgtEl>
                                          <p:spTgt spid="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1000"/>
                                        <p:tgtEl>
                                          <p:spTgt spid="7"/>
                                        </p:tgtEl>
                                      </p:cBhvr>
                                    </p:animEffect>
                                    <p:anim calcmode="lin" valueType="num">
                                      <p:cBhvr>
                                        <p:cTn id="28" dur="1000" fill="hold"/>
                                        <p:tgtEl>
                                          <p:spTgt spid="7"/>
                                        </p:tgtEl>
                                        <p:attrNameLst>
                                          <p:attrName>ppt_x</p:attrName>
                                        </p:attrNameLst>
                                      </p:cBhvr>
                                      <p:tavLst>
                                        <p:tav tm="0">
                                          <p:val>
                                            <p:strVal val="#ppt_x"/>
                                          </p:val>
                                        </p:tav>
                                        <p:tav tm="100000">
                                          <p:val>
                                            <p:strVal val="#ppt_x"/>
                                          </p:val>
                                        </p:tav>
                                      </p:tavLst>
                                    </p:anim>
                                    <p:anim calcmode="lin" valueType="num">
                                      <p:cBhvr>
                                        <p:cTn id="2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p:bldP spid="6" grpId="0"/>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BB8F404-4D68-4CF1-A1D1-4545FFCFAAD6}" type="slidenum">
              <a:rPr kumimoji="0" lang="zh-CN" altLang="en-US" sz="2400" b="0" i="0" u="none" strike="noStrike" kern="1200" cap="none" spc="0" normalizeH="0" baseline="0" noProof="0" smtClean="0">
                <a:ln>
                  <a:noFill/>
                </a:ln>
                <a:solidFill>
                  <a:srgbClr val="9A0000"/>
                </a:solidFill>
                <a:effectLst/>
                <a:uLnTx/>
                <a:uFillTx/>
                <a:latin typeface="Calibri" panose="020F0502020204030204" pitchFamily="34" charset="0"/>
                <a:ea typeface="宋体" panose="02010600030101010101" pitchFamily="2" charset="-122"/>
                <a:cs typeface="+mn-cs"/>
              </a:rPr>
            </a:fld>
            <a:endParaRPr kumimoji="0" lang="zh-CN" altLang="en-US" sz="2400" b="0" i="0" u="none" strike="noStrike" kern="1200" cap="none" spc="0" normalizeH="0" baseline="0" noProof="0">
              <a:ln>
                <a:noFill/>
              </a:ln>
              <a:solidFill>
                <a:srgbClr val="9A0000"/>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mc:Choice xmlns:a14="http://schemas.microsoft.com/office/drawing/2010/main" Requires="a14">
          <p:sp>
            <p:nvSpPr>
              <p:cNvPr id="3" name="文本框 2"/>
              <p:cNvSpPr txBox="1"/>
              <p:nvPr/>
            </p:nvSpPr>
            <p:spPr>
              <a:xfrm>
                <a:off x="1309893" y="1308292"/>
                <a:ext cx="9248503" cy="3416320"/>
              </a:xfrm>
              <a:prstGeom prst="rect">
                <a:avLst/>
              </a:prstGeom>
              <a:noFill/>
            </p:spPr>
            <p:txBody>
              <a:bodyPr wrap="square" rtlCol="0">
                <a:spAutoFit/>
              </a:bodyPr>
              <a:lstStyle/>
              <a:p>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 利用拉格朗日量对韦氏摆的运动进行了理论分析。理论分析上，发现耦合系数对韦氏摆扭转运动和竖直振动两种运动起一定影响，利用傅里叶频谱图，可以从微弱的频率分裂（双峰）中直接反演计算出极难静态测量的微小交叉耦合系数 </a:t>
                </a:r>
                <a14:m>
                  <m:oMath xmlns:m="http://schemas.openxmlformats.org/officeDocument/2006/math">
                    <m:r>
                      <a:rPr lang="en-US" altLang="zh-CN" sz="2400" i="1" dirty="0" smtClean="0">
                        <a:latin typeface="Cambria Math" panose="02040503050406030204" pitchFamily="18" charset="0"/>
                        <a:ea typeface="微软雅黑" panose="020B0503020204020204" pitchFamily="34" charset="-122"/>
                      </a:rPr>
                      <m:t>𝜖</m:t>
                    </m:r>
                  </m:oMath>
                </a14:m>
                <a:r>
                  <a:rPr lang="zh-CN" altLang="en-US" sz="2400" dirty="0">
                    <a:latin typeface="微软雅黑" panose="020B0503020204020204" pitchFamily="34" charset="-122"/>
                    <a:ea typeface="微软雅黑" panose="020B0503020204020204" pitchFamily="34" charset="-122"/>
                  </a:rPr>
                  <a:t>。通过实验验证了改变摆锤的质量与转动惯量，就可以得到不同情况的运动曲线，并通过傅里叶分析，验证了将韦氏摆类比为拍现象研究的正确性。</a:t>
                </a:r>
                <a:endParaRPr lang="en-US" altLang="zh-CN" sz="24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实验仍存在许多不足之处：可以选择更好的参量使得能量完全转化；可以尝试对摆的摆动进行三维建模；可以尝试使用更好的设备来保证角度数据的准确性。</a:t>
                </a:r>
                <a:endParaRPr lang="en-US" altLang="zh-CN" sz="2400" dirty="0">
                  <a:latin typeface="微软雅黑" panose="020B0503020204020204" pitchFamily="34" charset="-122"/>
                  <a:ea typeface="微软雅黑" panose="020B0503020204020204" pitchFamily="34" charset="-122"/>
                </a:endParaRPr>
              </a:p>
            </p:txBody>
          </p:sp>
        </mc:Choice>
        <mc:Fallback>
          <p:sp>
            <p:nvSpPr>
              <p:cNvPr id="3" name="文本框 2"/>
              <p:cNvSpPr txBox="1">
                <a:spLocks noRot="1" noChangeAspect="1" noMove="1" noResize="1" noEditPoints="1" noAdjustHandles="1" noChangeArrowheads="1" noChangeShapeType="1" noTextEdit="1"/>
              </p:cNvSpPr>
              <p:nvPr/>
            </p:nvSpPr>
            <p:spPr>
              <a:xfrm>
                <a:off x="1309893" y="1308292"/>
                <a:ext cx="9248503" cy="3416320"/>
              </a:xfrm>
              <a:prstGeom prst="rect">
                <a:avLst/>
              </a:prstGeom>
              <a:blipFill rotWithShape="1">
                <a:blip r:embed="rId1"/>
                <a:stretch>
                  <a:fillRect l="-6" t="-6" r="3" b="6"/>
                </a:stretch>
              </a:blipFill>
            </p:spPr>
            <p:txBody>
              <a:bodyPr/>
              <a:lstStyle/>
              <a:p>
                <a:r>
                  <a:rPr lang="zh-CN" altLang="en-US">
                    <a:noFill/>
                  </a:rPr>
                  <a:t> </a:t>
                </a:r>
              </a:p>
            </p:txBody>
          </p:sp>
        </mc:Fallback>
      </mc:AlternateContent>
      <p:grpSp>
        <p:nvGrpSpPr>
          <p:cNvPr id="6" name="组合 5"/>
          <p:cNvGrpSpPr/>
          <p:nvPr/>
        </p:nvGrpSpPr>
        <p:grpSpPr>
          <a:xfrm>
            <a:off x="-1" y="392113"/>
            <a:ext cx="4047564" cy="523220"/>
            <a:chOff x="0" y="392113"/>
            <a:chExt cx="3296118" cy="523220"/>
          </a:xfrm>
        </p:grpSpPr>
        <p:sp>
          <p:nvSpPr>
            <p:cNvPr id="7" name="文本框 6"/>
            <p:cNvSpPr txBox="1">
              <a:spLocks noChangeArrowheads="1"/>
            </p:cNvSpPr>
            <p:nvPr/>
          </p:nvSpPr>
          <p:spPr bwMode="auto">
            <a:xfrm>
              <a:off x="343836" y="392113"/>
              <a:ext cx="29522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lvl="0" eaLnBrk="1" hangingPunct="1">
                <a:defRPr/>
              </a:pPr>
              <a:r>
                <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结论展望</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 name="矩形 1"/>
            <p:cNvSpPr>
              <a:spLocks noChangeArrowheads="1"/>
            </p:cNvSpPr>
            <p:nvPr/>
          </p:nvSpPr>
          <p:spPr bwMode="auto">
            <a:xfrm>
              <a:off x="0" y="392113"/>
              <a:ext cx="290286" cy="463550"/>
            </a:xfrm>
            <a:prstGeom prst="rect">
              <a:avLst/>
            </a:prstGeom>
            <a:solidFill>
              <a:srgbClr val="9A0000"/>
            </a:soli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BB8F404-4D68-4CF1-A1D1-4545FFCFAAD6}" type="slidenum">
              <a:rPr kumimoji="0" lang="zh-CN" altLang="en-US" sz="2400" b="0" i="0" u="none" strike="noStrike" kern="1200" cap="none" spc="0" normalizeH="0" baseline="0" noProof="0" smtClean="0">
                <a:ln>
                  <a:noFill/>
                </a:ln>
                <a:solidFill>
                  <a:srgbClr val="9A0000"/>
                </a:solidFill>
                <a:effectLst/>
                <a:uLnTx/>
                <a:uFillTx/>
                <a:latin typeface="Calibri" panose="020F0502020204030204" pitchFamily="34" charset="0"/>
                <a:ea typeface="宋体" panose="02010600030101010101" pitchFamily="2" charset="-122"/>
                <a:cs typeface="+mn-cs"/>
              </a:rPr>
            </a:fld>
            <a:endParaRPr kumimoji="0" lang="zh-CN" altLang="en-US" sz="2400" b="0" i="0" u="none" strike="noStrike" kern="1200" cap="none" spc="0" normalizeH="0" baseline="0" noProof="0">
              <a:ln>
                <a:noFill/>
              </a:ln>
              <a:solidFill>
                <a:srgbClr val="9A0000"/>
              </a:solidFill>
              <a:effectLst/>
              <a:uLnTx/>
              <a:uFillTx/>
              <a:latin typeface="Calibri" panose="020F0502020204030204" pitchFamily="34" charset="0"/>
              <a:ea typeface="宋体" panose="02010600030101010101" pitchFamily="2" charset="-122"/>
              <a:cs typeface="+mn-cs"/>
            </a:endParaRPr>
          </a:p>
        </p:txBody>
      </p:sp>
      <p:sp>
        <p:nvSpPr>
          <p:cNvPr id="3" name="文本框 2"/>
          <p:cNvSpPr txBox="1"/>
          <p:nvPr/>
        </p:nvSpPr>
        <p:spPr>
          <a:xfrm>
            <a:off x="687705" y="1485900"/>
            <a:ext cx="10384155" cy="3539430"/>
          </a:xfrm>
          <a:prstGeom prst="rect">
            <a:avLst/>
          </a:prstGeom>
          <a:noFill/>
        </p:spPr>
        <p:txBody>
          <a:bodyPr wrap="square" rtlCol="0">
            <a:spAutoFit/>
          </a:bodyPr>
          <a:lstStyle/>
          <a:p>
            <a:pPr marL="514350" indent="-514350">
              <a:buAutoNum type="arabicPeriod"/>
            </a:pPr>
            <a:r>
              <a:rPr lang="en-US" altLang="zh-CN" sz="3200" dirty="0"/>
              <a:t>Berg R E, Marshall T S. Wilberforce pendulum oscillations and normal modes[J]. American Journal of Physics，1991，59(1): 32-38.</a:t>
            </a:r>
            <a:endParaRPr lang="en-US" altLang="zh-CN" sz="3200" dirty="0"/>
          </a:p>
          <a:p>
            <a:pPr marL="514350" indent="-514350">
              <a:buFont typeface="Arial" panose="020B0604020202020204" pitchFamily="34" charset="0"/>
              <a:buAutoNum type="arabicPeriod"/>
            </a:pPr>
            <a:r>
              <a:rPr lang="en-US" altLang="zh-CN" sz="3200" dirty="0"/>
              <a:t>Wikipedia. Beat (acoustics). [EB/OL]. </a:t>
            </a:r>
            <a:r>
              <a:rPr lang="en-US" altLang="zh-CN" sz="3200" dirty="0">
                <a:hlinkClick r:id="rId1"/>
              </a:rPr>
              <a:t>https://en.wikipedia.org/wiki/Beat_\(acoustics\)</a:t>
            </a:r>
            <a:r>
              <a:rPr lang="en-US" altLang="zh-CN" sz="3200" dirty="0"/>
              <a:t>, [2026-03-04].</a:t>
            </a:r>
            <a:endParaRPr lang="en-US" altLang="zh-CN" sz="3200" dirty="0"/>
          </a:p>
          <a:p>
            <a:pPr marL="514350" indent="-514350">
              <a:buFont typeface="Arial" panose="020B0604020202020204" pitchFamily="34" charset="0"/>
              <a:buAutoNum type="arabicPeriod"/>
            </a:pPr>
            <a:endParaRPr lang="en-US" altLang="zh-CN" sz="3200" dirty="0"/>
          </a:p>
        </p:txBody>
      </p:sp>
      <p:grpSp>
        <p:nvGrpSpPr>
          <p:cNvPr id="6" name="组合 5"/>
          <p:cNvGrpSpPr/>
          <p:nvPr/>
        </p:nvGrpSpPr>
        <p:grpSpPr>
          <a:xfrm>
            <a:off x="-1" y="392113"/>
            <a:ext cx="4047564" cy="523220"/>
            <a:chOff x="0" y="392113"/>
            <a:chExt cx="3296118" cy="523220"/>
          </a:xfrm>
        </p:grpSpPr>
        <p:sp>
          <p:nvSpPr>
            <p:cNvPr id="7" name="文本框 6"/>
            <p:cNvSpPr txBox="1">
              <a:spLocks noChangeArrowheads="1"/>
            </p:cNvSpPr>
            <p:nvPr/>
          </p:nvSpPr>
          <p:spPr bwMode="auto">
            <a:xfrm>
              <a:off x="343836" y="392113"/>
              <a:ext cx="29522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lvl="0" eaLnBrk="1" hangingPunct="1">
                <a:defRPr/>
              </a:pPr>
              <a:r>
                <a:rPr lang="zh-CN" altLang="en-US" sz="2800" b="1" noProof="0" dirty="0">
                  <a:solidFill>
                    <a:srgbClr val="000000"/>
                  </a:solidFill>
                  <a:latin typeface="微软雅黑" panose="020B0503020204020204" pitchFamily="34" charset="-122"/>
                  <a:ea typeface="微软雅黑" panose="020B0503020204020204" pitchFamily="34" charset="-122"/>
                </a:rPr>
                <a:t>参考文献</a:t>
              </a:r>
              <a:endPar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 name="矩形 1"/>
            <p:cNvSpPr>
              <a:spLocks noChangeArrowheads="1"/>
            </p:cNvSpPr>
            <p:nvPr/>
          </p:nvSpPr>
          <p:spPr bwMode="auto">
            <a:xfrm>
              <a:off x="0" y="392113"/>
              <a:ext cx="290286" cy="463550"/>
            </a:xfrm>
            <a:prstGeom prst="rect">
              <a:avLst/>
            </a:prstGeom>
            <a:solidFill>
              <a:srgbClr val="9A0000"/>
            </a:soli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ABB8F404-4D68-4CF1-A1D1-4545FFCFAAD6}" type="slidenum">
              <a:rPr lang="zh-CN" altLang="en-US" smtClean="0"/>
            </a:fld>
            <a:endParaRPr lang="zh-CN" altLang="en-US" dirty="0"/>
          </a:p>
        </p:txBody>
      </p:sp>
      <p:sp>
        <p:nvSpPr>
          <p:cNvPr id="7" name="文本框 6"/>
          <p:cNvSpPr txBox="1"/>
          <p:nvPr/>
        </p:nvSpPr>
        <p:spPr>
          <a:xfrm>
            <a:off x="3891690" y="2136166"/>
            <a:ext cx="4648201" cy="830997"/>
          </a:xfrm>
          <a:prstGeom prst="rect">
            <a:avLst/>
          </a:prstGeom>
          <a:noFill/>
        </p:spPr>
        <p:txBody>
          <a:bodyPr wrap="square" rtlCol="0">
            <a:spAutoFit/>
            <a:scene3d>
              <a:camera prst="orthographicFront"/>
              <a:lightRig rig="threePt" dir="t"/>
            </a:scene3d>
            <a:sp3d contourW="12700"/>
          </a:bodyPr>
          <a:lstStyle/>
          <a:p>
            <a:pPr algn="dist"/>
            <a:r>
              <a:rPr lang="zh-CN" altLang="en-US" sz="4800" b="1" dirty="0">
                <a:solidFill>
                  <a:srgbClr val="A72020"/>
                </a:solidFill>
                <a:latin typeface="华文新魏" panose="02010800040101010101" pitchFamily="2" charset="-122"/>
                <a:ea typeface="华文新魏" panose="02010800040101010101" pitchFamily="2" charset="-122"/>
                <a:cs typeface="经典综艺体简" panose="02010609000101010101" pitchFamily="49" charset="-122"/>
              </a:rPr>
              <a:t>感谢您的观看</a:t>
            </a:r>
            <a:r>
              <a:rPr lang="zh-CN" altLang="en-US" sz="4800" b="1" dirty="0">
                <a:solidFill>
                  <a:srgbClr val="A72020"/>
                </a:solidFill>
                <a:latin typeface="经典综艺体简" panose="02010609000101010101" pitchFamily="49" charset="-122"/>
                <a:ea typeface="经典综艺体简" panose="02010609000101010101" pitchFamily="49" charset="-122"/>
                <a:cs typeface="经典综艺体简" panose="02010609000101010101" pitchFamily="49" charset="-122"/>
              </a:rPr>
              <a:t>！</a:t>
            </a:r>
            <a:endParaRPr lang="zh-CN" altLang="en-US" sz="4800" b="1" dirty="0">
              <a:solidFill>
                <a:srgbClr val="A72020"/>
              </a:solidFill>
              <a:latin typeface="经典综艺体简" panose="02010609000101010101" pitchFamily="49" charset="-122"/>
              <a:ea typeface="经典综艺体简" panose="02010609000101010101" pitchFamily="49" charset="-122"/>
              <a:cs typeface="经典综艺体简" panose="02010609000101010101" pitchFamily="49" charset="-122"/>
            </a:endParaRPr>
          </a:p>
        </p:txBody>
      </p:sp>
      <p:sp>
        <p:nvSpPr>
          <p:cNvPr id="9" name="矩形 6"/>
          <p:cNvSpPr>
            <a:spLocks noChangeArrowheads="1"/>
          </p:cNvSpPr>
          <p:nvPr/>
        </p:nvSpPr>
        <p:spPr bwMode="auto">
          <a:xfrm>
            <a:off x="0" y="6356350"/>
            <a:ext cx="12192000" cy="501649"/>
          </a:xfrm>
          <a:prstGeom prst="rect">
            <a:avLst/>
          </a:prstGeom>
          <a:solidFill>
            <a:srgbClr val="9A0000"/>
          </a:solidFill>
          <a:ln>
            <a:noFill/>
          </a:ln>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endParaRPr>
          </a:p>
        </p:txBody>
      </p:sp>
      <p:sp>
        <p:nvSpPr>
          <p:cNvPr id="10" name="文本框 59"/>
          <p:cNvSpPr txBox="1">
            <a:spLocks noChangeArrowheads="1"/>
          </p:cNvSpPr>
          <p:nvPr/>
        </p:nvSpPr>
        <p:spPr bwMode="auto">
          <a:xfrm>
            <a:off x="3564890" y="3663950"/>
            <a:ext cx="1767205" cy="830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just" eaLnBrk="1" hangingPunct="1"/>
            <a:r>
              <a:rPr lang="zh-CN" altLang="en-US" sz="2400" dirty="0">
                <a:latin typeface="微软雅黑" panose="020B0503020204020204" pitchFamily="34" charset="-122"/>
                <a:ea typeface="微软雅黑" panose="020B0503020204020204" pitchFamily="34" charset="-122"/>
              </a:rPr>
              <a:t>报    告   人</a:t>
            </a:r>
            <a:endParaRPr lang="en-US" altLang="zh-CN" sz="2400" dirty="0">
              <a:latin typeface="微软雅黑" panose="020B0503020204020204" pitchFamily="34" charset="-122"/>
              <a:ea typeface="微软雅黑" panose="020B0503020204020204" pitchFamily="34" charset="-122"/>
            </a:endParaRPr>
          </a:p>
          <a:p>
            <a:pPr algn="just" eaLnBrk="1" hangingPunct="1"/>
            <a:r>
              <a:rPr lang="zh-CN" altLang="en-US" sz="2400" dirty="0">
                <a:latin typeface="微软雅黑" panose="020B0503020204020204" pitchFamily="34" charset="-122"/>
                <a:ea typeface="微软雅黑" panose="020B0503020204020204" pitchFamily="34" charset="-122"/>
              </a:rPr>
              <a:t>主要参与人</a:t>
            </a:r>
            <a:endParaRPr lang="en-US" altLang="zh-CN" sz="2400" dirty="0">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80252" y="365100"/>
            <a:ext cx="2921778" cy="820669"/>
          </a:xfrm>
          <a:prstGeom prst="rect">
            <a:avLst/>
          </a:prstGeom>
        </p:spPr>
      </p:pic>
      <p:pic>
        <p:nvPicPr>
          <p:cNvPr id="12" name="图片 11"/>
          <p:cNvPicPr>
            <a:picLocks noChangeAspect="1"/>
          </p:cNvPicPr>
          <p:nvPr/>
        </p:nvPicPr>
        <p:blipFill rotWithShape="1">
          <a:blip r:embed="rId2" cstate="print">
            <a:extLst>
              <a:ext uri="{28A0092B-C50C-407E-A947-70E740481C1C}">
                <a14:useLocalDpi xmlns:a14="http://schemas.microsoft.com/office/drawing/2010/main" val="0"/>
              </a:ext>
            </a:extLst>
          </a:blip>
          <a:srcRect t="-425" b="49359"/>
          <a:stretch>
            <a:fillRect/>
          </a:stretch>
        </p:blipFill>
        <p:spPr>
          <a:xfrm>
            <a:off x="6598424" y="4628350"/>
            <a:ext cx="5260154" cy="1728000"/>
          </a:xfrm>
          <a:prstGeom prst="rect">
            <a:avLst/>
          </a:prstGeom>
        </p:spPr>
      </p:pic>
      <p:sp>
        <p:nvSpPr>
          <p:cNvPr id="13" name="文本框 59"/>
          <p:cNvSpPr txBox="1">
            <a:spLocks noChangeArrowheads="1"/>
          </p:cNvSpPr>
          <p:nvPr/>
        </p:nvSpPr>
        <p:spPr bwMode="auto">
          <a:xfrm>
            <a:off x="5242830" y="3663695"/>
            <a:ext cx="3975848" cy="1106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sym typeface="+mn-ea"/>
              </a:rPr>
              <a:t>文钧瑞</a:t>
            </a:r>
            <a:endParaRPr lang="en-US" altLang="zh-CN" sz="2400" dirty="0">
              <a:latin typeface="微软雅黑" panose="020B0503020204020204" pitchFamily="34" charset="-122"/>
              <a:ea typeface="微软雅黑" panose="020B0503020204020204" pitchFamily="34" charset="-122"/>
            </a:endParaRPr>
          </a:p>
          <a:p>
            <a:pPr eaLnBrk="1" hangingPunct="1"/>
            <a:r>
              <a:rPr lang="zh-CN" altLang="en-US"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sym typeface="+mn-ea"/>
              </a:rPr>
              <a:t>文钧瑞</a:t>
            </a:r>
            <a:r>
              <a:rPr lang="en-US" altLang="zh-CN" sz="2400" dirty="0">
                <a:latin typeface="微软雅黑" panose="020B0503020204020204" pitchFamily="34" charset="-122"/>
                <a:ea typeface="微软雅黑" panose="020B0503020204020204" pitchFamily="34" charset="-122"/>
                <a:sym typeface="+mn-ea"/>
              </a:rPr>
              <a:t> </a:t>
            </a:r>
            <a:r>
              <a:rPr lang="zh-CN" altLang="en-US" sz="2400" dirty="0">
                <a:latin typeface="微软雅黑" panose="020B0503020204020204" pitchFamily="34" charset="-122"/>
                <a:ea typeface="微软雅黑" panose="020B0503020204020204" pitchFamily="34" charset="-122"/>
                <a:sym typeface="+mn-ea"/>
              </a:rPr>
              <a:t>吴世康</a:t>
            </a:r>
            <a:r>
              <a:rPr lang="en-US" altLang="zh-CN" sz="2400" dirty="0">
                <a:latin typeface="微软雅黑" panose="020B0503020204020204" pitchFamily="34" charset="-122"/>
                <a:ea typeface="微软雅黑" panose="020B0503020204020204" pitchFamily="34" charset="-122"/>
                <a:sym typeface="+mn-ea"/>
              </a:rPr>
              <a:t> </a:t>
            </a:r>
            <a:endParaRPr lang="en-US" altLang="zh-CN" sz="2400" dirty="0">
              <a:latin typeface="微软雅黑" panose="020B0503020204020204" pitchFamily="34" charset="-122"/>
              <a:ea typeface="微软雅黑" panose="020B0503020204020204" pitchFamily="34" charset="-122"/>
            </a:endParaRPr>
          </a:p>
          <a:p>
            <a:pPr eaLnBrk="1" hangingPunct="1"/>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theme/theme1.xml><?xml version="1.0" encoding="utf-8"?>
<a:theme xmlns:a="http://schemas.openxmlformats.org/drawingml/2006/main" name="Office 主题">
  <a:themeElements>
    <a:clrScheme name="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主题">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defRPr>
        </a:defPPr>
      </a:lstStyle>
    </a:lnDef>
  </a:objectDefaults>
  <a:extraClrSchemeLst>
    <a:extraClrScheme>
      <a:clrScheme name="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4644</Words>
  <Application>WPS 演示</Application>
  <PresentationFormat>宽屏</PresentationFormat>
  <Paragraphs>251</Paragraphs>
  <Slides>25</Slides>
  <Notes>0</Notes>
  <HiddenSlides>0</HiddenSlides>
  <MMClips>1</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25</vt:i4>
      </vt:variant>
    </vt:vector>
  </HeadingPairs>
  <TitlesOfParts>
    <vt:vector size="41" baseType="lpstr">
      <vt:lpstr>Arial</vt:lpstr>
      <vt:lpstr>宋体</vt:lpstr>
      <vt:lpstr>Wingdings</vt:lpstr>
      <vt:lpstr>Calibri</vt:lpstr>
      <vt:lpstr>Calibri Light</vt:lpstr>
      <vt:lpstr>微软雅黑</vt:lpstr>
      <vt:lpstr>Agency FB</vt:lpstr>
      <vt:lpstr>Century Gothic</vt:lpstr>
      <vt:lpstr>Times New Roman</vt:lpstr>
      <vt:lpstr>华文楷体</vt:lpstr>
      <vt:lpstr>Cambria Math</vt:lpstr>
      <vt:lpstr>Arial Unicode MS</vt:lpstr>
      <vt:lpstr>MS Mincho</vt:lpstr>
      <vt:lpstr>华文新魏</vt:lpstr>
      <vt:lpstr>经典综艺体简</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cnyz</cp:lastModifiedBy>
  <cp:revision>171</cp:revision>
  <dcterms:created xsi:type="dcterms:W3CDTF">2015-07-17T02:38:00Z</dcterms:created>
  <dcterms:modified xsi:type="dcterms:W3CDTF">2026-06-25T07:22:10Z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CC9CFB0CF08E4EDBB5846565D8364D6F_12</vt:lpwstr>
  </property>
</Properties>
</file>