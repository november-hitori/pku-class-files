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0" autoAdjust="0"/>
    <p:restoredTop sz="95244" autoAdjust="0"/>
  </p:normalViewPr>
  <p:slideViewPr>
    <p:cSldViewPr snapToGrid="0">
      <p:cViewPr>
        <p:scale>
          <a:sx n="75" d="100"/>
          <a:sy n="75" d="100"/>
        </p:scale>
        <p:origin x="336" y="206"/>
      </p:cViewPr>
      <p:guideLst/>
    </p:cSldViewPr>
  </p:slideViewPr>
  <p:outlineViewPr>
    <p:cViewPr>
      <p:scale>
        <a:sx n="33" d="100"/>
        <a:sy n="33" d="100"/>
      </p:scale>
      <p:origin x="0" y="-48"/>
    </p:cViewPr>
  </p:outlineViewPr>
  <p:notesTextViewPr>
    <p:cViewPr>
      <p:scale>
        <a:sx n="1" d="1"/>
        <a:sy n="1" d="1"/>
      </p:scale>
      <p:origin x="0" y="0"/>
    </p:cViewPr>
  </p:notesTextViewPr>
  <p:notesViewPr>
    <p:cSldViewPr snapToGrid="0">
      <p:cViewPr varScale="1">
        <p:scale>
          <a:sx n="65" d="100"/>
          <a:sy n="65" d="100"/>
        </p:scale>
        <p:origin x="2405" y="6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幻灯片图像占位符 3"/>
          <p:cNvSpPr>
            <a:spLocks noGrp="1" noRot="1" noChangeAspect="1"/>
          </p:cNvSpPr>
          <p:nvPr>
            <p:ph type="sldImg" idx="2"/>
          </p:nvPr>
        </p:nvSpPr>
        <p:spPr>
          <a:xfrm>
            <a:off x="674370" y="1130935"/>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君黑-45简" panose="020B0604020202020204" charset="-122"/>
        <a:ea typeface="汉仪君黑-45简" panose="020B0604020202020204" charset="-122"/>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26" name="幻灯片图像占位符 1"/>
          <p:cNvSpPr>
            <a:spLocks noGrp="1" noRot="1" noChangeAspect="1"/>
          </p:cNvSpPr>
          <p:nvPr>
            <p:ph type="sldImg"/>
          </p:nvPr>
        </p:nvSpPr>
        <p:spPr/>
        <p:txBody>
          <a:body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4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64"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66"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6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70"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72"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3" name=""/>
        <p:cNvGrpSpPr/>
        <p:nvPr/>
      </p:nvGrpSpPr>
      <p:grpSpPr>
        <a:xfrm>
          <a:off x="0" y="0"/>
          <a:ext cx="0" cy="0"/>
          <a:chOff x="0" y="0"/>
          <a:chExt cx="0" cy="0"/>
        </a:xfrm>
      </p:grpSpPr>
      <p:sp>
        <p:nvSpPr>
          <p:cNvPr id="4"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 name=""/>
        <p:cNvGrpSpPr/>
        <p:nvPr/>
      </p:nvGrpSpPr>
      <p:grpSpPr>
        <a:xfrm>
          <a:off x="0" y="0"/>
          <a:ext cx="0" cy="0"/>
          <a:chOff x="0" y="0"/>
          <a:chExt cx="0" cy="0"/>
        </a:xfrm>
      </p:grpSpPr>
      <p:sp>
        <p:nvSpPr>
          <p:cNvPr id="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9" name=""/>
        <p:cNvGrpSpPr/>
        <p:nvPr/>
      </p:nvGrpSpPr>
      <p:grpSpPr>
        <a:xfrm>
          <a:off x="0" y="0"/>
          <a:ext cx="0" cy="0"/>
          <a:chOff x="0" y="0"/>
          <a:chExt cx="0" cy="0"/>
        </a:xfrm>
      </p:grpSpPr>
      <p:sp>
        <p:nvSpPr>
          <p:cNvPr id="10" name="幻灯片图像占位符 1"/>
          <p:cNvSpPr>
            <a:spLocks noGrp="1" noRot="1" noChangeAspect="1"/>
          </p:cNvSpPr>
          <p:nvPr>
            <p:ph type="sldImg"/>
          </p:nvPr>
        </p:nvSpPr>
        <p:spPr>
          <a:xfrm>
            <a:off x="674688" y="1130300"/>
            <a:ext cx="5486400" cy="3086100"/>
          </a:xfrm>
        </p:spPr>
        <p:txBody>
          <a:bodyPr/>
          <a:p/>
        </p:txBody>
      </p:sp>
      <p:sp>
        <p:nvSpPr>
          <p:cNvPr id="11" name="文本占位符 10"/>
          <p:cNvSpPr/>
          <p:nvPr>
            <p:ph type="body"/>
          </p:nvPr>
        </p:nvSpPr>
        <p:spPr>
          <a:xfrm>
            <a:off x="0" y="0"/>
            <a:ext cx="177800" cy="444500"/>
          </a:xfrm>
          <a:prstGeom prst="rect">
            <a:avLst/>
          </a:prstGeom>
        </p:spPr>
        <p:txBody>
          <a:bodyPr/>
          <a:p>
            <a:r>
              <a:t>She represents the </a:t>
            </a:r>
            <a:r>
              <a:t>danger of taking "equality" to an extreme</a:t>
            </a:r>
            <a:r>
              <a:t>—a supposed pursuit of fairness that devolves into the suppression of individuality and freedom.)</a:t>
            </a:r>
            <a:r>
              <a:t>Hazel</a:t>
            </a:r>
            <a:r>
              <a:t>: Her "solutions" are trivial and sentimental. When imagining herself as Handicapper General, she focuses on changing the</a:t>
            </a:r>
            <a:r>
              <a:t> </a:t>
            </a:r>
            <a:r>
              <a:t>sound</a:t>
            </a:r>
            <a:r>
              <a:t> </a:t>
            </a:r>
            <a:r>
              <a:t>of the mental handicap device (chimes instead of harsh noises) rather than challenging the device’s existence. She thinks "honoring religion" with chimes will improve the system, ignoring that the system’s core is about suppressing thought—not about aesthetics. Her mind cannot process the root problem; she only tweaks its superficial details.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
        <p:nvSpPr>
          <p:cNvPr id="13" name="幻灯片图像占位符 1"/>
          <p:cNvSpPr>
            <a:spLocks noGrp="1" noRot="1" noChangeAspect="1"/>
          </p:cNvSpPr>
          <p:nvPr>
            <p:ph type="sldImg"/>
          </p:nvPr>
        </p:nvSpPr>
        <p:spPr>
          <a:xfrm>
            <a:off x="674688" y="1130300"/>
            <a:ext cx="5486400" cy="3086100"/>
          </a:xfrm>
        </p:spPr>
        <p:txBody>
          <a:bodyPr/>
          <a:p/>
        </p:txBody>
      </p:sp>
      <p:sp>
        <p:nvSpPr>
          <p:cNvPr id="14" name="文本占位符 13"/>
          <p:cNvSpPr/>
          <p:nvPr>
            <p:ph type="body"/>
          </p:nvPr>
        </p:nvSpPr>
        <p:spPr>
          <a:xfrm>
            <a:off x="0" y="0"/>
            <a:ext cx="177800" cy="444500"/>
          </a:xfrm>
          <a:prstGeom prst="rect">
            <a:avLst/>
          </a:prstGeom>
        </p:spPr>
        <p:txBody>
          <a:body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5" name=""/>
        <p:cNvGrpSpPr/>
        <p:nvPr/>
      </p:nvGrpSpPr>
      <p:grpSpPr>
        <a:xfrm>
          <a:off x="0" y="0"/>
          <a:ext cx="0" cy="0"/>
          <a:chOff x="0" y="0"/>
          <a:chExt cx="0" cy="0"/>
        </a:xfrm>
      </p:grpSpPr>
      <p:sp>
        <p:nvSpPr>
          <p:cNvPr id="16"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20"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22"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24"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2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30"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32"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34"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36"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3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40"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42"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44"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46"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50"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52"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54"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56"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58" name="幻灯片图像占位符 1"/>
          <p:cNvSpPr>
            <a:spLocks noGrp="1" noRot="1" noChangeAspect="1"/>
          </p:cNvSpPr>
          <p:nvPr>
            <p:ph type="sldImg"/>
          </p:nvPr>
        </p:nvSpPr>
        <p:spPr>
          <a:xfrm>
            <a:off x="674688" y="1130300"/>
            <a:ext cx="5486400" cy="3086100"/>
          </a:xfrm>
        </p:spPr>
        <p:txBody>
          <a:body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60" name="幻灯片图像占位符 1"/>
          <p:cNvSpPr>
            <a:spLocks noGrp="1" noRot="1" noChangeAspect="1"/>
          </p:cNvSpPr>
          <p:nvPr>
            <p:ph type="sldImg"/>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cSld name="比较">
    <p:spTree>
      <p:nvGrpSpPr>
        <p:cNvPr id="2"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3"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4" descr="089089809089"/>
          <p:cNvPicPr>
            <a:picLocks noChangeAspect="1"/>
          </p:cNvPicPr>
          <p:nvPr userDrawn="1"/>
        </p:nvPicPr>
        <p:blipFill>
          <a:blip r:embed="rId4"/>
          <a:stretch>
            <a:fillRect/>
          </a:stretch>
        </p:blipFill>
        <p:spPr>
          <a:xfrm>
            <a:off x="0" y="0"/>
            <a:ext cx="12192000" cy="685482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80098098809809"/>
          <p:cNvPicPr>
            <a:picLocks noChangeAspect="1"/>
          </p:cNvPicPr>
          <p:nvPr/>
        </p:nvPicPr>
        <p:blipFill>
          <a:blip r:embed="rId1"/>
          <a:stretch>
            <a:fillRect/>
          </a:stretch>
        </p:blipFill>
        <p:spPr>
          <a:xfrm>
            <a:off x="0" y="0"/>
            <a:ext cx="12192000" cy="6854825"/>
          </a:xfrm>
          <a:prstGeom prst="rect">
            <a:avLst/>
          </a:prstGeom>
        </p:spPr>
      </p:pic>
      <p:sp>
        <p:nvSpPr>
          <p:cNvPr id="3" name="文本框"/>
          <p:cNvSpPr txBox="1">
            <a:spLocks noChangeArrowheads="1"/>
          </p:cNvSpPr>
          <p:nvPr/>
        </p:nvSpPr>
        <p:spPr bwMode="auto">
          <a:xfrm>
            <a:off x="6718936" y="3509645"/>
            <a:ext cx="1737995" cy="369570"/>
          </a:xfrm>
          <a:prstGeom prst="roundRect">
            <a:avLst/>
          </a:prstGeom>
          <a:solidFill>
            <a:srgbClr val="8AA3A0"/>
          </a:solidFill>
          <a:ln>
            <a:noFill/>
          </a:ln>
          <a:effectLst/>
        </p:spPr>
        <p:txBody>
          <a:bodyPr vert="horz" wrap="square" lIns="91416" tIns="45708" rIns="91416" bIns="45708"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a:solidFill>
                  <a:schemeClr val="bg1">
                    <a:alpha val="100000"/>
                  </a:schemeClr>
                </a:solidFill>
                <a:latin typeface="Times New Roman" panose="02020603050405020304"/>
                <a:ea typeface="Times New Roman" panose="02020603050405020304"/>
                <a:cs typeface="+mn-cs"/>
              </a:rPr>
              <a:t>2025.11.20</a:t>
            </a:r>
            <a:endParaRPr lang="en-US" sz="2000" b="1">
              <a:solidFill>
                <a:schemeClr val="bg1">
                  <a:alpha val="100000"/>
                </a:schemeClr>
              </a:solidFill>
              <a:latin typeface="Times New Roman" panose="02020603050405020304"/>
              <a:ea typeface="Times New Roman" panose="02020603050405020304"/>
              <a:cs typeface="+mn-cs"/>
            </a:endParaRPr>
          </a:p>
        </p:txBody>
      </p:sp>
      <p:sp>
        <p:nvSpPr>
          <p:cNvPr id="4" name="文本框"/>
          <p:cNvSpPr txBox="1">
            <a:spLocks noChangeArrowheads="1"/>
          </p:cNvSpPr>
          <p:nvPr/>
        </p:nvSpPr>
        <p:spPr bwMode="auto">
          <a:xfrm>
            <a:off x="4127134" y="3509645"/>
            <a:ext cx="1571782" cy="369570"/>
          </a:xfrm>
          <a:prstGeom prst="roundRect">
            <a:avLst/>
          </a:prstGeom>
          <a:solidFill>
            <a:srgbClr val="8AA3A0"/>
          </a:solidFill>
          <a:ln>
            <a:noFill/>
          </a:ln>
          <a:effectLst/>
        </p:spPr>
        <p:txBody>
          <a:bodyPr vert="horz" wrap="square" lIns="91416" tIns="45708" rIns="91416" bIns="45708"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a:solidFill>
                  <a:schemeClr val="bg1">
                    <a:alpha val="100000"/>
                  </a:schemeClr>
                </a:solidFill>
                <a:latin typeface="Times New Roman" panose="02020603050405020304"/>
                <a:ea typeface="Times New Roman" panose="02020603050405020304"/>
              </a:rPr>
              <a:t>Group 4</a:t>
            </a:r>
            <a:endParaRPr lang="en-US" sz="2000" b="1">
              <a:solidFill>
                <a:schemeClr val="bg1">
                  <a:alpha val="100000"/>
                </a:schemeClr>
              </a:solidFill>
              <a:latin typeface="Times New Roman" panose="02020603050405020304"/>
              <a:ea typeface="Times New Roman" panose="02020603050405020304"/>
            </a:endParaRPr>
          </a:p>
        </p:txBody>
      </p:sp>
      <p:sp>
        <p:nvSpPr>
          <p:cNvPr id="5" name="矩形 19"/>
          <p:cNvSpPr/>
          <p:nvPr/>
        </p:nvSpPr>
        <p:spPr>
          <a:xfrm>
            <a:off x="3574415" y="3378200"/>
            <a:ext cx="5829935" cy="501015"/>
          </a:xfrm>
          <a:prstGeom prst="rect">
            <a:avLst/>
          </a:prstGeom>
          <a:noFill/>
          <a:ln w="25400" cap="flat">
            <a:noFill/>
            <a:miter lim="400000"/>
          </a:ln>
          <a:effectLst/>
        </p:spPr>
        <p:txBody>
          <a:bodyPr wrap="square" lIns="0" tIns="0" rIns="0" bIns="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30000"/>
              </a:lnSpc>
            </a:pPr>
            <a:endParaRPr lang="en-US" sz="1200">
              <a:solidFill>
                <a:schemeClr val="tx1">
                  <a:lumMod val="65000"/>
                  <a:lumOff val="35000"/>
                  <a:alpha val="100000"/>
                </a:schemeClr>
              </a:solidFill>
              <a:latin typeface="汉仪君黑-45简"/>
              <a:ea typeface="汉仪君黑-45简"/>
              <a:cs typeface="汉仪君黑-45简"/>
              <a:sym typeface="汉仪君黑-45简"/>
            </a:endParaRPr>
          </a:p>
        </p:txBody>
      </p:sp>
      <p:sp>
        <p:nvSpPr>
          <p:cNvPr id="6" name="TextBox 2"/>
          <p:cNvSpPr txBox="1"/>
          <p:nvPr/>
        </p:nvSpPr>
        <p:spPr>
          <a:xfrm>
            <a:off x="3698558" y="2031512"/>
            <a:ext cx="5397500" cy="7620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buFont typeface="汉仪君黑-45简" panose="020B0604020202020204" charset="-122"/>
              <a:buNone/>
            </a:pPr>
            <a:r>
              <a:rPr lang="en-US" sz="4400" spc="300">
                <a:solidFill>
                  <a:srgbClr val="8AA3A0">
                    <a:alpha val="100000"/>
                  </a:srgbClr>
                </a:solidFill>
                <a:latin typeface="Times New Roman" panose="02020603050405020304"/>
                <a:ea typeface="Times New Roman" panose="02020603050405020304"/>
                <a:cs typeface="+mn-cs"/>
              </a:rPr>
              <a:t>Harrison Bergeron</a:t>
            </a:r>
            <a:endParaRPr lang="en-US" sz="4400" spc="300">
              <a:solidFill>
                <a:srgbClr val="8AA3A0">
                  <a:alpha val="100000"/>
                </a:srgbClr>
              </a:solidFill>
              <a:latin typeface="Times New Roman" panose="02020603050405020304"/>
              <a:ea typeface="Times New Roman" panose="02020603050405020304"/>
              <a:cs typeface="+mn-cs"/>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pic>
        <p:nvPicPr>
          <p:cNvPr id="101" name="图片 1" descr="089089809089"/>
          <p:cNvPicPr>
            <a:picLocks noChangeAspect="1"/>
          </p:cNvPicPr>
          <p:nvPr/>
        </p:nvPicPr>
        <p:blipFill>
          <a:blip r:embed="rId1"/>
          <a:stretch>
            <a:fillRect/>
          </a:stretch>
        </p:blipFill>
        <p:spPr>
          <a:xfrm>
            <a:off x="0" y="0"/>
            <a:ext cx="12192000" cy="6854825"/>
          </a:xfrm>
          <a:prstGeom prst="rect">
            <a:avLst/>
          </a:prstGeom>
        </p:spPr>
      </p:pic>
      <p:sp>
        <p:nvSpPr>
          <p:cNvPr id="102" name="文本框 7"/>
          <p:cNvSpPr txBox="1"/>
          <p:nvPr/>
        </p:nvSpPr>
        <p:spPr>
          <a:xfrm>
            <a:off x="4908817" y="704850"/>
            <a:ext cx="2736850" cy="1003300"/>
          </a:xfrm>
          <a:prstGeom prst="rect">
            <a:avLst/>
          </a:prstGeom>
          <a:noFill/>
        </p:spPr>
        <p:txBody>
          <a:bodyPr wrap="none" rtlCol="0">
            <a:spAutoFit/>
          </a:bodyPr>
          <a:lstStyle/>
          <a:p>
            <a:r>
              <a:rPr lang="en-US" sz="6000" spc="-150">
                <a:solidFill>
                  <a:srgbClr val="8AA3A0">
                    <a:alpha val="100000"/>
                  </a:srgbClr>
                </a:solidFill>
                <a:latin typeface="Times New Roman" panose="02020603050405020304"/>
                <a:ea typeface="Times New Roman" panose="02020603050405020304"/>
              </a:rPr>
              <a:t>Contents</a:t>
            </a:r>
            <a:endParaRPr lang="en-US" sz="6000" spc="-150">
              <a:solidFill>
                <a:srgbClr val="8AA3A0">
                  <a:alpha val="100000"/>
                </a:srgbClr>
              </a:solidFill>
              <a:latin typeface="Times New Roman" panose="02020603050405020304"/>
              <a:ea typeface="Times New Roman" panose="02020603050405020304"/>
            </a:endParaRPr>
          </a:p>
        </p:txBody>
      </p:sp>
      <p:sp>
        <p:nvSpPr>
          <p:cNvPr id="103" name="矩形 32"/>
          <p:cNvSpPr/>
          <p:nvPr/>
        </p:nvSpPr>
        <p:spPr>
          <a:xfrm>
            <a:off x="3393440" y="1708150"/>
            <a:ext cx="5260975" cy="384810"/>
          </a:xfrm>
          <a:prstGeom prst="rect">
            <a:avLst/>
          </a:prstGeom>
          <a:noFill/>
          <a:ln w="25400" cap="flat">
            <a:noFill/>
            <a:miter lim="400000"/>
          </a:ln>
          <a:effectLst/>
        </p:spPr>
        <p:txBody>
          <a:bodyPr wrap="square" lIns="0" tIns="0" rIns="0" bIns="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50000"/>
              </a:lnSpc>
            </a:pPr>
            <a:endParaRPr lang="zh-CN" sz="1200">
              <a:solidFill>
                <a:schemeClr val="tx1">
                  <a:lumMod val="65000"/>
                  <a:lumOff val="35000"/>
                  <a:alpha val="100000"/>
                </a:schemeClr>
              </a:solidFill>
              <a:latin typeface="汉仪君黑-45简"/>
              <a:ea typeface="汉仪君黑-45简"/>
              <a:cs typeface="汉仪君黑-45简"/>
              <a:sym typeface="汉仪君黑-45简"/>
            </a:endParaRPr>
          </a:p>
        </p:txBody>
      </p:sp>
      <p:sp>
        <p:nvSpPr>
          <p:cNvPr id="104" name="椭圆 42"/>
          <p:cNvSpPr/>
          <p:nvPr/>
        </p:nvSpPr>
        <p:spPr>
          <a:xfrm>
            <a:off x="1486167" y="1960245"/>
            <a:ext cx="660400" cy="660400"/>
          </a:xfrm>
          <a:prstGeom prst="ellipse">
            <a:avLst/>
          </a:prstGeom>
          <a:solidFill>
            <a:srgbClr val="8AA3A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spc="-15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1</a:t>
            </a:r>
            <a:endParaRPr lang="en-US" altLang="zh-CN" sz="3200" spc="-15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05" name="文本框 37"/>
          <p:cNvSpPr txBox="1"/>
          <p:nvPr/>
        </p:nvSpPr>
        <p:spPr>
          <a:xfrm>
            <a:off x="2146567" y="1960245"/>
            <a:ext cx="4356100" cy="6985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a:solidFill>
                  <a:srgbClr val="8AA3A0">
                    <a:alpha val="100000"/>
                  </a:srgbClr>
                </a:solidFill>
                <a:latin typeface="Times New Roman" panose="02020603050405020304"/>
                <a:ea typeface="Times New Roman" panose="02020603050405020304"/>
              </a:rPr>
              <a:t>About the Author</a:t>
            </a:r>
            <a:endParaRPr lang="en-US" sz="4000">
              <a:solidFill>
                <a:srgbClr val="8AA3A0">
                  <a:alpha val="100000"/>
                </a:srgbClr>
              </a:solidFill>
              <a:latin typeface="Times New Roman" panose="02020603050405020304"/>
              <a:ea typeface="Times New Roman" panose="02020603050405020304"/>
            </a:endParaRPr>
          </a:p>
        </p:txBody>
      </p:sp>
      <p:sp>
        <p:nvSpPr>
          <p:cNvPr id="106" name="椭圆 46"/>
          <p:cNvSpPr/>
          <p:nvPr/>
        </p:nvSpPr>
        <p:spPr>
          <a:xfrm>
            <a:off x="1486167" y="3404095"/>
            <a:ext cx="660400" cy="660400"/>
          </a:xfrm>
          <a:prstGeom prst="ellipse">
            <a:avLst/>
          </a:prstGeom>
          <a:solidFill>
            <a:srgbClr val="8AA3A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spc="-15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3</a:t>
            </a:r>
            <a:endParaRPr lang="en-US" altLang="zh-CN" sz="3200" spc="-15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07" name="文本框 47"/>
          <p:cNvSpPr txBox="1"/>
          <p:nvPr/>
        </p:nvSpPr>
        <p:spPr>
          <a:xfrm>
            <a:off x="2146567" y="3385045"/>
            <a:ext cx="7175500" cy="6985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a:solidFill>
                  <a:srgbClr val="8AA3A0">
                    <a:alpha val="100000"/>
                  </a:srgbClr>
                </a:solidFill>
                <a:latin typeface="Times New Roman" panose="02020603050405020304"/>
                <a:ea typeface="Times New Roman" panose="02020603050405020304"/>
                <a:cs typeface="+mn-cs"/>
              </a:rPr>
              <a:t>Story Analysis</a:t>
            </a:r>
            <a:endParaRPr lang="en-US" sz="4000">
              <a:solidFill>
                <a:srgbClr val="8AA3A0">
                  <a:alpha val="100000"/>
                </a:srgbClr>
              </a:solidFill>
              <a:latin typeface="Times New Roman" panose="02020603050405020304"/>
              <a:ea typeface="Times New Roman" panose="02020603050405020304"/>
              <a:cs typeface="+mn-cs"/>
            </a:endParaRPr>
          </a:p>
        </p:txBody>
      </p:sp>
      <p:sp>
        <p:nvSpPr>
          <p:cNvPr id="108" name="椭圆 51"/>
          <p:cNvSpPr/>
          <p:nvPr/>
        </p:nvSpPr>
        <p:spPr>
          <a:xfrm>
            <a:off x="1477010" y="2682170"/>
            <a:ext cx="660400" cy="660400"/>
          </a:xfrm>
          <a:prstGeom prst="ellipse">
            <a:avLst/>
          </a:prstGeom>
          <a:solidFill>
            <a:srgbClr val="8AA3A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spc="-15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2</a:t>
            </a:r>
            <a:endParaRPr lang="en-US" altLang="zh-CN" sz="3200" spc="-150" dirty="0">
              <a:solidFill>
                <a:schemeClr val="bg1"/>
              </a:solidFill>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09" name="文本框 52"/>
          <p:cNvSpPr txBox="1"/>
          <p:nvPr/>
        </p:nvSpPr>
        <p:spPr>
          <a:xfrm>
            <a:off x="2146567" y="2658745"/>
            <a:ext cx="8261350" cy="6985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a:solidFill>
                  <a:srgbClr val="8AA3A0">
                    <a:alpha val="100000"/>
                  </a:srgbClr>
                </a:solidFill>
                <a:latin typeface="Times New Roman" panose="02020603050405020304"/>
                <a:ea typeface="Times New Roman" panose="02020603050405020304"/>
                <a:cs typeface="+mn-cs"/>
              </a:rPr>
              <a:t>Preparation Questions &amp; Paraphrases</a:t>
            </a:r>
            <a:endParaRPr lang="en-US" sz="4000">
              <a:solidFill>
                <a:srgbClr val="8AA3A0">
                  <a:alpha val="100000"/>
                </a:srgbClr>
              </a:solidFill>
              <a:latin typeface="Times New Roman" panose="02020603050405020304"/>
              <a:ea typeface="Times New Roman" panose="02020603050405020304"/>
              <a:cs typeface="+mn-cs"/>
            </a:endParaRPr>
          </a:p>
        </p:txBody>
      </p:sp>
      <p:sp>
        <p:nvSpPr>
          <p:cNvPr id="110" name="椭圆 56"/>
          <p:cNvSpPr/>
          <p:nvPr/>
        </p:nvSpPr>
        <p:spPr>
          <a:xfrm>
            <a:off x="1477010" y="4115524"/>
            <a:ext cx="660400" cy="660400"/>
          </a:xfrm>
          <a:prstGeom prst="ellipse">
            <a:avLst/>
          </a:prstGeom>
          <a:solidFill>
            <a:srgbClr val="8AA3A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spc="-150" dirty="0">
                <a:solidFill>
                  <a:schemeClr val="bg1"/>
                </a:solidFill>
                <a:effectLst/>
                <a:latin typeface="汉仪君黑-45简" panose="020B0604020202020204" charset="-122"/>
                <a:ea typeface="汉仪君黑-45简" panose="020B0604020202020204" charset="-122"/>
                <a:cs typeface="汉仪君黑-45简" panose="020B0604020202020204" charset="-122"/>
                <a:sym typeface="汉仪君黑-45简" panose="020B0604020202020204" charset="-122"/>
              </a:rPr>
              <a:t>4</a:t>
            </a:r>
            <a:endParaRPr lang="en-US" altLang="zh-CN" sz="3200" spc="-150" dirty="0">
              <a:solidFill>
                <a:schemeClr val="bg1"/>
              </a:solidFill>
              <a:effectLst/>
              <a:latin typeface="汉仪君黑-45简" panose="020B0604020202020204" charset="-122"/>
              <a:ea typeface="汉仪君黑-45简" panose="020B0604020202020204" charset="-122"/>
              <a:cs typeface="汉仪君黑-45简" panose="020B0604020202020204" charset="-122"/>
              <a:sym typeface="汉仪君黑-45简" panose="020B0604020202020204" charset="-122"/>
            </a:endParaRPr>
          </a:p>
        </p:txBody>
      </p:sp>
      <p:sp>
        <p:nvSpPr>
          <p:cNvPr id="111" name="文本框 57"/>
          <p:cNvSpPr txBox="1"/>
          <p:nvPr/>
        </p:nvSpPr>
        <p:spPr>
          <a:xfrm>
            <a:off x="2146567" y="4064495"/>
            <a:ext cx="6788150" cy="6985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a:solidFill>
                  <a:srgbClr val="8AA3A0">
                    <a:alpha val="100000"/>
                  </a:srgbClr>
                </a:solidFill>
                <a:latin typeface="Times New Roman" panose="02020603050405020304"/>
                <a:ea typeface="Times New Roman" panose="02020603050405020304"/>
              </a:rPr>
              <a:t>Theme &amp; How to Identify it</a:t>
            </a:r>
            <a:endParaRPr lang="en-US" sz="4000">
              <a:solidFill>
                <a:srgbClr val="8AA3A0">
                  <a:alpha val="100000"/>
                </a:srgbClr>
              </a:solidFill>
              <a:latin typeface="Times New Roman" panose="02020603050405020304"/>
              <a:ea typeface="Times New Roman" panose="02020603050405020304"/>
            </a:endParaRPr>
          </a:p>
        </p:txBody>
      </p:sp>
    </p:spTree>
  </p:cSld>
  <p:clrMapOvr>
    <a:masterClrMapping/>
  </p:clrMapOvr>
  <p:transition spd="slow" advClick="0" advTm="2000">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00" name=""/>
        <p:cNvGrpSpPr/>
        <p:nvPr/>
      </p:nvGrpSpPr>
      <p:grpSpPr>
        <a:xfrm>
          <a:off x="0" y="0"/>
          <a:ext cx="0" cy="0"/>
          <a:chOff x="0" y="0"/>
          <a:chExt cx="0" cy="0"/>
        </a:xfrm>
      </p:grpSpPr>
      <p:cxnSp>
        <p:nvCxnSpPr>
          <p:cNvPr id="201"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02"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03"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04"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05"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06" name="文本框 205"/>
          <p:cNvSpPr txBox="1"/>
          <p:nvPr/>
        </p:nvSpPr>
        <p:spPr>
          <a:xfrm>
            <a:off x="3920294" y="422323"/>
            <a:ext cx="4001037"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About the Author</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07" name="文本框 206"/>
          <p:cNvSpPr txBox="1"/>
          <p:nvPr/>
        </p:nvSpPr>
        <p:spPr>
          <a:xfrm>
            <a:off x="613999" y="1516380"/>
            <a:ext cx="10617200" cy="3746500"/>
          </a:xfrm>
          <a:prstGeom prst="rect">
            <a:avLst/>
          </a:prstGeom>
          <a:ln w="6350">
            <a:prstDash val="solid"/>
          </a:ln>
        </p:spPr>
        <p:txBody>
          <a:bodyPr wrap="square">
            <a:spAutoFit/>
          </a:bodyPr>
          <a:lstStyle/>
          <a:p>
            <a:pPr indent="0">
              <a:buNone/>
            </a:pPr>
            <a:r>
              <a:rPr lang="en-US" sz="2400">
                <a:latin typeface="Times New Roman" panose="02020603050405020304"/>
                <a:ea typeface="Times New Roman" panose="02020603050405020304"/>
                <a:cs typeface="+mn-cs"/>
              </a:rPr>
              <a:t>Kurt Vonnegut (1922-2007) was an American writer known for his satirical and darkly humorous novels, often containing some sci-fi elements. His work was nominated to Hugo Award three times but didn't win. He was inducted into Science Fiction and Fantasy Hall of Fame in 2015.</a:t>
            </a:r>
            <a:endParaRPr lang="en-US" sz="2400">
              <a:latin typeface="Times New Roman" panose="02020603050405020304"/>
              <a:ea typeface="Times New Roman" panose="02020603050405020304"/>
              <a:cs typeface="+mn-cs"/>
            </a:endParaRPr>
          </a:p>
          <a:p>
            <a:pPr indent="0">
              <a:buNone/>
            </a:pPr>
            <a:endParaRPr lang="en-US" sz="2400">
              <a:latin typeface="Times New Roman" panose="02020603050405020304"/>
              <a:ea typeface="Times New Roman" panose="02020603050405020304"/>
              <a:cs typeface="+mn-cs"/>
            </a:endParaRPr>
          </a:p>
          <a:p>
            <a:pPr marL="342900" indent="-342900">
              <a:buFont typeface="Arial" panose="020B0604020202020204" pitchFamily="34" charset="0"/>
              <a:buChar char="•"/>
            </a:pPr>
            <a:r>
              <a:rPr lang="en-US" sz="2400">
                <a:latin typeface="Times New Roman" panose="02020603050405020304"/>
                <a:ea typeface="Times New Roman" panose="02020603050405020304"/>
                <a:cs typeface="+mn-cs"/>
              </a:rPr>
              <a:t>satirical novels: works that criticize something, eg. </a:t>
            </a:r>
            <a:r>
              <a:rPr lang="en-US" sz="2400" i="1">
                <a:latin typeface="Times New Roman" panose="02020603050405020304"/>
                <a:ea typeface="Times New Roman" panose="02020603050405020304"/>
                <a:cs typeface="+mn-cs"/>
              </a:rPr>
              <a:t>Old Tales Retold</a:t>
            </a:r>
            <a:r>
              <a:rPr lang="en-US" sz="2400">
                <a:latin typeface="Times New Roman" panose="02020603050405020304"/>
                <a:ea typeface="Times New Roman" panose="02020603050405020304"/>
                <a:cs typeface="+mn-cs"/>
              </a:rPr>
              <a:t> (故事新编) by Lu Hsin (鲁迅).</a:t>
            </a:r>
            <a:endParaRPr lang="en-US" sz="2400">
              <a:latin typeface="Times New Roman" panose="02020603050405020304"/>
              <a:ea typeface="Times New Roman" panose="02020603050405020304"/>
              <a:cs typeface="+mn-cs"/>
            </a:endParaRPr>
          </a:p>
          <a:p>
            <a:pPr marL="342900" indent="-342900">
              <a:buFont typeface="Arial" panose="020B0604020202020204" pitchFamily="34" charset="0"/>
              <a:buChar char="•"/>
            </a:pPr>
            <a:r>
              <a:rPr lang="en-US" sz="2400">
                <a:latin typeface="Times New Roman" panose="02020603050405020304"/>
                <a:ea typeface="Times New Roman" panose="02020603050405020304"/>
                <a:cs typeface="+mn-cs"/>
              </a:rPr>
              <a:t>dark humor: talking a tragedy lightly, humorously, eg. "Before mounting the gallows, the condemned man pointed at it and asked the executioner,  'Are you sure this thing is firm?' " from </a:t>
            </a:r>
            <a:r>
              <a:rPr lang="en-US" sz="2400" i="1">
                <a:latin typeface="Times New Roman" panose="02020603050405020304"/>
                <a:ea typeface="Times New Roman" panose="02020603050405020304"/>
                <a:cs typeface="+mn-cs"/>
              </a:rPr>
              <a:t>Knickerbocker</a:t>
            </a:r>
            <a:endParaRPr lang="en-US" sz="2400" i="1">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52" name=""/>
        <p:cNvGrpSpPr/>
        <p:nvPr/>
      </p:nvGrpSpPr>
      <p:grpSpPr>
        <a:xfrm>
          <a:off x="0" y="0"/>
          <a:ext cx="0" cy="0"/>
          <a:chOff x="0" y="0"/>
          <a:chExt cx="0" cy="0"/>
        </a:xfrm>
      </p:grpSpPr>
      <p:cxnSp>
        <p:nvCxnSpPr>
          <p:cNvPr id="253"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54"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55"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56"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57"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58" name="文本框 257"/>
          <p:cNvSpPr txBox="1"/>
          <p:nvPr/>
        </p:nvSpPr>
        <p:spPr>
          <a:xfrm>
            <a:off x="3920294" y="422323"/>
            <a:ext cx="4001037"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About the Author</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59" name="文本框 258"/>
          <p:cNvSpPr txBox="1"/>
          <p:nvPr/>
        </p:nvSpPr>
        <p:spPr>
          <a:xfrm>
            <a:off x="613999" y="1516380"/>
            <a:ext cx="10617200" cy="2286000"/>
          </a:xfrm>
          <a:prstGeom prst="rect">
            <a:avLst/>
          </a:prstGeom>
          <a:ln w="6350">
            <a:prstDash val="solid"/>
          </a:ln>
        </p:spPr>
        <p:txBody>
          <a:bodyPr wrap="square">
            <a:spAutoFit/>
          </a:bodyPr>
          <a:lstStyle/>
          <a:p>
            <a:pPr indent="0">
              <a:buNone/>
            </a:pPr>
            <a:r>
              <a:rPr lang="en-US" sz="2400">
                <a:latin typeface="Times New Roman" panose="02020603050405020304"/>
                <a:ea typeface="Times New Roman" panose="02020603050405020304"/>
                <a:cs typeface="+mn-cs"/>
              </a:rPr>
              <a:t>Vonnegut was deployed to Europe to fight in World War II and unfortunately he was captured by Germans during the Battle of the Bulge. He was interned in Dresden, where he survived the Allied bombing of the city in a meat locker of the slaughterhouse where he was imprisoned.</a:t>
            </a:r>
            <a:endParaRPr lang="en-US" sz="2400">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
This experience made him a strong voice in the anti-war movement.</a:t>
            </a:r>
            <a:endParaRPr lang="en-US" sz="240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60" name=""/>
        <p:cNvGrpSpPr/>
        <p:nvPr/>
      </p:nvGrpSpPr>
      <p:grpSpPr>
        <a:xfrm>
          <a:off x="0" y="0"/>
          <a:ext cx="0" cy="0"/>
          <a:chOff x="0" y="0"/>
          <a:chExt cx="0" cy="0"/>
        </a:xfrm>
      </p:grpSpPr>
      <p:cxnSp>
        <p:nvCxnSpPr>
          <p:cNvPr id="261"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62"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63"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64"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65"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66" name="文本框 265"/>
          <p:cNvSpPr txBox="1"/>
          <p:nvPr/>
        </p:nvSpPr>
        <p:spPr>
          <a:xfrm>
            <a:off x="3920294" y="422323"/>
            <a:ext cx="4001037"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About the Author</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67" name="文本框 266"/>
          <p:cNvSpPr txBox="1"/>
          <p:nvPr/>
        </p:nvSpPr>
        <p:spPr>
          <a:xfrm>
            <a:off x="613999" y="1516380"/>
            <a:ext cx="10756900" cy="4114800"/>
          </a:xfrm>
          <a:prstGeom prst="rect">
            <a:avLst/>
          </a:prstGeom>
          <a:ln w="6350">
            <a:prstDash val="solid"/>
          </a:ln>
        </p:spPr>
        <p:txBody>
          <a:bodyPr wrap="square">
            <a:spAutoFit/>
          </a:bodyPr>
          <a:lstStyle/>
          <a:p>
            <a:pPr indent="0">
              <a:buNone/>
            </a:pPr>
            <a:r>
              <a:rPr lang="en-US" sz="2400">
                <a:latin typeface="Times New Roman" panose="02020603050405020304"/>
                <a:ea typeface="Times New Roman" panose="02020603050405020304"/>
                <a:cs typeface="+mn-cs"/>
              </a:rPr>
              <a:t>Some his typical works:</a:t>
            </a:r>
            <a:endParaRPr lang="en-US" sz="2400">
              <a:latin typeface="Times New Roman" panose="02020603050405020304"/>
              <a:ea typeface="Times New Roman" panose="02020603050405020304"/>
              <a:cs typeface="+mn-cs"/>
            </a:endParaRPr>
          </a:p>
          <a:p>
            <a:pPr marL="342900" indent="-342900">
              <a:buFont typeface="Arial" panose="020B0604020202020204" pitchFamily="34" charset="0"/>
              <a:buChar char="•"/>
            </a:pPr>
            <a:endParaRPr lang="en-US" sz="2400">
              <a:latin typeface="Times New Roman" panose="02020603050405020304"/>
              <a:ea typeface="Times New Roman" panose="02020603050405020304"/>
              <a:cs typeface="+mn-cs"/>
            </a:endParaRPr>
          </a:p>
          <a:p>
            <a:pPr marL="285750" indent="-285750">
              <a:buFont typeface="Arial" panose="020B0604020202020204" pitchFamily="34" charset="0"/>
              <a:buChar char="•"/>
            </a:pPr>
            <a:r>
              <a:rPr lang="en-US" sz="2400" i="1">
                <a:latin typeface="Times New Roman" panose="02020603050405020304"/>
                <a:ea typeface="Times New Roman" panose="02020603050405020304"/>
                <a:cs typeface="+mn-cs"/>
              </a:rPr>
              <a:t>Player Piano</a:t>
            </a:r>
            <a:r>
              <a:rPr lang="en-US" sz="2400">
                <a:latin typeface="Times New Roman" panose="02020603050405020304"/>
                <a:ea typeface="Times New Roman" panose="02020603050405020304"/>
                <a:cs typeface="+mn-cs"/>
              </a:rPr>
              <a:t> in 1952, in Chinese </a:t>
            </a:r>
            <a:r>
              <a:rPr lang="en-US" sz="2400" i="1">
                <a:latin typeface="Times New Roman" panose="02020603050405020304"/>
                <a:ea typeface="Times New Roman" panose="02020603050405020304"/>
                <a:cs typeface="+mn-cs"/>
              </a:rPr>
              <a:t>自动钢琴</a:t>
            </a:r>
            <a:endParaRPr lang="en-US" sz="2400" i="1">
              <a:latin typeface="Times New Roman" panose="02020603050405020304"/>
              <a:ea typeface="Times New Roman" panose="02020603050405020304"/>
              <a:cs typeface="+mn-cs"/>
            </a:endParaRPr>
          </a:p>
          <a:p>
            <a:pPr marL="285750" indent="-285750">
              <a:buFont typeface="Arial" panose="020B0604020202020204" pitchFamily="34" charset="0"/>
              <a:buChar char="•"/>
            </a:pPr>
            <a:r>
              <a:rPr lang="en-US" sz="2400" i="1">
                <a:latin typeface="Times New Roman" panose="02020603050405020304"/>
                <a:ea typeface="Times New Roman" panose="02020603050405020304"/>
                <a:cs typeface="+mn-cs"/>
              </a:rPr>
              <a:t>The Sirens of Titan</a:t>
            </a:r>
            <a:r>
              <a:rPr lang="en-US" sz="2400">
                <a:latin typeface="Times New Roman" panose="02020603050405020304"/>
                <a:ea typeface="Times New Roman" panose="02020603050405020304"/>
                <a:cs typeface="+mn-cs"/>
              </a:rPr>
              <a:t> in 1959, in Chinese </a:t>
            </a:r>
            <a:r>
              <a:rPr lang="en-US" sz="2400" i="1">
                <a:latin typeface="Times New Roman" panose="02020603050405020304"/>
                <a:ea typeface="Times New Roman" panose="02020603050405020304"/>
                <a:cs typeface="+mn-cs"/>
              </a:rPr>
              <a:t>泰坦的女妖</a:t>
            </a:r>
            <a:endParaRPr lang="en-US" sz="2400" i="1">
              <a:latin typeface="Times New Roman" panose="02020603050405020304"/>
              <a:ea typeface="Times New Roman" panose="02020603050405020304"/>
              <a:cs typeface="+mn-cs"/>
            </a:endParaRPr>
          </a:p>
          <a:p>
            <a:pPr marL="285750" indent="-285750">
              <a:buFont typeface="Arial" panose="020B0604020202020204" pitchFamily="34" charset="0"/>
              <a:buChar char="•"/>
            </a:pPr>
            <a:r>
              <a:rPr lang="en-US" sz="2400" i="1">
                <a:latin typeface="Times New Roman" panose="02020603050405020304"/>
                <a:ea typeface="Times New Roman" panose="02020603050405020304"/>
                <a:cs typeface="+mn-cs"/>
              </a:rPr>
              <a:t>Cat's Cradle</a:t>
            </a:r>
            <a:r>
              <a:rPr lang="en-US" sz="2400">
                <a:latin typeface="Times New Roman" panose="02020603050405020304"/>
                <a:ea typeface="Times New Roman" panose="02020603050405020304"/>
                <a:cs typeface="+mn-cs"/>
              </a:rPr>
              <a:t> in 1963, in Chinese </a:t>
            </a:r>
            <a:r>
              <a:rPr lang="en-US" sz="2400" i="1">
                <a:latin typeface="Times New Roman" panose="02020603050405020304"/>
                <a:ea typeface="Times New Roman" panose="02020603050405020304"/>
                <a:cs typeface="+mn-cs"/>
              </a:rPr>
              <a:t>猫的摇篮</a:t>
            </a:r>
            <a:endParaRPr lang="en-US" sz="2400" i="1">
              <a:latin typeface="Times New Roman" panose="02020603050405020304"/>
              <a:ea typeface="Times New Roman" panose="02020603050405020304"/>
              <a:cs typeface="+mn-cs"/>
            </a:endParaRPr>
          </a:p>
          <a:p>
            <a:pPr marL="285750" indent="-285750">
              <a:buFont typeface="Arial" panose="020B0604020202020204" pitchFamily="34" charset="0"/>
              <a:buChar char="•"/>
            </a:pPr>
            <a:r>
              <a:rPr lang="en-US" sz="2400" i="1">
                <a:latin typeface="Times New Roman" panose="02020603050405020304"/>
                <a:ea typeface="Times New Roman" panose="02020603050405020304"/>
                <a:cs typeface="+mn-cs"/>
              </a:rPr>
              <a:t>Slaughterhouse-Five</a:t>
            </a:r>
            <a:r>
              <a:rPr lang="en-US" sz="2400">
                <a:latin typeface="Times New Roman" panose="02020603050405020304"/>
                <a:ea typeface="Times New Roman" panose="02020603050405020304"/>
                <a:cs typeface="+mn-cs"/>
              </a:rPr>
              <a:t> in 1969, in Chinese </a:t>
            </a:r>
            <a:r>
              <a:rPr lang="en-US" sz="2400" i="1">
                <a:latin typeface="Times New Roman" panose="02020603050405020304"/>
                <a:ea typeface="Times New Roman" panose="02020603050405020304"/>
                <a:cs typeface="+mn-cs"/>
              </a:rPr>
              <a:t>五号屠场</a:t>
            </a:r>
            <a:endParaRPr lang="en-US" sz="2400" i="1">
              <a:latin typeface="Times New Roman" panose="02020603050405020304"/>
              <a:ea typeface="Times New Roman" panose="02020603050405020304"/>
              <a:cs typeface="+mn-cs"/>
            </a:endParaRPr>
          </a:p>
          <a:p>
            <a:pPr marL="285750" indent="-285750">
              <a:buFont typeface="Arial" panose="020B0604020202020204" pitchFamily="34" charset="0"/>
              <a:buChar char="•"/>
            </a:pPr>
            <a:r>
              <a:rPr lang="en-US" sz="2400" i="1">
                <a:latin typeface="Times New Roman" panose="02020603050405020304"/>
                <a:ea typeface="Times New Roman" panose="02020603050405020304"/>
                <a:cs typeface="+mn-cs"/>
              </a:rPr>
              <a:t>Breakfast of Champions</a:t>
            </a:r>
            <a:r>
              <a:rPr lang="en-US" sz="2400">
                <a:latin typeface="Times New Roman" panose="02020603050405020304"/>
                <a:ea typeface="Times New Roman" panose="02020603050405020304"/>
                <a:cs typeface="+mn-cs"/>
              </a:rPr>
              <a:t> in 1973, in Chinese </a:t>
            </a:r>
            <a:r>
              <a:rPr lang="en-US" sz="2400" i="1">
                <a:latin typeface="Times New Roman" panose="02020603050405020304"/>
                <a:ea typeface="Times New Roman" panose="02020603050405020304"/>
                <a:cs typeface="+mn-cs"/>
              </a:rPr>
              <a:t>冠军早餐</a:t>
            </a:r>
            <a:endParaRPr lang="en-US" sz="2400" i="1">
              <a:latin typeface="Times New Roman" panose="02020603050405020304"/>
              <a:ea typeface="Times New Roman" panose="02020603050405020304"/>
              <a:cs typeface="+mn-cs"/>
            </a:endParaRPr>
          </a:p>
          <a:p>
            <a:pPr marL="342900" indent="-342900">
              <a:buFont typeface="Arial" panose="020B0604020202020204" pitchFamily="34" charset="0"/>
              <a:buChar char="•"/>
            </a:pPr>
            <a:r>
              <a:rPr lang="en-US" sz="2400" i="1">
                <a:latin typeface="Times New Roman" panose="02020603050405020304"/>
                <a:ea typeface="Times New Roman" panose="02020603050405020304"/>
                <a:cs typeface="+mn-cs"/>
              </a:rPr>
              <a:t>Harrison Bergeron</a:t>
            </a:r>
            <a:r>
              <a:rPr lang="en-US" sz="2400">
                <a:latin typeface="Times New Roman" panose="02020603050405020304"/>
                <a:ea typeface="Times New Roman" panose="02020603050405020304"/>
                <a:cs typeface="+mn-cs"/>
              </a:rPr>
              <a:t> in October 1961 in </a:t>
            </a:r>
            <a:r>
              <a:rPr lang="en-US" sz="2400" i="1">
                <a:latin typeface="Times New Roman" panose="02020603050405020304"/>
                <a:ea typeface="Times New Roman" panose="02020603050405020304"/>
                <a:cs typeface="+mn-cs"/>
              </a:rPr>
              <a:t>The Magazine of Fantasy &amp; Science Fiction
</a:t>
            </a:r>
            <a:endParaRPr lang="en-US" sz="2400" i="1">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
Maybe you have seen the name before?</a:t>
            </a:r>
            <a:endParaRPr lang="en-US" sz="240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68" name=""/>
        <p:cNvGrpSpPr/>
        <p:nvPr/>
      </p:nvGrpSpPr>
      <p:grpSpPr>
        <a:xfrm>
          <a:off x="0" y="0"/>
          <a:ext cx="0" cy="0"/>
          <a:chOff x="0" y="0"/>
          <a:chExt cx="0" cy="0"/>
        </a:xfrm>
      </p:grpSpPr>
      <p:cxnSp>
        <p:nvCxnSpPr>
          <p:cNvPr id="269"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70"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71"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72"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73"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74" name="文本框 273"/>
          <p:cNvSpPr txBox="1"/>
          <p:nvPr/>
        </p:nvSpPr>
        <p:spPr>
          <a:xfrm>
            <a:off x="3257465" y="422323"/>
            <a:ext cx="5487363"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Preparation Questions</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75" name="文本框 274"/>
          <p:cNvSpPr txBox="1"/>
          <p:nvPr/>
        </p:nvSpPr>
        <p:spPr>
          <a:xfrm>
            <a:off x="613999" y="1516380"/>
            <a:ext cx="10756900" cy="4483100"/>
          </a:xfrm>
          <a:prstGeom prst="rect">
            <a:avLst/>
          </a:prstGeom>
          <a:ln w="6350">
            <a:prstDash val="solid"/>
          </a:ln>
        </p:spPr>
        <p:txBody>
          <a:bodyPr wrap="square">
            <a:spAutoFit/>
          </a:bodyPr>
          <a:lstStyle/>
          <a:p>
            <a:pPr indent="0">
              <a:buNone/>
            </a:pPr>
            <a:r>
              <a:rPr lang="en-US" sz="2400">
                <a:latin typeface="Times New Roman" panose="02020603050405020304"/>
                <a:ea typeface="Times New Roman" panose="02020603050405020304"/>
                <a:cs typeface="+mn-cs"/>
              </a:rPr>
              <a:t>1.</a:t>
            </a:r>
            <a:r>
              <a:rPr sz="2400" b="1">
                <a:solidFill>
                  <a:srgbClr val="000000">
                    <a:alpha val="100000"/>
                  </a:srgbClr>
                </a:solidFill>
                <a:latin typeface="Times New Roman" panose="02020603050405020304"/>
                <a:ea typeface="Times New Roman" panose="02020603050405020304"/>
                <a:cs typeface="+mn-cs"/>
              </a:rPr>
              <a:t>How does American society in the year 2081 differ from the society today?</a:t>
            </a:r>
            <a:endParaRPr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2.</a:t>
            </a:r>
            <a:r>
              <a:rPr sz="2400" b="1">
                <a:solidFill>
                  <a:srgbClr val="000000">
                    <a:alpha val="100000"/>
                  </a:srgbClr>
                </a:solidFill>
                <a:latin typeface="Times New Roman" panose="02020603050405020304"/>
                <a:ea typeface="Times New Roman" panose="02020603050405020304"/>
                <a:cs typeface="+mn-cs"/>
              </a:rPr>
              <a:t>How does the government treat those who are above normal?</a:t>
            </a:r>
            <a:endParaRPr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3.</a:t>
            </a:r>
            <a:r>
              <a:rPr sz="2400" b="1">
                <a:solidFill>
                  <a:srgbClr val="000000">
                    <a:alpha val="100000"/>
                  </a:srgbClr>
                </a:solidFill>
                <a:latin typeface="Times New Roman" panose="02020603050405020304"/>
                <a:ea typeface="Times New Roman" panose="02020603050405020304"/>
                <a:cs typeface="+mn-cs"/>
              </a:rPr>
              <a:t>How old is Harrison Bergeron? Why is he taken away by the government?</a:t>
            </a:r>
            <a:endParaRPr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4.</a:t>
            </a:r>
            <a:r>
              <a:rPr sz="2400" b="1">
                <a:solidFill>
                  <a:srgbClr val="000000">
                    <a:alpha val="100000"/>
                  </a:srgbClr>
                </a:solidFill>
                <a:latin typeface="Times New Roman" panose="02020603050405020304"/>
                <a:ea typeface="Times New Roman" panose="02020603050405020304"/>
                <a:cs typeface="+mn-cs"/>
              </a:rPr>
              <a:t>Why don’t George and Hazel think much about their son’s capture?</a:t>
            </a:r>
            <a:endParaRPr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5.</a:t>
            </a:r>
            <a:r>
              <a:rPr sz="2400" b="1">
                <a:solidFill>
                  <a:srgbClr val="000000">
                    <a:alpha val="100000"/>
                  </a:srgbClr>
                </a:solidFill>
                <a:latin typeface="Times New Roman" panose="02020603050405020304"/>
                <a:ea typeface="Times New Roman" panose="02020603050405020304"/>
                <a:cs typeface="+mn-cs"/>
              </a:rPr>
              <a:t>What reason does George give for not trying to cheat? What is George’s view   on competition?</a:t>
            </a:r>
            <a:endParaRPr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6.</a:t>
            </a:r>
            <a:r>
              <a:rPr sz="2400" b="1">
                <a:solidFill>
                  <a:srgbClr val="000000">
                    <a:alpha val="100000"/>
                  </a:srgbClr>
                </a:solidFill>
                <a:latin typeface="Times New Roman" panose="02020603050405020304"/>
                <a:ea typeface="Times New Roman" panose="02020603050405020304"/>
                <a:cs typeface="+mn-cs"/>
              </a:rPr>
              <a:t>What happens to Harrison Bergeron finally? How do you understand the dialogue between Gorge and Hazel at the end of the story?</a:t>
            </a:r>
            <a:endParaRPr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7.</a:t>
            </a:r>
            <a:r>
              <a:rPr lang="en-US" sz="2400" b="1">
                <a:solidFill>
                  <a:srgbClr val="000000">
                    <a:alpha val="100000"/>
                  </a:srgbClr>
                </a:solidFill>
                <a:latin typeface="Times New Roman" panose="02020603050405020304"/>
                <a:ea typeface="Times New Roman" panose="02020603050405020304"/>
                <a:cs typeface="+mn-cs"/>
              </a:rPr>
              <a:t>Who is Diana Moon Glampers? In what way does she resemble Hazel?</a:t>
            </a:r>
            <a:endParaRPr lang="en-US" sz="2400" b="1">
              <a:solidFill>
                <a:srgbClr val="000000">
                  <a:alpha val="100000"/>
                </a:srgbClr>
              </a:solidFill>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8.</a:t>
            </a:r>
            <a:r>
              <a:rPr lang="en-US" sz="2400" b="1">
                <a:solidFill>
                  <a:srgbClr val="000000">
                    <a:alpha val="100000"/>
                  </a:srgbClr>
                </a:solidFill>
                <a:latin typeface="Times New Roman" panose="02020603050405020304"/>
                <a:ea typeface="Times New Roman" panose="02020603050405020304"/>
                <a:cs typeface="+mn-cs"/>
              </a:rPr>
              <a:t>Does the story argue for anything? How would you sum up its theme? (</a:t>
            </a:r>
            <a:r>
              <a:rPr lang="en-US" sz="2400" b="1">
                <a:solidFill>
                  <a:srgbClr val="C00000">
                    <a:alpha val="100000"/>
                  </a:srgbClr>
                </a:solidFill>
                <a:latin typeface="Times New Roman" panose="02020603050405020304"/>
                <a:ea typeface="Times New Roman" panose="02020603050405020304"/>
                <a:cs typeface="+mn-cs"/>
              </a:rPr>
              <a:t>Theme</a:t>
            </a:r>
            <a:r>
              <a:rPr lang="en-US" sz="2400" b="1">
                <a:solidFill>
                  <a:srgbClr val="000000">
                    <a:alpha val="100000"/>
                  </a:srgbClr>
                </a:solidFill>
                <a:latin typeface="Times New Roman" panose="02020603050405020304"/>
                <a:ea typeface="Times New Roman" panose="02020603050405020304"/>
                <a:cs typeface="+mn-cs"/>
              </a:rPr>
              <a:t>)</a:t>
            </a:r>
            <a:endParaRPr lang="en-US" sz="2400" b="1">
              <a:solidFill>
                <a:srgbClr val="000000">
                  <a:alpha val="100000"/>
                </a:srgbClr>
              </a:solidFill>
              <a:latin typeface="Times New Roman" panose="02020603050405020304"/>
              <a:ea typeface="Times New Roman" panose="02020603050405020304"/>
              <a:cs typeface="+mn-cs"/>
            </a:endParaRPr>
          </a:p>
          <a:p>
            <a:pPr lvl="0" indent="0">
              <a:buNone/>
            </a:pPr>
            <a:r>
              <a:rPr lang="en-US" sz="2400">
                <a:latin typeface="Times New Roman" panose="02020603050405020304"/>
                <a:ea typeface="Times New Roman" panose="02020603050405020304"/>
                <a:cs typeface="+mn-cs"/>
              </a:rPr>
              <a:t>9.</a:t>
            </a:r>
            <a:r>
              <a:rPr lang="en-US" sz="2400" b="1">
                <a:solidFill>
                  <a:srgbClr val="000000">
                    <a:alpha val="100000"/>
                  </a:srgbClr>
                </a:solidFill>
                <a:latin typeface="Times New Roman" panose="02020603050405020304"/>
                <a:ea typeface="Times New Roman" panose="02020603050405020304"/>
                <a:cs typeface="+mn-cs"/>
              </a:rPr>
              <a:t>From what point of view is the story narrated? </a:t>
            </a:r>
            <a:endParaRPr lang="en-US" sz="2400" b="1">
              <a:solidFill>
                <a:srgbClr val="000000">
                  <a:alpha val="100000"/>
                </a:srgbClr>
              </a:solidFill>
              <a:latin typeface="Times New Roman" panose="02020603050405020304"/>
              <a:ea typeface="Times New Roman" panose="02020603050405020304"/>
              <a:cs typeface="+mn-cs"/>
            </a:endParaRPr>
          </a:p>
          <a:p>
            <a:pPr lvl="0" indent="0">
              <a:buNone/>
            </a:pPr>
            <a:r>
              <a:rPr lang="en-US" sz="2400" b="1">
                <a:solidFill>
                  <a:srgbClr val="000000">
                    <a:alpha val="100000"/>
                  </a:srgbClr>
                </a:solidFill>
                <a:latin typeface="Times New Roman" panose="02020603050405020304"/>
                <a:ea typeface="Times New Roman" panose="02020603050405020304"/>
                <a:cs typeface="+mn-cs"/>
              </a:rPr>
              <a:t>   Could it be told by Harrison Bergeron in the first-person point of view?</a:t>
            </a:r>
            <a:endParaRPr lang="en-US" sz="2400" b="1">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76" name=""/>
        <p:cNvGrpSpPr/>
        <p:nvPr/>
      </p:nvGrpSpPr>
      <p:grpSpPr>
        <a:xfrm>
          <a:off x="0" y="0"/>
          <a:ext cx="0" cy="0"/>
          <a:chOff x="0" y="0"/>
          <a:chExt cx="0" cy="0"/>
        </a:xfrm>
      </p:grpSpPr>
      <p:cxnSp>
        <p:nvCxnSpPr>
          <p:cNvPr id="277"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78"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79"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80"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81"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82" name="文本框 281"/>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283" name="文本框 282"/>
          <p:cNvSpPr txBox="1"/>
          <p:nvPr/>
        </p:nvSpPr>
        <p:spPr>
          <a:xfrm>
            <a:off x="1148911" y="1450291"/>
            <a:ext cx="10160000" cy="457200"/>
          </a:xfrm>
          <a:prstGeom prst="rect">
            <a:avLst/>
          </a:prstGeom>
          <a:ln w="6350">
            <a:prstDash val="solid"/>
          </a:ln>
        </p:spPr>
        <p:txBody>
          <a:bodyPr wrap="square">
            <a:spAutoFit/>
          </a:bodyPr>
          <a:lstStyle/>
          <a:p>
            <a:pPr indent="0">
              <a:buNone/>
            </a:pPr>
            <a:r>
              <a:rPr sz="2400" b="1">
                <a:solidFill>
                  <a:srgbClr val="000000">
                    <a:alpha val="100000"/>
                  </a:srgbClr>
                </a:solidFill>
                <a:latin typeface="Times New Roman" panose="02020603050405020304"/>
                <a:ea typeface="Times New Roman" panose="02020603050405020304"/>
                <a:cs typeface="+mn-cs"/>
              </a:rPr>
              <a:t>1. How does American society in the year 2081 differ from the society today?</a:t>
            </a:r>
            <a:endParaRPr sz="2400" b="1">
              <a:solidFill>
                <a:srgbClr val="000000">
                  <a:alpha val="100000"/>
                </a:srgbClr>
              </a:solidFill>
              <a:latin typeface="Times New Roman" panose="02020603050405020304"/>
              <a:ea typeface="Times New Roman" panose="02020603050405020304"/>
              <a:cs typeface="+mn-cs"/>
            </a:endParaRPr>
          </a:p>
        </p:txBody>
      </p:sp>
      <p:sp>
        <p:nvSpPr>
          <p:cNvPr id="284" name="文本框 283"/>
          <p:cNvSpPr txBox="1"/>
          <p:nvPr/>
        </p:nvSpPr>
        <p:spPr>
          <a:xfrm>
            <a:off x="495300" y="2116504"/>
            <a:ext cx="11201400" cy="4845050"/>
          </a:xfrm>
          <a:prstGeom prst="rect">
            <a:avLst/>
          </a:prstGeom>
          <a:ln w="6350">
            <a:prstDash val="solid"/>
          </a:ln>
        </p:spPr>
        <p:txBody>
          <a:bodyPr wrap="square">
            <a:spAutoFit/>
          </a:bodyPr>
          <a:lstStyle/>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Equality pursued by society in 2081 is an</a:t>
            </a:r>
            <a:r>
              <a:rPr sz="2400">
                <a:solidFill>
                  <a:srgbClr val="000000">
                    <a:alpha val="100000"/>
                  </a:srgbClr>
                </a:solidFill>
                <a:latin typeface="Times New Roman" panose="02020603050405020304"/>
                <a:ea typeface="Times New Roman" panose="02020603050405020304"/>
                <a:cs typeface="+mn-cs"/>
              </a:rPr>
              <a:t> </a:t>
            </a:r>
            <a:r>
              <a:rPr sz="2400" b="1">
                <a:solidFill>
                  <a:srgbClr val="000000">
                    <a:alpha val="100000"/>
                  </a:srgbClr>
                </a:solidFill>
                <a:latin typeface="Times New Roman" panose="02020603050405020304"/>
                <a:ea typeface="Times New Roman" panose="02020603050405020304"/>
                <a:cs typeface="+mn-cs"/>
              </a:rPr>
              <a:t>absolute sameness</a:t>
            </a:r>
            <a:r>
              <a:rPr sz="2400">
                <a:solidFill>
                  <a:srgbClr val="000000">
                    <a:alpha val="100000"/>
                  </a:srgbClr>
                </a:solidFill>
                <a:latin typeface="Times New Roman" panose="02020603050405020304"/>
                <a:ea typeface="Times New Roman" panose="02020603050405020304"/>
                <a:cs typeface="+mn-cs"/>
              </a:rPr>
              <a:t>. </a:t>
            </a:r>
            <a:r>
              <a:rPr sz="2400">
                <a:solidFill>
                  <a:srgbClr val="000000">
                    <a:alpha val="100000"/>
                  </a:srgbClr>
                </a:solidFill>
                <a:latin typeface="Times New Roman" panose="02020603050405020304"/>
                <a:ea typeface="Times New Roman" panose="02020603050405020304"/>
                <a:cs typeface="+mn-cs"/>
              </a:rPr>
              <a:t>The society eliminates inequality in every aspects, including</a:t>
            </a:r>
            <a:r>
              <a:rPr sz="2400">
                <a:solidFill>
                  <a:srgbClr val="000000">
                    <a:alpha val="100000"/>
                  </a:srgbClr>
                </a:solidFill>
                <a:latin typeface="Times New Roman" panose="02020603050405020304"/>
                <a:ea typeface="Times New Roman" panose="02020603050405020304"/>
                <a:cs typeface="+mn-cs"/>
              </a:rPr>
              <a:t> </a:t>
            </a:r>
            <a:r>
              <a:rPr sz="2400" b="1">
                <a:solidFill>
                  <a:srgbClr val="000000">
                    <a:alpha val="100000"/>
                  </a:srgbClr>
                </a:solidFill>
                <a:latin typeface="Times New Roman" panose="02020603050405020304"/>
                <a:ea typeface="Times New Roman" panose="02020603050405020304"/>
                <a:cs typeface="+mn-cs"/>
              </a:rPr>
              <a:t>intelligence, physical strength and appearances</a:t>
            </a:r>
            <a:r>
              <a:rPr sz="2400">
                <a:solidFill>
                  <a:srgbClr val="000000">
                    <a:alpha val="100000"/>
                  </a:srgbClr>
                </a:solidFill>
                <a:latin typeface="Times New Roman" panose="02020603050405020304"/>
                <a:ea typeface="Times New Roman" panose="02020603050405020304"/>
                <a:cs typeface="+mn-cs"/>
              </a:rPr>
              <a:t>, etc. In contrast, the society today pursues equality of rights, education and medicine resources, but it</a:t>
            </a:r>
            <a:r>
              <a:rPr sz="2400">
                <a:solidFill>
                  <a:srgbClr val="000000">
                    <a:alpha val="100000"/>
                  </a:srgbClr>
                </a:solidFill>
                <a:latin typeface="Times New Roman" panose="02020603050405020304"/>
                <a:ea typeface="Times New Roman" panose="02020603050405020304"/>
                <a:cs typeface="+mn-cs"/>
              </a:rPr>
              <a:t> </a:t>
            </a:r>
            <a:r>
              <a:rPr sz="2400" b="1">
                <a:solidFill>
                  <a:srgbClr val="000000">
                    <a:alpha val="100000"/>
                  </a:srgbClr>
                </a:solidFill>
                <a:latin typeface="Times New Roman" panose="02020603050405020304"/>
                <a:ea typeface="Times New Roman" panose="02020603050405020304"/>
                <a:cs typeface="+mn-cs"/>
              </a:rPr>
              <a:t>allows differences and diversity</a:t>
            </a:r>
            <a:r>
              <a:rPr sz="2400">
                <a:solidFill>
                  <a:srgbClr val="000000">
                    <a:alpha val="100000"/>
                  </a:srgbClr>
                </a:solidFill>
                <a:latin typeface="Times New Roman" panose="02020603050405020304"/>
                <a:ea typeface="Times New Roman" panose="02020603050405020304"/>
                <a:cs typeface="+mn-cs"/>
              </a:rPr>
              <a:t> </a:t>
            </a:r>
            <a:r>
              <a:rPr sz="2400">
                <a:solidFill>
                  <a:srgbClr val="000000">
                    <a:alpha val="100000"/>
                  </a:srgbClr>
                </a:solidFill>
                <a:latin typeface="Times New Roman" panose="02020603050405020304"/>
                <a:ea typeface="Times New Roman" panose="02020603050405020304"/>
                <a:cs typeface="+mn-cs"/>
              </a:rPr>
              <a:t>in individual talents and abilities.</a:t>
            </a:r>
            <a:endParaRPr sz="2400">
              <a:solidFill>
                <a:srgbClr val="000000">
                  <a:alpha val="100000"/>
                </a:srgbClr>
              </a:solidFill>
              <a:latin typeface="Times New Roman" panose="02020603050405020304"/>
              <a:ea typeface="Times New Roman" panose="02020603050405020304"/>
              <a:cs typeface="+mn-cs"/>
            </a:endParaRPr>
          </a:p>
          <a:p>
            <a:pPr indent="0">
              <a:buNone/>
            </a:pPr>
            <a:endParaRPr lang="en-US"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The 2081 society maintains this absolute equality through </a:t>
            </a:r>
            <a:r>
              <a:rPr sz="2400" b="1">
                <a:solidFill>
                  <a:srgbClr val="000000">
                    <a:alpha val="100000"/>
                  </a:srgbClr>
                </a:solidFill>
                <a:latin typeface="Times New Roman" panose="02020603050405020304"/>
                <a:ea typeface="Times New Roman" panose="02020603050405020304"/>
                <a:cs typeface="+mn-cs"/>
              </a:rPr>
              <a:t>suppressing individual potential</a:t>
            </a:r>
            <a:r>
              <a:rPr sz="2400">
                <a:solidFill>
                  <a:srgbClr val="000000">
                    <a:alpha val="100000"/>
                  </a:srgbClr>
                </a:solidFill>
                <a:latin typeface="Times New Roman" panose="02020603050405020304"/>
                <a:ea typeface="Times New Roman" panose="02020603050405020304"/>
                <a:cs typeface="+mn-cs"/>
              </a:rPr>
              <a:t>. But the society today legally encourages development of individual talents and unique abilities.
</a:t>
            </a:r>
            <a:endParaRPr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To enforce equality, the 2081 society establishes </a:t>
            </a:r>
            <a:r>
              <a:rPr sz="2400" b="1">
                <a:solidFill>
                  <a:srgbClr val="000000">
                    <a:alpha val="100000"/>
                  </a:srgbClr>
                </a:solidFill>
                <a:latin typeface="Times New Roman" panose="02020603050405020304"/>
                <a:ea typeface="Times New Roman" panose="02020603050405020304"/>
                <a:cs typeface="+mn-cs"/>
              </a:rPr>
              <a:t>law and “Handicapper General”</a:t>
            </a:r>
            <a:r>
              <a:rPr sz="2400">
                <a:solidFill>
                  <a:srgbClr val="000000">
                    <a:alpha val="100000"/>
                  </a:srgbClr>
                </a:solidFill>
                <a:latin typeface="Times New Roman" panose="02020603050405020304"/>
                <a:ea typeface="Times New Roman" panose="02020603050405020304"/>
                <a:cs typeface="+mn-cs"/>
              </a:rPr>
              <a:t> to supervise individuals. The society today has no such legal system for individuals.
</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85" name=""/>
        <p:cNvGrpSpPr/>
        <p:nvPr/>
      </p:nvGrpSpPr>
      <p:grpSpPr>
        <a:xfrm>
          <a:off x="0" y="0"/>
          <a:ext cx="0" cy="0"/>
          <a:chOff x="0" y="0"/>
          <a:chExt cx="0" cy="0"/>
        </a:xfrm>
      </p:grpSpPr>
      <p:cxnSp>
        <p:nvCxnSpPr>
          <p:cNvPr id="286"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87"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88"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89"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90"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91" name="文本框 290"/>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292" name="文本框 291"/>
          <p:cNvSpPr txBox="1"/>
          <p:nvPr/>
        </p:nvSpPr>
        <p:spPr>
          <a:xfrm>
            <a:off x="1148911" y="1450291"/>
            <a:ext cx="10160000"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        </a:t>
            </a:r>
            <a:r>
              <a:rPr sz="2400" b="1">
                <a:solidFill>
                  <a:srgbClr val="000000">
                    <a:alpha val="100000"/>
                  </a:srgbClr>
                </a:solidFill>
                <a:latin typeface="Times New Roman" panose="02020603050405020304"/>
                <a:ea typeface="Times New Roman" panose="02020603050405020304"/>
                <a:cs typeface="+mn-cs"/>
              </a:rPr>
              <a:t>2. How does the government treat those who are above normal?</a:t>
            </a:r>
            <a:endParaRPr sz="2400" b="1">
              <a:solidFill>
                <a:srgbClr val="000000">
                  <a:alpha val="100000"/>
                </a:srgbClr>
              </a:solidFill>
              <a:latin typeface="Times New Roman" panose="02020603050405020304"/>
              <a:ea typeface="Times New Roman" panose="02020603050405020304"/>
              <a:cs typeface="+mn-cs"/>
            </a:endParaRPr>
          </a:p>
        </p:txBody>
      </p:sp>
      <p:sp>
        <p:nvSpPr>
          <p:cNvPr id="293" name="文本框 292"/>
          <p:cNvSpPr txBox="1"/>
          <p:nvPr/>
        </p:nvSpPr>
        <p:spPr>
          <a:xfrm>
            <a:off x="1769012" y="2406650"/>
            <a:ext cx="9175750" cy="2286000"/>
          </a:xfrm>
          <a:prstGeom prst="rect">
            <a:avLst/>
          </a:prstGeom>
          <a:ln w="6350">
            <a:prstDash val="solid"/>
          </a:ln>
        </p:spPr>
        <p:txBody>
          <a:bodyPr wrap="square">
            <a:spAutoFit/>
          </a:bodyPr>
          <a:lstStyle/>
          <a:p>
            <a:pPr marL="285750" indent="-285750">
              <a:buFont typeface="Wingdings" panose="05000000000000000000" pitchFamily="2" charset="2"/>
              <a:buChar char="l"/>
            </a:pPr>
            <a:r>
              <a:rPr lang="en-US" sz="2400">
                <a:latin typeface="Times New Roman" panose="02020603050405020304"/>
                <a:ea typeface="Times New Roman" panose="02020603050405020304"/>
                <a:cs typeface="+mn-cs"/>
              </a:rPr>
              <a:t>The 2081 U.S government treats those who are above normal by forcing them to wear </a:t>
            </a:r>
            <a:r>
              <a:rPr lang="en-US" sz="2400" b="1">
                <a:latin typeface="Times New Roman" panose="02020603050405020304"/>
                <a:ea typeface="Times New Roman" panose="02020603050405020304"/>
                <a:cs typeface="+mn-cs"/>
              </a:rPr>
              <a:t>mandatory "handicaps"</a:t>
            </a:r>
            <a:r>
              <a:rPr lang="zh-CN" sz="2400" b="1">
                <a:latin typeface="Times New Roman" panose="02020603050405020304"/>
                <a:ea typeface="Times New Roman" panose="02020603050405020304"/>
                <a:cs typeface="+mn-cs"/>
              </a:rPr>
              <a:t>，</a:t>
            </a:r>
            <a:r>
              <a:rPr lang="en-US" sz="2400" b="1">
                <a:latin typeface="Times New Roman" panose="02020603050405020304"/>
                <a:ea typeface="Times New Roman" panose="02020603050405020304"/>
                <a:cs typeface="+mn-cs"/>
              </a:rPr>
              <a:t>which are physical or mental constraints</a:t>
            </a:r>
            <a:r>
              <a:rPr lang="en-US" sz="2400">
                <a:latin typeface="Times New Roman" panose="02020603050405020304"/>
                <a:ea typeface="Times New Roman" panose="02020603050405020304"/>
                <a:cs typeface="+mn-cs"/>
              </a:rPr>
              <a:t> designed to suppress their advantages. These handicaps are tailored to target specific strengths, ensuring no individual stands out in intelligence, appearance, strength, or grace.
</a:t>
            </a:r>
            <a:endParaRPr lang="en-US" sz="2400">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94" name=""/>
        <p:cNvGrpSpPr/>
        <p:nvPr/>
      </p:nvGrpSpPr>
      <p:grpSpPr>
        <a:xfrm>
          <a:off x="0" y="0"/>
          <a:ext cx="0" cy="0"/>
          <a:chOff x="0" y="0"/>
          <a:chExt cx="0" cy="0"/>
        </a:xfrm>
      </p:grpSpPr>
      <p:cxnSp>
        <p:nvCxnSpPr>
          <p:cNvPr id="295"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96"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97"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98"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99"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300" name="文本框 299"/>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301" name="文本框 300"/>
          <p:cNvSpPr txBox="1"/>
          <p:nvPr/>
        </p:nvSpPr>
        <p:spPr>
          <a:xfrm>
            <a:off x="587375" y="1358998"/>
            <a:ext cx="11017250"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        3. </a:t>
            </a:r>
            <a:r>
              <a:rPr sz="2400" b="1">
                <a:solidFill>
                  <a:srgbClr val="000000">
                    <a:alpha val="100000"/>
                  </a:srgbClr>
                </a:solidFill>
                <a:latin typeface="Times New Roman" panose="02020603050405020304"/>
                <a:ea typeface="Times New Roman" panose="02020603050405020304"/>
                <a:cs typeface="+mn-cs"/>
              </a:rPr>
              <a:t>How old is Harrison Bergeron? Why is he taken away by the government?</a:t>
            </a:r>
            <a:endParaRPr sz="2400" b="1">
              <a:solidFill>
                <a:srgbClr val="000000">
                  <a:alpha val="100000"/>
                </a:srgbClr>
              </a:solidFill>
              <a:latin typeface="Times New Roman" panose="02020603050405020304"/>
              <a:ea typeface="Times New Roman" panose="02020603050405020304"/>
              <a:cs typeface="+mn-cs"/>
            </a:endParaRPr>
          </a:p>
        </p:txBody>
      </p:sp>
      <p:sp>
        <p:nvSpPr>
          <p:cNvPr id="302" name="文本框 301"/>
          <p:cNvSpPr txBox="1"/>
          <p:nvPr/>
        </p:nvSpPr>
        <p:spPr>
          <a:xfrm>
            <a:off x="1245577" y="2522220"/>
            <a:ext cx="9702800" cy="4114800"/>
          </a:xfrm>
          <a:prstGeom prst="rect">
            <a:avLst/>
          </a:prstGeom>
          <a:ln w="6350">
            <a:prstDash val="solid"/>
          </a:ln>
        </p:spPr>
        <p:txBody>
          <a:bodyPr wrap="square">
            <a:spAutoFit/>
          </a:bodyPr>
          <a:lstStyle/>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Harrison Bergeron is fourteen years old, as the story mentioned “George and Hazel Bergeron’s fourteen-year-old son, Harrison”. (Para. 2)</a:t>
            </a:r>
            <a:endParaRPr sz="2400">
              <a:solidFill>
                <a:srgbClr val="000000">
                  <a:alpha val="100000"/>
                </a:srgbClr>
              </a:solidFill>
              <a:latin typeface="Times New Roman" panose="02020603050405020304"/>
              <a:ea typeface="Times New Roman" panose="02020603050405020304"/>
              <a:cs typeface="+mn-cs"/>
            </a:endParaRPr>
          </a:p>
          <a:p>
            <a:pPr indent="0">
              <a:buNone/>
            </a:pPr>
            <a:endParaRPr lang="en-US"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Direct reason: He is "held on suspicion of plotting to overthrow the government".(Para. 42)</a:t>
            </a:r>
            <a:endParaRPr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Primary reason: He is "a genius and an athlete" who is "under-handicapped”. In other words, the government’s usual constraints are insufficient to neutralize his talents. Therefore, he is a challenge to the society’s equality. (Para.42)
</a:t>
            </a:r>
            <a:b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 name=""/>
        <p:cNvGrpSpPr/>
        <p:nvPr/>
      </p:nvGrpSpPr>
      <p:grpSpPr>
        <a:xfrm>
          <a:off x="0" y="0"/>
          <a:ext cx="0" cy="0"/>
          <a:chOff x="0" y="0"/>
          <a:chExt cx="0" cy="0"/>
        </a:xfrm>
      </p:grpSpPr>
      <p:cxnSp>
        <p:nvCxnSpPr>
          <p:cNvPr id="11"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2"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3"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4"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5"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17" name="文本框 16"/>
          <p:cNvSpPr txBox="1"/>
          <p:nvPr/>
        </p:nvSpPr>
        <p:spPr>
          <a:xfrm>
            <a:off x="1022594" y="1243554"/>
            <a:ext cx="10173188"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        4. </a:t>
            </a:r>
            <a:r>
              <a:rPr sz="2400" b="1">
                <a:solidFill>
                  <a:srgbClr val="000000">
                    <a:alpha val="100000"/>
                  </a:srgbClr>
                </a:solidFill>
                <a:latin typeface="Times New Roman" panose="02020603050405020304"/>
                <a:ea typeface="Times New Roman" panose="02020603050405020304"/>
                <a:cs typeface="+mn-cs"/>
              </a:rPr>
              <a:t>Why don’t George and Hazel think much about their son’s capture?</a:t>
            </a:r>
            <a:endParaRPr sz="2400" b="1">
              <a:solidFill>
                <a:srgbClr val="000000">
                  <a:alpha val="100000"/>
                </a:srgbClr>
              </a:solidFill>
              <a:latin typeface="Times New Roman" panose="02020603050405020304"/>
              <a:ea typeface="Times New Roman" panose="02020603050405020304"/>
              <a:cs typeface="+mn-cs"/>
            </a:endParaRPr>
          </a:p>
        </p:txBody>
      </p:sp>
      <p:sp>
        <p:nvSpPr>
          <p:cNvPr id="18" name="文本框 17"/>
          <p:cNvSpPr txBox="1"/>
          <p:nvPr/>
        </p:nvSpPr>
        <p:spPr>
          <a:xfrm>
            <a:off x="1139825" y="2406650"/>
            <a:ext cx="10852150" cy="3930650"/>
          </a:xfrm>
          <a:prstGeom prst="rect">
            <a:avLst/>
          </a:prstGeom>
          <a:ln w="6350">
            <a:prstDash val="solid"/>
          </a:ln>
        </p:spPr>
        <p:txBody>
          <a:bodyPr wrap="square">
            <a:spAutoFit/>
          </a:bodyPr>
          <a:lstStyle/>
          <a:p>
            <a:pPr marL="0" indent="-285750">
              <a:buFont typeface="Wingdings" panose="05000000000000000000" pitchFamily="2" charset="2"/>
              <a:buChar char="l"/>
            </a:pPr>
            <a:r>
              <a:rPr lang="en-US" sz="2400" b="1">
                <a:solidFill>
                  <a:srgbClr val="000000">
                    <a:alpha val="100000"/>
                  </a:srgbClr>
                </a:solidFill>
                <a:latin typeface="Times New Roman" panose="02020603050405020304"/>
                <a:ea typeface="Times New Roman" panose="02020603050405020304"/>
                <a:cs typeface="+mn-cs"/>
              </a:rPr>
              <a:t>F</a:t>
            </a:r>
            <a:r>
              <a:rPr sz="2400" b="1">
                <a:solidFill>
                  <a:srgbClr val="000000">
                    <a:alpha val="100000"/>
                  </a:srgbClr>
                </a:solidFill>
                <a:latin typeface="Times New Roman" panose="02020603050405020304"/>
                <a:ea typeface="Times New Roman" panose="02020603050405020304"/>
                <a:cs typeface="+mn-cs"/>
              </a:rPr>
              <a:t>orced mental disruption</a:t>
            </a:r>
            <a:r>
              <a:rPr sz="2400">
                <a:solidFill>
                  <a:srgbClr val="000000">
                    <a:alpha val="100000"/>
                  </a:srgbClr>
                </a:solidFill>
                <a:latin typeface="Times New Roman" panose="02020603050405020304"/>
                <a:ea typeface="Times New Roman" panose="02020603050405020304"/>
                <a:cs typeface="+mn-cs"/>
              </a:rPr>
              <a:t> </a:t>
            </a:r>
            <a:r>
              <a:rPr sz="2400">
                <a:solidFill>
                  <a:srgbClr val="000000">
                    <a:alpha val="100000"/>
                  </a:srgbClr>
                </a:solidFill>
                <a:latin typeface="Times New Roman" panose="02020603050405020304"/>
                <a:ea typeface="Times New Roman" panose="02020603050405020304"/>
                <a:cs typeface="+mn-cs"/>
              </a:rPr>
              <a:t>For George, though his intelligence is “way above normal”, he is legally required to wear “mental handicap radio” at all times. When he begins to think about Harrison, a noise "like a twenty-one-gun salute” stops that . (Para.3)</a:t>
            </a:r>
            <a:r>
              <a:rPr sz="2400">
                <a:solidFill>
                  <a:srgbClr val="000000">
                    <a:alpha val="100000"/>
                  </a:srgbClr>
                </a:solidFill>
                <a:latin typeface="Times New Roman" panose="02020603050405020304"/>
                <a:ea typeface="Times New Roman" panose="02020603050405020304"/>
                <a:cs typeface="+mn-cs"/>
              </a:rPr>
              <a:t> </a:t>
            </a:r>
            <a:endParaRPr sz="2400">
              <a:solidFill>
                <a:srgbClr val="000000">
                  <a:alpha val="100000"/>
                </a:srgbClr>
              </a:solidFill>
              <a:latin typeface="Times New Roman" panose="02020603050405020304"/>
              <a:ea typeface="Times New Roman" panose="02020603050405020304"/>
              <a:cs typeface="+mn-cs"/>
            </a:endParaRPr>
          </a:p>
          <a:p>
            <a:pPr indent="0">
              <a:buNone/>
            </a:pPr>
            <a:endParaRPr lang="en-US" sz="2400">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lang="en-US" sz="2400" b="1">
                <a:solidFill>
                  <a:srgbClr val="000000">
                    <a:alpha val="100000"/>
                  </a:srgbClr>
                </a:solidFill>
                <a:latin typeface="Times New Roman" panose="02020603050405020304"/>
                <a:ea typeface="Times New Roman" panose="02020603050405020304"/>
                <a:cs typeface="+mn-cs"/>
              </a:rPr>
              <a:t>P</a:t>
            </a:r>
            <a:r>
              <a:rPr sz="2400" b="1">
                <a:solidFill>
                  <a:srgbClr val="000000">
                    <a:alpha val="100000"/>
                  </a:srgbClr>
                </a:solidFill>
                <a:latin typeface="Times New Roman" panose="02020603050405020304"/>
                <a:ea typeface="Times New Roman" panose="02020603050405020304"/>
                <a:cs typeface="+mn-cs"/>
              </a:rPr>
              <a:t>erfectly average intelligence</a:t>
            </a:r>
            <a:r>
              <a:rPr sz="2400">
                <a:solidFill>
                  <a:srgbClr val="000000">
                    <a:alpha val="100000"/>
                  </a:srgbClr>
                </a:solidFill>
                <a:latin typeface="Times New Roman" panose="02020603050405020304"/>
                <a:ea typeface="Times New Roman" panose="02020603050405020304"/>
                <a:cs typeface="+mn-cs"/>
              </a:rPr>
              <a:t> </a:t>
            </a:r>
            <a:r>
              <a:rPr sz="2400">
                <a:solidFill>
                  <a:srgbClr val="000000">
                    <a:alpha val="100000"/>
                  </a:srgbClr>
                </a:solidFill>
                <a:latin typeface="Times New Roman" panose="02020603050405020304"/>
                <a:ea typeface="Times New Roman" panose="02020603050405020304"/>
                <a:cs typeface="+mn-cs"/>
              </a:rPr>
              <a:t>For Hazel, she can not think anything “except in short bursts”. Thus, her mind is simply unable to process emotional or complex topics: even when tears stream down her cheeks, she "forgets for the moment what they were about". (Para.3, Para.4)</a:t>
            </a:r>
            <a:r>
              <a:rPr>
                <a:solidFill>
                  <a:srgbClr val="000000">
                    <a:alpha val="100000"/>
                  </a:srgbClr>
                </a:solidFill>
              </a:rPr>
              <a:t>
</a:t>
            </a:r>
            <a:endParaRPr>
              <a:solidFill>
                <a:srgbClr val="000000">
                  <a:alpha val="100000"/>
                </a:srgbClr>
              </a:solidFill>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cxnSp>
        <p:nvCxnSpPr>
          <p:cNvPr id="20"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1"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2"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3"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4"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26" name="文本框 25"/>
          <p:cNvSpPr txBox="1"/>
          <p:nvPr/>
        </p:nvSpPr>
        <p:spPr>
          <a:xfrm>
            <a:off x="841864" y="1266141"/>
            <a:ext cx="10852150" cy="8255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5. </a:t>
            </a:r>
            <a:r>
              <a:rPr sz="2400" b="1">
                <a:solidFill>
                  <a:srgbClr val="000000">
                    <a:alpha val="100000"/>
                  </a:srgbClr>
                </a:solidFill>
                <a:latin typeface="Times New Roman" panose="02020603050405020304"/>
                <a:ea typeface="Times New Roman" panose="02020603050405020304"/>
                <a:cs typeface="+mn-cs"/>
              </a:rPr>
              <a:t>What reason does George give for not trying to cheat? What is George’s view   on competition?</a:t>
            </a:r>
            <a:endParaRPr sz="2400" b="1">
              <a:solidFill>
                <a:srgbClr val="000000">
                  <a:alpha val="100000"/>
                </a:srgbClr>
              </a:solidFill>
              <a:latin typeface="Times New Roman" panose="02020603050405020304"/>
              <a:ea typeface="Times New Roman" panose="02020603050405020304"/>
              <a:cs typeface="+mn-cs"/>
            </a:endParaRPr>
          </a:p>
        </p:txBody>
      </p:sp>
      <p:sp>
        <p:nvSpPr>
          <p:cNvPr id="27" name="文本框 26"/>
          <p:cNvSpPr txBox="1"/>
          <p:nvPr/>
        </p:nvSpPr>
        <p:spPr>
          <a:xfrm>
            <a:off x="841864" y="2406650"/>
            <a:ext cx="10750550" cy="4660900"/>
          </a:xfrm>
          <a:prstGeom prst="rect">
            <a:avLst/>
          </a:prstGeom>
          <a:ln w="6350">
            <a:prstDash val="solid"/>
          </a:ln>
        </p:spPr>
        <p:txBody>
          <a:bodyPr wrap="square">
            <a:spAutoFit/>
          </a:bodyPr>
          <a:lstStyle/>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He clearly knows the </a:t>
            </a:r>
            <a:r>
              <a:rPr sz="2400" b="1">
                <a:solidFill>
                  <a:srgbClr val="000000">
                    <a:alpha val="100000"/>
                  </a:srgbClr>
                </a:solidFill>
                <a:latin typeface="Times New Roman" panose="02020603050405020304"/>
                <a:ea typeface="Times New Roman" panose="02020603050405020304"/>
                <a:cs typeface="+mn-cs"/>
              </a:rPr>
              <a:t>serious legal punishment</a:t>
            </a:r>
            <a:r>
              <a:rPr sz="2400">
                <a:solidFill>
                  <a:srgbClr val="000000">
                    <a:alpha val="100000"/>
                  </a:srgbClr>
                </a:solidFill>
                <a:latin typeface="Times New Roman" panose="02020603050405020304"/>
                <a:ea typeface="Times New Roman" panose="02020603050405020304"/>
                <a:cs typeface="+mn-cs"/>
              </a:rPr>
              <a:t> after cheating, including “two years in prison and two thousand dollars fine for every ball he takes out”. (Para. 27)</a:t>
            </a:r>
            <a:endParaRPr sz="2400">
              <a:solidFill>
                <a:srgbClr val="000000">
                  <a:alpha val="100000"/>
                </a:srgbClr>
              </a:solidFill>
              <a:latin typeface="Times New Roman" panose="02020603050405020304"/>
              <a:ea typeface="Times New Roman" panose="02020603050405020304"/>
              <a:cs typeface="+mn-cs"/>
            </a:endParaRPr>
          </a:p>
          <a:p>
            <a:pPr indent="0">
              <a:buNone/>
            </a:pPr>
            <a:endParaRPr lang="en-US"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He </a:t>
            </a:r>
            <a:r>
              <a:rPr sz="2400" b="1">
                <a:solidFill>
                  <a:srgbClr val="000000">
                    <a:alpha val="100000"/>
                  </a:srgbClr>
                </a:solidFill>
                <a:latin typeface="Times New Roman" panose="02020603050405020304"/>
                <a:ea typeface="Times New Roman" panose="02020603050405020304"/>
                <a:cs typeface="+mn-cs"/>
              </a:rPr>
              <a:t>fears</a:t>
            </a:r>
            <a:r>
              <a:rPr sz="2400">
                <a:solidFill>
                  <a:srgbClr val="000000">
                    <a:alpha val="100000"/>
                  </a:srgbClr>
                </a:solidFill>
                <a:latin typeface="Times New Roman" panose="02020603050405020304"/>
                <a:ea typeface="Times New Roman" panose="02020603050405020304"/>
                <a:cs typeface="+mn-cs"/>
              </a:rPr>
              <a:t> that cheating would destroy the society’s enforced “equality” and lead to </a:t>
            </a:r>
            <a:r>
              <a:rPr sz="2400" b="1">
                <a:solidFill>
                  <a:srgbClr val="000000">
                    <a:alpha val="100000"/>
                  </a:srgbClr>
                </a:solidFill>
                <a:latin typeface="Times New Roman" panose="02020603050405020304"/>
                <a:ea typeface="Times New Roman" panose="02020603050405020304"/>
                <a:cs typeface="+mn-cs"/>
              </a:rPr>
              <a:t>social regression</a:t>
            </a:r>
            <a:r>
              <a:rPr sz="2400">
                <a:solidFill>
                  <a:srgbClr val="000000">
                    <a:alpha val="100000"/>
                  </a:srgbClr>
                </a:solidFill>
                <a:latin typeface="Times New Roman" panose="02020603050405020304"/>
                <a:ea typeface="Times New Roman" panose="02020603050405020304"/>
                <a:cs typeface="+mn-cs"/>
              </a:rPr>
              <a:t>. He is adapt to the “handicap” age, and afraid of returning to the “dark” age when “everybody competes against everybody else”.(Para. 29)</a:t>
            </a:r>
            <a:endParaRPr sz="2400">
              <a:solidFill>
                <a:srgbClr val="000000">
                  <a:alpha val="100000"/>
                </a:srgbClr>
              </a:solidFill>
              <a:latin typeface="Times New Roman" panose="02020603050405020304"/>
              <a:ea typeface="Times New Roman" panose="02020603050405020304"/>
              <a:cs typeface="+mn-cs"/>
            </a:endParaRPr>
          </a:p>
          <a:p>
            <a:endParaRPr lang="en-US"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George’s view on competition:</a:t>
            </a:r>
            <a:endParaRPr sz="2400">
              <a:solidFill>
                <a:srgbClr val="000000">
                  <a:alpha val="100000"/>
                </a:srgbClr>
              </a:solidFill>
              <a:latin typeface="Times New Roman" panose="02020603050405020304"/>
              <a:ea typeface="Times New Roman" panose="02020603050405020304"/>
              <a:cs typeface="+mn-cs"/>
            </a:endParaRPr>
          </a:p>
          <a:p>
            <a:pPr marL="0" indent="-285750"/>
            <a:r>
              <a:rPr lang="en-US" sz="2400">
                <a:solidFill>
                  <a:srgbClr val="000000">
                    <a:alpha val="100000"/>
                  </a:srgbClr>
                </a:solidFill>
                <a:latin typeface="Times New Roman" panose="02020603050405020304"/>
                <a:ea typeface="Times New Roman" panose="02020603050405020304"/>
                <a:cs typeface="+mn-cs"/>
              </a:rPr>
              <a:t>     </a:t>
            </a:r>
            <a:r>
              <a:rPr sz="2400">
                <a:solidFill>
                  <a:srgbClr val="000000">
                    <a:alpha val="100000"/>
                  </a:srgbClr>
                </a:solidFill>
                <a:latin typeface="Times New Roman" panose="02020603050405020304"/>
                <a:ea typeface="Times New Roman" panose="02020603050405020304"/>
                <a:cs typeface="+mn-cs"/>
              </a:rPr>
              <a:t>He holds </a:t>
            </a:r>
            <a:r>
              <a:rPr sz="2400" b="1">
                <a:solidFill>
                  <a:srgbClr val="000000">
                    <a:alpha val="100000"/>
                  </a:srgbClr>
                </a:solidFill>
                <a:latin typeface="Times New Roman" panose="02020603050405020304"/>
                <a:ea typeface="Times New Roman" panose="02020603050405020304"/>
                <a:cs typeface="+mn-cs"/>
              </a:rPr>
              <a:t>negative</a:t>
            </a:r>
            <a:r>
              <a:rPr sz="2400">
                <a:solidFill>
                  <a:srgbClr val="000000">
                    <a:alpha val="100000"/>
                  </a:srgbClr>
                </a:solidFill>
                <a:latin typeface="Times New Roman" panose="02020603050405020304"/>
                <a:ea typeface="Times New Roman" panose="02020603050405020304"/>
                <a:cs typeface="+mn-cs"/>
              </a:rPr>
              <a:t> view of competition. He regards competition as a threat to social equality. He thinks that competition is universally undesirable and will lead to society’s break down. (Para. 31 Para. 33)</a:t>
            </a:r>
            <a:r>
              <a:rPr>
                <a:solidFill>
                  <a:srgbClr val="000000">
                    <a:alpha val="100000"/>
                  </a:srgbClr>
                </a:solidFill>
              </a:rPr>
              <a:t>
</a:t>
            </a:r>
            <a:endParaRPr>
              <a:solidFill>
                <a:srgbClr val="000000">
                  <a:alpha val="100000"/>
                </a:srgbClr>
              </a:solidFill>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cxnSp>
        <p:nvCxnSpPr>
          <p:cNvPr id="29"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30"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31"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32"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33"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35" name="文本框 34"/>
          <p:cNvSpPr txBox="1"/>
          <p:nvPr/>
        </p:nvSpPr>
        <p:spPr>
          <a:xfrm>
            <a:off x="736893" y="1266141"/>
            <a:ext cx="11234614" cy="825500"/>
          </a:xfrm>
          <a:prstGeom prst="rect">
            <a:avLst/>
          </a:prstGeom>
          <a:ln w="6350">
            <a:prstDash val="solid"/>
          </a:ln>
        </p:spPr>
        <p:txBody>
          <a:bodyPr wrap="square">
            <a:spAutoFit/>
          </a:bodyPr>
          <a:lstStyle/>
          <a:p>
            <a:pPr indent="0">
              <a:buNone/>
            </a:pPr>
            <a:r>
              <a:rPr sz="2400" b="1">
                <a:solidFill>
                  <a:srgbClr val="000000">
                    <a:alpha val="100000"/>
                  </a:srgbClr>
                </a:solidFill>
                <a:latin typeface="Times New Roman" panose="02020603050405020304"/>
                <a:ea typeface="Times New Roman" panose="02020603050405020304"/>
                <a:cs typeface="+mn-cs"/>
              </a:rPr>
              <a:t>6. What happens to Harrison Bergeron finally? How do you understand the dialogue between Gorge and Hazel at the end of the story?</a:t>
            </a:r>
            <a:endParaRPr sz="2400" b="1">
              <a:solidFill>
                <a:srgbClr val="000000">
                  <a:alpha val="100000"/>
                </a:srgbClr>
              </a:solidFill>
              <a:latin typeface="Times New Roman" panose="02020603050405020304"/>
              <a:ea typeface="Times New Roman" panose="02020603050405020304"/>
              <a:cs typeface="+mn-cs"/>
            </a:endParaRPr>
          </a:p>
        </p:txBody>
      </p:sp>
      <p:sp>
        <p:nvSpPr>
          <p:cNvPr id="36" name="文本框 35"/>
          <p:cNvSpPr txBox="1"/>
          <p:nvPr/>
        </p:nvSpPr>
        <p:spPr>
          <a:xfrm>
            <a:off x="855052" y="2630854"/>
            <a:ext cx="10750550" cy="3746500"/>
          </a:xfrm>
          <a:prstGeom prst="rect">
            <a:avLst/>
          </a:prstGeom>
          <a:ln w="6350">
            <a:prstDash val="solid"/>
          </a:ln>
        </p:spPr>
        <p:txBody>
          <a:bodyPr wrap="square">
            <a:spAutoFit/>
          </a:bodyPr>
          <a:lstStyle/>
          <a:p>
            <a:pPr marL="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The H-G agent, Diana Moon Glampers shoots and kills Harrison after he violates the law.</a:t>
            </a:r>
            <a:endParaRPr sz="2400">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endParaRPr sz="2400">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The dialogue: Hazel loses ability to retain memory and emotionally connect with the surroundings; </a:t>
            </a:r>
            <a:r>
              <a:rPr sz="2400">
                <a:solidFill>
                  <a:srgbClr val="000000">
                    <a:alpha val="100000"/>
                  </a:srgbClr>
                </a:solidFill>
                <a:latin typeface="Times New Roman" panose="02020603050405020304"/>
                <a:ea typeface="Times New Roman" panose="02020603050405020304"/>
                <a:cs typeface="+mn-cs"/>
              </a:rPr>
              <a:t>George loses ability to question and reflect on the death of Harrison. In short, the 2081 enforced “equality” deprives the core spirit of humanity, including love, memory and reflection, and leads to all-rounded numbness.</a:t>
            </a:r>
            <a:endParaRPr sz="2400">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endParaRPr lang="en-US" b="1">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lang="en-US" b="1">
                <a:solidFill>
                  <a:srgbClr val="000000">
                    <a:alpha val="100000"/>
                  </a:srgbClr>
                </a:solidFill>
                <a:latin typeface="Times New Roman" panose="02020603050405020304"/>
                <a:ea typeface="Times New Roman" panose="02020603050405020304"/>
                <a:cs typeface="+mn-cs"/>
              </a:rPr>
              <a:t>no- idea exchange</a:t>
            </a:r>
            <a:r>
              <a:rPr>
                <a:solidFill>
                  <a:srgbClr val="000000">
                    <a:alpha val="100000"/>
                  </a:srgbClr>
                </a:solidFill>
              </a:rPr>
              <a:t>
</a:t>
            </a:r>
            <a:endParaRPr>
              <a:solidFill>
                <a:srgbClr val="000000">
                  <a:alpha val="100000"/>
                </a:srgbClr>
              </a:solidFill>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cxnSp>
        <p:nvCxnSpPr>
          <p:cNvPr id="38"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39"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40"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41"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42"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44" name="文本框 43"/>
          <p:cNvSpPr txBox="1"/>
          <p:nvPr/>
        </p:nvSpPr>
        <p:spPr>
          <a:xfrm>
            <a:off x="1519163" y="1243554"/>
            <a:ext cx="9670073"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7. Who is Diana Moon Glampers? In what way does she resemble Hazel?</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45" name="文本框 44"/>
          <p:cNvSpPr txBox="1"/>
          <p:nvPr/>
        </p:nvSpPr>
        <p:spPr>
          <a:xfrm>
            <a:off x="1422157" y="2406650"/>
            <a:ext cx="10052050" cy="3568700"/>
          </a:xfrm>
          <a:prstGeom prst="rect">
            <a:avLst/>
          </a:prstGeom>
          <a:ln w="6350">
            <a:prstDash val="solid"/>
          </a:ln>
        </p:spPr>
        <p:txBody>
          <a:bodyPr wrap="square">
            <a:spAutoFit/>
          </a:bodyPr>
          <a:lstStyle/>
          <a:p>
            <a:pPr marL="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Diana Moon Clampers is a woman </a:t>
            </a:r>
            <a:r>
              <a:rPr sz="2400" b="1">
                <a:solidFill>
                  <a:srgbClr val="000000">
                    <a:alpha val="100000"/>
                  </a:srgbClr>
                </a:solidFill>
                <a:latin typeface="Times New Roman" panose="02020603050405020304"/>
                <a:ea typeface="Times New Roman" panose="02020603050405020304"/>
                <a:cs typeface="+mn-cs"/>
              </a:rPr>
              <a:t>agent in “United States Handicapper General”</a:t>
            </a:r>
            <a:r>
              <a:rPr sz="2400">
                <a:solidFill>
                  <a:srgbClr val="000000">
                    <a:alpha val="100000"/>
                  </a:srgbClr>
                </a:solidFill>
                <a:latin typeface="Times New Roman" panose="02020603050405020304"/>
                <a:ea typeface="Times New Roman" panose="02020603050405020304"/>
                <a:cs typeface="+mn-cs"/>
              </a:rPr>
              <a:t>. Her responsibility is to suppress any individual who exceeds the "normal" standard (in intelligence, strength, beauty, etc.) by imposing mandatory "handicaps" and eliminating dissent </a:t>
            </a:r>
            <a:r>
              <a:rPr sz="2400" b="1">
                <a:solidFill>
                  <a:srgbClr val="000000">
                    <a:alpha val="100000"/>
                  </a:srgbClr>
                </a:solidFill>
                <a:latin typeface="Times New Roman" panose="02020603050405020304"/>
                <a:ea typeface="Times New Roman" panose="02020603050405020304"/>
                <a:cs typeface="+mn-cs"/>
              </a:rPr>
              <a:t>with violence</a:t>
            </a:r>
            <a:r>
              <a:rPr sz="2400">
                <a:solidFill>
                  <a:srgbClr val="000000">
                    <a:alpha val="100000"/>
                  </a:srgbClr>
                </a:solidFill>
                <a:latin typeface="Times New Roman" panose="02020603050405020304"/>
                <a:ea typeface="Times New Roman" panose="02020603050405020304"/>
                <a:cs typeface="+mn-cs"/>
              </a:rPr>
              <a:t>. </a:t>
            </a:r>
            <a:endParaRPr sz="2400">
              <a:solidFill>
                <a:srgbClr val="000000">
                  <a:alpha val="100000"/>
                </a:srgbClr>
              </a:solidFill>
              <a:latin typeface="Times New Roman" panose="02020603050405020304"/>
              <a:ea typeface="Times New Roman" panose="02020603050405020304"/>
              <a:cs typeface="+mn-cs"/>
            </a:endParaRPr>
          </a:p>
          <a:p>
            <a:pPr indent="0">
              <a:buNone/>
            </a:pPr>
            <a:endParaRPr lang="en-US" sz="2400">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sz="2400">
                <a:solidFill>
                  <a:srgbClr val="000000">
                    <a:alpha val="100000"/>
                  </a:srgbClr>
                </a:solidFill>
                <a:latin typeface="Times New Roman" panose="02020603050405020304"/>
                <a:ea typeface="Times New Roman" panose="02020603050405020304"/>
                <a:cs typeface="+mn-cs"/>
              </a:rPr>
              <a:t>Diana Moon Glampers resembles Hazel primarily in </a:t>
            </a:r>
            <a:r>
              <a:rPr sz="2400" b="1">
                <a:solidFill>
                  <a:srgbClr val="000000">
                    <a:alpha val="100000"/>
                  </a:srgbClr>
                </a:solidFill>
                <a:latin typeface="Times New Roman" panose="02020603050405020304"/>
                <a:ea typeface="Times New Roman" panose="02020603050405020304"/>
                <a:cs typeface="+mn-cs"/>
              </a:rPr>
              <a:t>appearance, </a:t>
            </a:r>
            <a:r>
              <a:rPr lang="en-US" sz="2400" b="1">
                <a:solidFill>
                  <a:srgbClr val="000000">
                    <a:alpha val="100000"/>
                  </a:srgbClr>
                </a:solidFill>
                <a:latin typeface="Times New Roman" panose="02020603050405020304"/>
                <a:ea typeface="Times New Roman" panose="02020603050405020304"/>
                <a:cs typeface="+mn-cs"/>
              </a:rPr>
              <a:t>while also in intelligence. </a:t>
            </a:r>
            <a:r>
              <a:rPr lang="en-US" sz="2400" b="0">
                <a:solidFill>
                  <a:srgbClr val="000000">
                    <a:alpha val="100000"/>
                  </a:srgbClr>
                </a:solidFill>
                <a:latin typeface="Times New Roman" panose="02020603050405020304"/>
                <a:ea typeface="Times New Roman" panose="02020603050405020304"/>
                <a:cs typeface="+mn-cs"/>
              </a:rPr>
              <a:t>Like Hazel, she cannot </a:t>
            </a:r>
            <a:r>
              <a:rPr lang="en-US" sz="2400" b="1">
                <a:solidFill>
                  <a:srgbClr val="000000">
                    <a:alpha val="100000"/>
                  </a:srgbClr>
                </a:solidFill>
                <a:latin typeface="Times New Roman" panose="02020603050405020304"/>
                <a:ea typeface="Times New Roman" panose="02020603050405020304"/>
                <a:cs typeface="+mn-cs"/>
              </a:rPr>
              <a:t>question</a:t>
            </a:r>
            <a:r>
              <a:rPr lang="en-US" sz="2400" b="0">
                <a:solidFill>
                  <a:srgbClr val="000000">
                    <a:alpha val="100000"/>
                  </a:srgbClr>
                </a:solidFill>
                <a:latin typeface="Times New Roman" panose="02020603050405020304"/>
                <a:ea typeface="Times New Roman" panose="02020603050405020304"/>
                <a:cs typeface="+mn-cs"/>
              </a:rPr>
              <a:t> the equality system; she only eliminates threats to the one she has. </a:t>
            </a:r>
            <a:r>
              <a:rPr>
                <a:solidFill>
                  <a:srgbClr val="000000">
                    <a:alpha val="100000"/>
                  </a:srgbClr>
                </a:solidFill>
              </a:rPr>
              <a:t>
</a:t>
            </a:r>
            <a:endParaRPr>
              <a:solidFill>
                <a:srgbClr val="000000">
                  <a:alpha val="100000"/>
                </a:srgbClr>
              </a:solidFill>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cxnSp>
        <p:nvCxnSpPr>
          <p:cNvPr id="47"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48"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49"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50"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51"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53" name="文本框 52"/>
          <p:cNvSpPr txBox="1"/>
          <p:nvPr/>
        </p:nvSpPr>
        <p:spPr>
          <a:xfrm>
            <a:off x="1519163" y="1243554"/>
            <a:ext cx="9671050"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8. Does the story argue for anything? How would you sum up its theme?</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54" name="文本框 53"/>
          <p:cNvSpPr txBox="1"/>
          <p:nvPr/>
        </p:nvSpPr>
        <p:spPr>
          <a:xfrm>
            <a:off x="1422157" y="2406650"/>
            <a:ext cx="10052050" cy="1003300"/>
          </a:xfrm>
          <a:prstGeom prst="rect">
            <a:avLst/>
          </a:prstGeom>
          <a:ln w="6350">
            <a:prstDash val="solid"/>
          </a:ln>
        </p:spPr>
        <p:txBody>
          <a:bodyPr wrap="square">
            <a:spAutoFit/>
          </a:bodyPr>
          <a:lstStyle/>
          <a:p>
            <a:pPr marL="0" indent="-285750">
              <a:buFont typeface="Wingdings" panose="05000000000000000000" pitchFamily="2" charset="2"/>
              <a:buChar char="l"/>
            </a:pPr>
            <a:r>
              <a:rPr lang="en-US" sz="2400">
                <a:solidFill>
                  <a:srgbClr val="000000">
                    <a:alpha val="100000"/>
                  </a:srgbClr>
                </a:solidFill>
                <a:latin typeface="Times New Roman" panose="02020603050405020304"/>
                <a:ea typeface="Times New Roman" panose="02020603050405020304"/>
                <a:cs typeface="+mn-cs"/>
              </a:rPr>
              <a:t>Discussed in tail by Junrui Wen in the following part.</a:t>
            </a:r>
            <a:r>
              <a:rPr>
                <a:solidFill>
                  <a:srgbClr val="000000">
                    <a:alpha val="100000"/>
                  </a:srgbClr>
                </a:solidFill>
              </a:rPr>
              <a:t>
</a:t>
            </a:r>
            <a:endParaRPr>
              <a:solidFill>
                <a:srgbClr val="000000">
                  <a:alpha val="100000"/>
                </a:srgbClr>
              </a:solidFill>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cxnSp>
        <p:nvCxnSpPr>
          <p:cNvPr id="56"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57"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58" name="任意多边形"/>
          <p:cNvSpPr>
            <a:spLocks noChangeAspect="1" noChangeArrowheads="1"/>
          </p:cNvSpPr>
          <p:nvPr/>
        </p:nvSpPr>
        <p:spPr bwMode="auto">
          <a:xfrm>
            <a:off x="1437590" y="2191785"/>
            <a:ext cx="8966445"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800">
                <a:solidFill>
                  <a:schemeClr val="tx1">
                    <a:alpha val="100000"/>
                  </a:schemeClr>
                </a:solidFill>
                <a:latin typeface="汉仪君黑-45简"/>
                <a:ea typeface="汉仪君黑-45简"/>
                <a:cs typeface="+mn-cs"/>
              </a:defRPr>
            </a:pPr>
            <a:r>
              <a:rPr>
                <a:solidFill>
                  <a:srgbClr val="000000">
                    <a:alpha val="100000"/>
                  </a:srgbClr>
                </a:solidFill>
                <a:latin typeface="Times New Roman" panose="02020603050405020304"/>
                <a:ea typeface="Times New Roman" panose="02020603050405020304"/>
                <a:cs typeface="+mn-cs"/>
              </a:rPr>
              <a:t>The story is narrated from </a:t>
            </a:r>
            <a:r>
              <a:rPr b="1">
                <a:solidFill>
                  <a:srgbClr val="000000">
                    <a:alpha val="100000"/>
                  </a:srgbClr>
                </a:solidFill>
                <a:latin typeface="Times New Roman" panose="02020603050405020304"/>
                <a:ea typeface="Times New Roman" panose="02020603050405020304"/>
                <a:cs typeface="+mn-cs"/>
              </a:rPr>
              <a:t>third-person omniscient point of view</a:t>
            </a:r>
            <a:r>
              <a:rPr>
                <a:solidFill>
                  <a:srgbClr val="000000">
                    <a:alpha val="100000"/>
                  </a:srgbClr>
                </a:solidFill>
                <a:latin typeface="Times New Roman" panose="02020603050405020304"/>
                <a:ea typeface="Times New Roman" panose="02020603050405020304"/>
                <a:cs typeface="+mn-cs"/>
              </a:rPr>
              <a:t>.</a:t>
            </a:r>
            <a:endParaRPr>
              <a:solidFill>
                <a:srgbClr val="000000">
                  <a:alpha val="100000"/>
                </a:srgbClr>
              </a:solidFill>
              <a:latin typeface="Times New Roman" panose="02020603050405020304"/>
              <a:ea typeface="Times New Roman" panose="02020603050405020304"/>
              <a:cs typeface="+mn-cs"/>
            </a:endParaRPr>
          </a:p>
        </p:txBody>
      </p:sp>
      <p:sp>
        <p:nvSpPr>
          <p:cNvPr id="59"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60"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Preparation Questions</a:t>
            </a:r>
            <a:endParaRPr sz="1800">
              <a:solidFill>
                <a:schemeClr val="tx1">
                  <a:alpha val="100000"/>
                </a:schemeClr>
              </a:solidFill>
              <a:latin typeface="汉仪君黑-45简"/>
              <a:ea typeface="汉仪君黑-45简"/>
              <a:cs typeface="+mn-cs"/>
            </a:endParaRPr>
          </a:p>
        </p:txBody>
      </p:sp>
      <p:sp>
        <p:nvSpPr>
          <p:cNvPr id="62" name="文本框 61"/>
          <p:cNvSpPr txBox="1"/>
          <p:nvPr/>
        </p:nvSpPr>
        <p:spPr>
          <a:xfrm>
            <a:off x="1519163" y="1243554"/>
            <a:ext cx="9671050" cy="8255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9. From what point of view is the story narrated? </a:t>
            </a:r>
            <a:endParaRPr lang="en-US" sz="2400" b="1">
              <a:solidFill>
                <a:srgbClr val="000000">
                  <a:alpha val="100000"/>
                </a:srgbClr>
              </a:solidFill>
              <a:latin typeface="Times New Roman" panose="02020603050405020304"/>
              <a:ea typeface="Times New Roman" panose="02020603050405020304"/>
              <a:cs typeface="+mn-cs"/>
            </a:endParaRPr>
          </a:p>
          <a:p>
            <a:pPr indent="0">
              <a:buNone/>
            </a:pPr>
            <a:r>
              <a:rPr lang="en-US" sz="2400" b="1">
                <a:solidFill>
                  <a:srgbClr val="000000">
                    <a:alpha val="100000"/>
                  </a:srgbClr>
                </a:solidFill>
                <a:latin typeface="Times New Roman" panose="02020603050405020304"/>
                <a:ea typeface="Times New Roman" panose="02020603050405020304"/>
                <a:cs typeface="+mn-cs"/>
              </a:rPr>
              <a:t>   Could it be told by Harrison Bergeron in the first-person point of view?</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63" name="文本框 62"/>
          <p:cNvSpPr txBox="1"/>
          <p:nvPr/>
        </p:nvSpPr>
        <p:spPr>
          <a:xfrm>
            <a:off x="1230482" y="2463565"/>
            <a:ext cx="10052050" cy="4203700"/>
          </a:xfrm>
          <a:prstGeom prst="rect">
            <a:avLst/>
          </a:prstGeom>
          <a:ln w="6350">
            <a:prstDash val="solid"/>
          </a:ln>
        </p:spPr>
        <p:txBody>
          <a:bodyPr wrap="square">
            <a:spAutoFit/>
          </a:bodyPr>
          <a:lstStyle/>
          <a:p>
            <a:pPr indent="0">
              <a:buNone/>
            </a:pPr>
            <a:endParaRPr>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b="1">
                <a:solidFill>
                  <a:srgbClr val="000000">
                    <a:alpha val="100000"/>
                  </a:srgbClr>
                </a:solidFill>
                <a:latin typeface="Times New Roman" panose="02020603050405020304"/>
                <a:ea typeface="Times New Roman" panose="02020603050405020304"/>
                <a:cs typeface="+mn-cs"/>
              </a:rPr>
              <a:t>No</a:t>
            </a:r>
            <a:r>
              <a:rPr>
                <a:solidFill>
                  <a:srgbClr val="000000">
                    <a:alpha val="100000"/>
                  </a:srgbClr>
                </a:solidFill>
                <a:latin typeface="Times New Roman" panose="02020603050405020304"/>
                <a:ea typeface="Times New Roman" panose="02020603050405020304"/>
                <a:cs typeface="+mn-cs"/>
              </a:rPr>
              <a:t>. Narrating in the first-person point of view will:</a:t>
            </a:r>
            <a:endParaRPr>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a:solidFill>
                  <a:srgbClr val="000000">
                    <a:alpha val="100000"/>
                  </a:srgbClr>
                </a:solidFill>
                <a:latin typeface="Times New Roman" panose="02020603050405020304"/>
                <a:ea typeface="Times New Roman" panose="02020603050405020304"/>
                <a:cs typeface="+mn-cs"/>
              </a:rPr>
              <a:t>(a)</a:t>
            </a:r>
            <a:r>
              <a:rPr>
                <a:solidFill>
                  <a:srgbClr val="000000">
                    <a:alpha val="100000"/>
                  </a:srgbClr>
                </a:solidFill>
                <a:latin typeface="Times New Roman" panose="02020603050405020304"/>
                <a:ea typeface="Times New Roman" panose="02020603050405020304"/>
                <a:cs typeface="+mn-cs"/>
              </a:rPr>
              <a:t>  </a:t>
            </a:r>
            <a:r>
              <a:rPr b="1">
                <a:solidFill>
                  <a:srgbClr val="000000">
                    <a:alpha val="100000"/>
                  </a:srgbClr>
                </a:solidFill>
                <a:latin typeface="Times New Roman" panose="02020603050405020304"/>
                <a:ea typeface="Times New Roman" panose="02020603050405020304"/>
                <a:cs typeface="+mn-cs"/>
              </a:rPr>
              <a:t>focus more on “individual” rather than “society”.</a:t>
            </a:r>
            <a:r>
              <a:rPr>
                <a:solidFill>
                  <a:srgbClr val="000000">
                    <a:alpha val="100000"/>
                  </a:srgbClr>
                </a:solidFill>
                <a:latin typeface="Times New Roman" panose="02020603050405020304"/>
                <a:ea typeface="Times New Roman" panose="02020603050405020304"/>
                <a:cs typeface="+mn-cs"/>
              </a:rPr>
              <a:t> </a:t>
            </a:r>
            <a:r>
              <a:rPr>
                <a:solidFill>
                  <a:srgbClr val="000000">
                    <a:alpha val="100000"/>
                  </a:srgbClr>
                </a:solidFill>
                <a:latin typeface="Times New Roman" panose="02020603050405020304"/>
                <a:ea typeface="Times New Roman" panose="02020603050405020304"/>
                <a:cs typeface="+mn-cs"/>
              </a:rPr>
              <a:t>The short story is not only aimed to tell the tragedy of Harrison but also demonstrates the tragedy of society under absolute equality.</a:t>
            </a:r>
            <a:endParaRPr>
              <a:solidFill>
                <a:srgbClr val="000000">
                  <a:alpha val="100000"/>
                </a:srgbClr>
              </a:solidFill>
              <a:latin typeface="Times New Roman" panose="02020603050405020304"/>
              <a:ea typeface="Times New Roman" panose="02020603050405020304"/>
              <a:cs typeface="+mn-cs"/>
            </a:endParaRPr>
          </a:p>
          <a:p>
            <a:pPr indent="0">
              <a:buNone/>
            </a:pPr>
            <a:endParaRPr lang="en-US">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a:solidFill>
                  <a:srgbClr val="000000">
                    <a:alpha val="100000"/>
                  </a:srgbClr>
                </a:solidFill>
                <a:latin typeface="Times New Roman" panose="02020603050405020304"/>
                <a:ea typeface="Times New Roman" panose="02020603050405020304"/>
                <a:cs typeface="+mn-cs"/>
              </a:rPr>
              <a:t>(b) </a:t>
            </a:r>
            <a:r>
              <a:rPr b="1">
                <a:solidFill>
                  <a:srgbClr val="000000">
                    <a:alpha val="100000"/>
                  </a:srgbClr>
                </a:solidFill>
                <a:latin typeface="Times New Roman" panose="02020603050405020304"/>
                <a:ea typeface="Times New Roman" panose="02020603050405020304"/>
                <a:cs typeface="+mn-cs"/>
              </a:rPr>
              <a:t>eliminate the ironic effect of tragic ending</a:t>
            </a:r>
            <a:r>
              <a:rPr>
                <a:solidFill>
                  <a:srgbClr val="000000">
                    <a:alpha val="100000"/>
                  </a:srgbClr>
                </a:solidFill>
                <a:latin typeface="Times New Roman" panose="02020603050405020304"/>
                <a:ea typeface="Times New Roman" panose="02020603050405020304"/>
                <a:cs typeface="+mn-cs"/>
              </a:rPr>
              <a:t> </a:t>
            </a:r>
            <a:r>
              <a:rPr>
                <a:solidFill>
                  <a:srgbClr val="000000">
                    <a:alpha val="100000"/>
                  </a:srgbClr>
                </a:solidFill>
                <a:latin typeface="Times New Roman" panose="02020603050405020304"/>
                <a:ea typeface="Times New Roman" panose="02020603050405020304"/>
                <a:cs typeface="+mn-cs"/>
              </a:rPr>
              <a:t>This ending exposes the society’s destruction on humanity. </a:t>
            </a:r>
            <a:r>
              <a:rPr>
                <a:solidFill>
                  <a:srgbClr val="000000">
                    <a:alpha val="100000"/>
                  </a:srgbClr>
                </a:solidFill>
                <a:latin typeface="Times New Roman" panose="02020603050405020304"/>
                <a:ea typeface="Times New Roman" panose="02020603050405020304"/>
                <a:cs typeface="+mn-cs"/>
              </a:rPr>
              <a:t>A first-person Harrison narrator could not depict this ending, and readers would never see how his rebellion is immediately erased. Without this, the story’s warning about the permanence of systemic control is lost.</a:t>
            </a:r>
            <a:endParaRPr>
              <a:solidFill>
                <a:srgbClr val="000000">
                  <a:alpha val="100000"/>
                </a:srgbClr>
              </a:solidFill>
              <a:latin typeface="Times New Roman" panose="02020603050405020304"/>
              <a:ea typeface="Times New Roman" panose="02020603050405020304"/>
              <a:cs typeface="+mn-cs"/>
            </a:endParaRPr>
          </a:p>
          <a:p>
            <a:pPr indent="0">
              <a:buNone/>
            </a:pPr>
            <a:endParaRPr lang="en-US">
              <a:solidFill>
                <a:srgbClr val="000000">
                  <a:alpha val="100000"/>
                </a:srgbClr>
              </a:solidFill>
              <a:latin typeface="Times New Roman" panose="02020603050405020304"/>
              <a:ea typeface="Times New Roman" panose="02020603050405020304"/>
              <a:cs typeface="+mn-cs"/>
            </a:endParaRPr>
          </a:p>
          <a:p>
            <a:pPr marL="0" indent="-285750">
              <a:buFont typeface="Wingdings" panose="05000000000000000000" pitchFamily="2" charset="2"/>
              <a:buChar char="l"/>
            </a:pPr>
            <a:r>
              <a:rPr>
                <a:solidFill>
                  <a:srgbClr val="000000">
                    <a:alpha val="100000"/>
                  </a:srgbClr>
                </a:solidFill>
                <a:latin typeface="Times New Roman" panose="02020603050405020304"/>
                <a:ea typeface="Times New Roman" panose="02020603050405020304"/>
                <a:cs typeface="+mn-cs"/>
              </a:rPr>
              <a:t>(c)</a:t>
            </a:r>
            <a:r>
              <a:rPr>
                <a:solidFill>
                  <a:srgbClr val="000000">
                    <a:alpha val="100000"/>
                  </a:srgbClr>
                </a:solidFill>
                <a:latin typeface="Times New Roman" panose="02020603050405020304"/>
                <a:ea typeface="Times New Roman" panose="02020603050405020304"/>
                <a:cs typeface="+mn-cs"/>
              </a:rPr>
              <a:t> </a:t>
            </a:r>
            <a:r>
              <a:rPr b="1">
                <a:solidFill>
                  <a:srgbClr val="000000">
                    <a:alpha val="100000"/>
                  </a:srgbClr>
                </a:solidFill>
                <a:latin typeface="Times New Roman" panose="02020603050405020304"/>
                <a:ea typeface="Times New Roman" panose="02020603050405020304"/>
                <a:cs typeface="+mn-cs"/>
              </a:rPr>
              <a:t>weaken the critique to the social equality.</a:t>
            </a:r>
            <a:r>
              <a:rPr>
                <a:solidFill>
                  <a:srgbClr val="000000">
                    <a:alpha val="100000"/>
                  </a:srgbClr>
                </a:solidFill>
                <a:latin typeface="Times New Roman" panose="02020603050405020304"/>
                <a:ea typeface="Times New Roman" panose="02020603050405020304"/>
                <a:cs typeface="+mn-cs"/>
              </a:rPr>
              <a:t> </a:t>
            </a:r>
            <a:r>
              <a:rPr>
                <a:solidFill>
                  <a:srgbClr val="000000">
                    <a:alpha val="100000"/>
                  </a:srgbClr>
                </a:solidFill>
                <a:latin typeface="Times New Roman" panose="02020603050405020304"/>
                <a:ea typeface="Times New Roman" panose="02020603050405020304"/>
                <a:cs typeface="+mn-cs"/>
              </a:rPr>
              <a:t>Harrison’s first-person view would be restricted to his own experiences (jail, escape, rebellion), readers will not understand how the system operates on a societal scale, weakening the story’s critique of extreme “equality”.</a:t>
            </a:r>
            <a:r>
              <a:rPr>
                <a:solidFill>
                  <a:srgbClr val="000000">
                    <a:alpha val="100000"/>
                  </a:srgbClr>
                </a:solidFill>
              </a:rPr>
              <a:t>
</a:t>
            </a:r>
            <a:endParaRPr>
              <a:solidFill>
                <a:srgbClr val="000000">
                  <a:alpha val="100000"/>
                </a:srgbClr>
              </a:solidFill>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cxnSp>
        <p:nvCxnSpPr>
          <p:cNvPr id="65"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66"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67"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68"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69"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Paraphrases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71" name="文本框 70"/>
          <p:cNvSpPr txBox="1"/>
          <p:nvPr/>
        </p:nvSpPr>
        <p:spPr>
          <a:xfrm>
            <a:off x="1519163" y="1243554"/>
            <a:ext cx="9671050"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His thoughts fled in panic, like bandits from a burglar alarm. (Para. 6)</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72" name="文本框 71"/>
          <p:cNvSpPr txBox="1"/>
          <p:nvPr/>
        </p:nvSpPr>
        <p:spPr>
          <a:xfrm>
            <a:off x="1422157" y="2250440"/>
            <a:ext cx="10052050" cy="3016250"/>
          </a:xfrm>
          <a:prstGeom prst="rect">
            <a:avLst/>
          </a:prstGeom>
          <a:ln w="6350">
            <a:prstDash val="solid"/>
          </a:ln>
        </p:spPr>
        <p:txBody>
          <a:bodyPr wrap="square">
            <a:spAutoFit/>
          </a:bodyPr>
          <a:lstStyle/>
          <a:p>
            <a:pPr marL="0" indent="-285750"/>
            <a:r>
              <a:rPr sz="2400" b="1">
                <a:solidFill>
                  <a:srgbClr val="000000">
                    <a:alpha val="100000"/>
                  </a:srgbClr>
                </a:solidFill>
                <a:latin typeface="Times New Roman" panose="02020603050405020304"/>
                <a:ea typeface="Times New Roman" panose="02020603050405020304"/>
                <a:cs typeface="+mn-cs"/>
              </a:rPr>
              <a:t>bandits</a:t>
            </a:r>
            <a:r>
              <a:rPr sz="2400">
                <a:solidFill>
                  <a:srgbClr val="000000">
                    <a:alpha val="100000"/>
                  </a:srgbClr>
                </a:solidFill>
                <a:latin typeface="Times New Roman" panose="02020603050405020304"/>
                <a:ea typeface="Times New Roman" panose="02020603050405020304"/>
                <a:cs typeface="+mn-cs"/>
              </a:rPr>
              <a:t>: People who rob or attack others, especially in public places or along roads.</a:t>
            </a:r>
            <a:endParaRPr sz="2400">
              <a:solidFill>
                <a:srgbClr val="000000">
                  <a:alpha val="100000"/>
                </a:srgbClr>
              </a:solidFill>
              <a:latin typeface="Times New Roman" panose="02020603050405020304"/>
              <a:ea typeface="Times New Roman" panose="02020603050405020304"/>
              <a:cs typeface="+mn-cs"/>
            </a:endParaRPr>
          </a:p>
          <a:p>
            <a:pPr marL="0" indent="-285750"/>
            <a:r>
              <a:rPr sz="2400" b="1">
                <a:solidFill>
                  <a:srgbClr val="000000">
                    <a:alpha val="100000"/>
                  </a:srgbClr>
                </a:solidFill>
                <a:latin typeface="Times New Roman" panose="02020603050405020304"/>
                <a:ea typeface="Times New Roman" panose="02020603050405020304"/>
                <a:cs typeface="+mn-cs"/>
              </a:rPr>
              <a:t>burglar alarm</a:t>
            </a:r>
            <a:r>
              <a:rPr sz="2400">
                <a:solidFill>
                  <a:srgbClr val="000000">
                    <a:alpha val="100000"/>
                  </a:srgbClr>
                </a:solidFill>
                <a:latin typeface="Times New Roman" panose="02020603050405020304"/>
                <a:ea typeface="Times New Roman" panose="02020603050405020304"/>
                <a:cs typeface="+mn-cs"/>
              </a:rPr>
              <a:t>: An electronic device that makes a loud noise when someone tries to break into a building.</a:t>
            </a:r>
            <a:endParaRPr sz="2400">
              <a:solidFill>
                <a:srgbClr val="000000">
                  <a:alpha val="100000"/>
                </a:srgbClr>
              </a:solidFill>
              <a:latin typeface="Times New Roman" panose="02020603050405020304"/>
              <a:ea typeface="Times New Roman" panose="02020603050405020304"/>
              <a:cs typeface="+mn-cs"/>
            </a:endParaRPr>
          </a:p>
          <a:p>
            <a:pPr marL="0" indent="-285750"/>
            <a:endParaRPr sz="2400">
              <a:solidFill>
                <a:srgbClr val="000000">
                  <a:alpha val="100000"/>
                </a:srgbClr>
              </a:solidFill>
              <a:latin typeface="Times New Roman" panose="02020603050405020304"/>
              <a:ea typeface="Times New Roman" panose="02020603050405020304"/>
              <a:cs typeface="+mn-cs"/>
            </a:endParaRPr>
          </a:p>
          <a:p>
            <a:pPr marL="0" indent="-285750"/>
            <a:r>
              <a:rPr lang="en-US" sz="2400">
                <a:solidFill>
                  <a:srgbClr val="0070C0">
                    <a:alpha val="100000"/>
                  </a:srgbClr>
                </a:solidFill>
                <a:latin typeface="Times New Roman" panose="02020603050405020304"/>
                <a:ea typeface="Times New Roman" panose="02020603050405020304"/>
                <a:cs typeface="+mn-cs"/>
              </a:rPr>
              <a:t>His thoughts rushed away in sudden fear, just like thieves who run away as soon as a burglar alarm starts ringing.
</a:t>
            </a:r>
            <a:endParaRPr lang="en-US" sz="2400">
              <a:solidFill>
                <a:srgbClr val="0070C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cxnSp>
        <p:nvCxnSpPr>
          <p:cNvPr id="74"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75"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76"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77"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78"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Paraphrases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80" name="文本框 79"/>
          <p:cNvSpPr txBox="1"/>
          <p:nvPr/>
        </p:nvSpPr>
        <p:spPr>
          <a:xfrm>
            <a:off x="1519163" y="1243554"/>
            <a:ext cx="9671050" cy="8255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……so that no one, seeing a free and graceful gesture or a pretty face, would feel like something the cat drug in. (Para. 10)</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81" name="文本框 80"/>
          <p:cNvSpPr txBox="1"/>
          <p:nvPr/>
        </p:nvSpPr>
        <p:spPr>
          <a:xfrm>
            <a:off x="1422157" y="2250440"/>
            <a:ext cx="10052050" cy="3016250"/>
          </a:xfrm>
          <a:prstGeom prst="rect">
            <a:avLst/>
          </a:prstGeom>
          <a:ln w="6350">
            <a:prstDash val="solid"/>
          </a:ln>
        </p:spPr>
        <p:txBody>
          <a:bodyPr wrap="square">
            <a:spAutoFit/>
          </a:bodyPr>
          <a:lstStyle/>
          <a:p>
            <a:pPr marL="0" indent="-285750"/>
            <a:r>
              <a:rPr lang="en-US" sz="2400" b="1">
                <a:solidFill>
                  <a:srgbClr val="000000">
                    <a:alpha val="100000"/>
                  </a:srgbClr>
                </a:solidFill>
                <a:latin typeface="Times New Roman" panose="02020603050405020304"/>
                <a:ea typeface="Times New Roman" panose="02020603050405020304"/>
                <a:cs typeface="+mn-cs"/>
              </a:rPr>
              <a:t>something the cat drags in:  </a:t>
            </a:r>
            <a:r>
              <a:rPr lang="en-US" sz="2400" b="0">
                <a:solidFill>
                  <a:srgbClr val="000000">
                    <a:alpha val="100000"/>
                  </a:srgbClr>
                </a:solidFill>
                <a:latin typeface="Times New Roman" panose="02020603050405020304"/>
                <a:ea typeface="Times New Roman" panose="02020603050405020304"/>
                <a:cs typeface="+mn-cs"/>
              </a:rPr>
              <a:t>refer to</a:t>
            </a:r>
            <a:r>
              <a:rPr lang="en-US" sz="2400" b="1">
                <a:solidFill>
                  <a:srgbClr val="000000">
                    <a:alpha val="100000"/>
                  </a:srgbClr>
                </a:solidFill>
                <a:latin typeface="Times New Roman" panose="02020603050405020304"/>
                <a:ea typeface="Times New Roman" panose="02020603050405020304"/>
                <a:cs typeface="+mn-cs"/>
              </a:rPr>
              <a:t> </a:t>
            </a:r>
            <a:r>
              <a:rPr lang="en-US" sz="2400" b="0">
                <a:solidFill>
                  <a:srgbClr val="000000">
                    <a:alpha val="100000"/>
                  </a:srgbClr>
                </a:solidFill>
                <a:latin typeface="Times New Roman" panose="02020603050405020304"/>
                <a:ea typeface="Times New Roman" panose="02020603050405020304"/>
                <a:cs typeface="+mn-cs"/>
              </a:rPr>
              <a:t>a person or thing that looks messy, unkempt, shabby, or unappealing</a:t>
            </a:r>
            <a:r>
              <a:rPr lang="zh-CN" sz="2400" b="0">
                <a:solidFill>
                  <a:srgbClr val="000000">
                    <a:alpha val="100000"/>
                  </a:srgbClr>
                </a:solidFill>
                <a:latin typeface="Times New Roman" panose="02020603050405020304"/>
                <a:ea typeface="Times New Roman" panose="02020603050405020304"/>
                <a:cs typeface="+mn-cs"/>
              </a:rPr>
              <a:t>；</a:t>
            </a:r>
            <a:r>
              <a:rPr lang="en-US" sz="2400" b="0">
                <a:solidFill>
                  <a:srgbClr val="000000">
                    <a:alpha val="100000"/>
                  </a:srgbClr>
                </a:solidFill>
                <a:latin typeface="Times New Roman" panose="02020603050405020304"/>
                <a:ea typeface="Times New Roman" panose="02020603050405020304"/>
                <a:cs typeface="+mn-cs"/>
              </a:rPr>
              <a:t>also imply someone feels embarrassed or inferior by comparison to others who are more polished or attractive.</a:t>
            </a:r>
            <a:endParaRPr lang="en-US" sz="2400" b="0">
              <a:solidFill>
                <a:srgbClr val="000000">
                  <a:alpha val="100000"/>
                </a:srgbClr>
              </a:solidFill>
              <a:latin typeface="Times New Roman" panose="02020603050405020304"/>
              <a:ea typeface="Times New Roman" panose="02020603050405020304"/>
              <a:cs typeface="+mn-cs"/>
            </a:endParaRPr>
          </a:p>
          <a:p>
            <a:pPr marL="0" indent="-285750"/>
            <a:endParaRPr lang="en-US" sz="2400">
              <a:solidFill>
                <a:srgbClr val="0070C0">
                  <a:alpha val="100000"/>
                </a:srgbClr>
              </a:solidFill>
              <a:latin typeface="Times New Roman" panose="02020603050405020304"/>
              <a:ea typeface="Times New Roman" panose="02020603050405020304"/>
              <a:cs typeface="+mn-cs"/>
            </a:endParaRPr>
          </a:p>
          <a:p>
            <a:pPr marL="0" indent="-285750"/>
            <a:r>
              <a:rPr lang="en-US" sz="2400">
                <a:solidFill>
                  <a:srgbClr val="0070C0">
                    <a:alpha val="100000"/>
                  </a:srgbClr>
                </a:solidFill>
                <a:latin typeface="Times New Roman" panose="02020603050405020304"/>
                <a:ea typeface="Times New Roman" panose="02020603050405020304"/>
                <a:cs typeface="+mn-cs"/>
              </a:rPr>
              <a:t>...so that no one—when they see a dancer move freely and gracefully, or see a beautiful face—would feel embrrassed, jealousy or like he/she doesn’t measure up.
</a:t>
            </a:r>
            <a:endParaRPr lang="en-US" sz="2400">
              <a:solidFill>
                <a:srgbClr val="0070C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cxnSp>
        <p:nvCxnSpPr>
          <p:cNvPr id="83"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84"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85"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86"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87"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88" name="文本框 87"/>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Paraphrases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89" name="文本框 88"/>
          <p:cNvSpPr txBox="1"/>
          <p:nvPr/>
        </p:nvSpPr>
        <p:spPr>
          <a:xfrm>
            <a:off x="706560" y="1134304"/>
            <a:ext cx="10991850" cy="1917700"/>
          </a:xfrm>
          <a:prstGeom prst="rect">
            <a:avLst/>
          </a:prstGeom>
          <a:ln w="6350">
            <a:prstDash val="solid"/>
          </a:ln>
        </p:spPr>
        <p:txBody>
          <a:bodyPr wrap="square">
            <a:spAutoFit/>
          </a:bodyPr>
          <a:lstStyle/>
          <a:p>
            <a:pPr indent="0">
              <a:buNone/>
            </a:pPr>
            <a:r>
              <a:rPr lang="zh-CN" sz="2400" b="1">
                <a:solidFill>
                  <a:srgbClr val="000000">
                    <a:alpha val="100000"/>
                  </a:srgbClr>
                </a:solidFill>
                <a:latin typeface="Times New Roman" panose="02020603050405020304"/>
                <a:ea typeface="Times New Roman" panose="02020603050405020304"/>
                <a:cs typeface="+mn-cs"/>
              </a:rPr>
              <a:t>‘Only, if I was Handicapper General, you know what I would do?’ said Hazel. Hazel, as a matter of fact, bore a strong resemblance to the Handicapper General, a woman named Diana Moon Glampers. ‘If I was Diana Moon Glampers,’ said Hazel, ‘I’d have chimes on Sunday – just chimes. Kind of in honor of religion.’</a:t>
            </a:r>
            <a:endParaRPr lang="zh-CN" sz="2400" b="1">
              <a:solidFill>
                <a:srgbClr val="000000">
                  <a:alpha val="100000"/>
                </a:srgbClr>
              </a:solidFill>
              <a:latin typeface="Times New Roman" panose="02020603050405020304"/>
              <a:ea typeface="Times New Roman" panose="02020603050405020304"/>
              <a:cs typeface="+mn-cs"/>
            </a:endParaRPr>
          </a:p>
          <a:p>
            <a:pPr indent="0">
              <a:buNone/>
            </a:pPr>
            <a:r>
              <a:rPr lang="en-US" sz="2400" b="1">
                <a:solidFill>
                  <a:srgbClr val="000000">
                    <a:alpha val="100000"/>
                  </a:srgbClr>
                </a:solidFill>
                <a:latin typeface="Times New Roman" panose="02020603050405020304"/>
                <a:ea typeface="Times New Roman" panose="02020603050405020304"/>
                <a:cs typeface="+mn-cs"/>
              </a:rPr>
              <a:t>(Para.16)</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90" name="文本框 89"/>
          <p:cNvSpPr txBox="1"/>
          <p:nvPr/>
        </p:nvSpPr>
        <p:spPr>
          <a:xfrm>
            <a:off x="706560" y="3013710"/>
            <a:ext cx="10052050" cy="3657600"/>
          </a:xfrm>
          <a:prstGeom prst="rect">
            <a:avLst/>
          </a:prstGeom>
          <a:ln w="6350">
            <a:prstDash val="solid"/>
          </a:ln>
        </p:spPr>
        <p:txBody>
          <a:bodyPr wrap="square">
            <a:spAutoFit/>
          </a:bodyPr>
          <a:lstStyle/>
          <a:p>
            <a:r>
              <a:rPr lang="en-US" sz="2400" b="1">
                <a:solidFill>
                  <a:srgbClr val="000000">
                    <a:alpha val="100000"/>
                  </a:srgbClr>
                </a:solidFill>
                <a:latin typeface="Times New Roman" panose="02020603050405020304"/>
                <a:ea typeface="Times New Roman" panose="02020603050405020304"/>
                <a:cs typeface="+mn-cs"/>
              </a:rPr>
              <a:t>bear a resemblance to: </a:t>
            </a:r>
            <a:r>
              <a:rPr lang="en-US" sz="2400" b="0">
                <a:solidFill>
                  <a:srgbClr val="000000">
                    <a:alpha val="100000"/>
                  </a:srgbClr>
                </a:solidFill>
                <a:latin typeface="Times New Roman" panose="02020603050405020304"/>
                <a:ea typeface="Times New Roman" panose="02020603050405020304"/>
                <a:cs typeface="+mn-cs"/>
              </a:rPr>
              <a:t>looked similar to</a:t>
            </a:r>
            <a:endParaRPr lang="en-US" sz="2400" b="0">
              <a:solidFill>
                <a:srgbClr val="000000">
                  <a:alpha val="100000"/>
                </a:srgbClr>
              </a:solidFill>
              <a:latin typeface="Times New Roman" panose="02020603050405020304"/>
              <a:ea typeface="Times New Roman" panose="02020603050405020304"/>
              <a:cs typeface="+mn-cs"/>
            </a:endParaRPr>
          </a:p>
          <a:p>
            <a:r>
              <a:rPr lang="en-US" sz="2400" b="1">
                <a:solidFill>
                  <a:srgbClr val="000000">
                    <a:alpha val="100000"/>
                  </a:srgbClr>
                </a:solidFill>
                <a:latin typeface="Times New Roman" panose="02020603050405020304"/>
                <a:ea typeface="Times New Roman" panose="02020603050405020304"/>
                <a:cs typeface="+mn-cs"/>
              </a:rPr>
              <a:t>climes: </a:t>
            </a:r>
            <a:r>
              <a:rPr lang="en-US" sz="2400" b="0">
                <a:solidFill>
                  <a:srgbClr val="000000">
                    <a:alpha val="100000"/>
                  </a:srgbClr>
                </a:solidFill>
                <a:latin typeface="Times New Roman" panose="02020603050405020304"/>
                <a:ea typeface="Times New Roman" panose="02020603050405020304"/>
                <a:cs typeface="+mn-cs"/>
              </a:rPr>
              <a:t>small bells that make a soft, musical sound (often associated with peace, religion, or holidays).</a:t>
            </a:r>
            <a:endParaRPr lang="en-US" sz="2400" b="0">
              <a:solidFill>
                <a:srgbClr val="000000">
                  <a:alpha val="100000"/>
                </a:srgbClr>
              </a:solidFill>
              <a:latin typeface="Times New Roman" panose="02020603050405020304"/>
              <a:ea typeface="Times New Roman" panose="02020603050405020304"/>
              <a:cs typeface="+mn-cs"/>
            </a:endParaRPr>
          </a:p>
          <a:p>
            <a:pPr marL="0" indent="-285750"/>
            <a:endParaRPr lang="en-US" b="0">
              <a:solidFill>
                <a:srgbClr val="000000">
                  <a:alpha val="100000"/>
                </a:srgbClr>
              </a:solidFill>
            </a:endParaRPr>
          </a:p>
          <a:p>
            <a:pPr marL="0" indent="-285750"/>
            <a:r>
              <a:rPr lang="en-US" sz="2400">
                <a:solidFill>
                  <a:srgbClr val="0070C0">
                    <a:alpha val="100000"/>
                  </a:srgbClr>
                </a:solidFill>
                <a:latin typeface="Times New Roman" panose="02020603050405020304"/>
                <a:ea typeface="Times New Roman" panose="02020603050405020304"/>
                <a:cs typeface="+mn-cs"/>
              </a:rPr>
              <a:t>'</a:t>
            </a:r>
            <a:r>
              <a:rPr lang="zh-CN" sz="2400">
                <a:solidFill>
                  <a:srgbClr val="0070C0">
                    <a:alpha val="100000"/>
                  </a:srgbClr>
                </a:solidFill>
                <a:latin typeface="Times New Roman" panose="02020603050405020304"/>
                <a:ea typeface="Times New Roman" panose="02020603050405020304"/>
                <a:cs typeface="+mn-cs"/>
              </a:rPr>
              <a:t>Only, if I were the Handicapper General, do you know what I’d do?” Hazel said. In fact, Hazel looked a lot like </a:t>
            </a:r>
            <a:r>
              <a:rPr lang="zh-CN" sz="2400">
                <a:solidFill>
                  <a:srgbClr val="0070C0">
                    <a:alpha val="100000"/>
                  </a:srgbClr>
                </a:solidFill>
                <a:latin typeface="Times New Roman" panose="02020603050405020304"/>
                <a:ea typeface="Times New Roman" panose="02020603050405020304"/>
                <a:cs typeface="+mn-cs"/>
              </a:rPr>
              <a:t>a woman in </a:t>
            </a:r>
            <a:r>
              <a:rPr lang="zh-CN" sz="2400">
                <a:solidFill>
                  <a:srgbClr val="0070C0">
                    <a:alpha val="100000"/>
                  </a:srgbClr>
                </a:solidFill>
                <a:latin typeface="Times New Roman" panose="02020603050405020304"/>
                <a:ea typeface="Times New Roman" panose="02020603050405020304"/>
                <a:cs typeface="+mn-cs"/>
              </a:rPr>
              <a:t>the Handicapper General named Diana Moon Glampers. “If I were Diana Moon Glampers,” Hazel went on, “I’d use chimes for the handicap noises on Sundays—just chimes. Seemly as a way to honor religion.'
</a:t>
            </a:r>
            <a:endParaRPr lang="zh-CN" sz="2400">
              <a:solidFill>
                <a:srgbClr val="0070C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cxnSp>
        <p:nvCxnSpPr>
          <p:cNvPr id="92"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93"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94"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95"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96"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Paraphrases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98" name="文本框 97"/>
          <p:cNvSpPr txBox="1"/>
          <p:nvPr/>
        </p:nvSpPr>
        <p:spPr>
          <a:xfrm>
            <a:off x="1519163" y="1243554"/>
            <a:ext cx="9671050"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a:t>
            </a:r>
            <a:r>
              <a:rPr lang="zh-CN" sz="2400" b="1">
                <a:solidFill>
                  <a:srgbClr val="000000">
                    <a:alpha val="100000"/>
                  </a:srgbClr>
                </a:solidFill>
                <a:latin typeface="Times New Roman" panose="02020603050405020304"/>
                <a:ea typeface="Times New Roman" panose="02020603050405020304"/>
                <a:cs typeface="+mn-cs"/>
              </a:rPr>
              <a:t>Reckon it’d fall all apart", said Hazel.</a:t>
            </a:r>
            <a:r>
              <a:rPr lang="en-US" sz="2400" b="1">
                <a:solidFill>
                  <a:srgbClr val="000000">
                    <a:alpha val="100000"/>
                  </a:srgbClr>
                </a:solidFill>
                <a:latin typeface="Times New Roman" panose="02020603050405020304"/>
                <a:ea typeface="Times New Roman" panose="02020603050405020304"/>
                <a:cs typeface="+mn-cs"/>
              </a:rPr>
              <a:t> (Para. 33)</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99" name="文本框 98"/>
          <p:cNvSpPr txBox="1"/>
          <p:nvPr/>
        </p:nvSpPr>
        <p:spPr>
          <a:xfrm>
            <a:off x="1422157" y="2250440"/>
            <a:ext cx="9158653" cy="2286000"/>
          </a:xfrm>
          <a:prstGeom prst="rect">
            <a:avLst/>
          </a:prstGeom>
          <a:ln w="6350">
            <a:prstDash val="solid"/>
          </a:ln>
        </p:spPr>
        <p:txBody>
          <a:bodyPr wrap="square">
            <a:spAutoFit/>
          </a:bodyPr>
          <a:lstStyle/>
          <a:p>
            <a:pPr marL="0" indent="-285750"/>
            <a:r>
              <a:rPr lang="en-US" sz="2400" b="1">
                <a:solidFill>
                  <a:srgbClr val="000000">
                    <a:alpha val="100000"/>
                  </a:srgbClr>
                </a:solidFill>
                <a:latin typeface="Times New Roman" panose="02020603050405020304"/>
                <a:ea typeface="Times New Roman" panose="02020603050405020304"/>
                <a:cs typeface="+mn-cs"/>
              </a:rPr>
              <a:t>reckon:  (</a:t>
            </a:r>
            <a:r>
              <a:rPr lang="en-US" sz="2400" b="0">
                <a:solidFill>
                  <a:srgbClr val="000000">
                    <a:alpha val="100000"/>
                  </a:srgbClr>
                </a:solidFill>
                <a:latin typeface="Times New Roman" panose="02020603050405020304"/>
                <a:ea typeface="Times New Roman" panose="02020603050405020304"/>
                <a:cs typeface="+mn-cs"/>
              </a:rPr>
              <a:t>inform verb) t</a:t>
            </a:r>
            <a:r>
              <a:rPr lang="en-US" sz="2400" b="0">
                <a:solidFill>
                  <a:srgbClr val="000000">
                    <a:alpha val="100000"/>
                  </a:srgbClr>
                </a:solidFill>
                <a:latin typeface="Times New Roman" panose="02020603050405020304"/>
                <a:ea typeface="Times New Roman" panose="02020603050405020304"/>
                <a:cs typeface="+mn-cs"/>
              </a:rPr>
              <a:t>o think, suppose, or believe(used mainly in rural dialogues)</a:t>
            </a:r>
            <a:endParaRPr lang="en-US" sz="2400" b="0">
              <a:solidFill>
                <a:srgbClr val="000000">
                  <a:alpha val="100000"/>
                </a:srgbClr>
              </a:solidFill>
              <a:latin typeface="Times New Roman" panose="02020603050405020304"/>
              <a:ea typeface="Times New Roman" panose="02020603050405020304"/>
              <a:cs typeface="+mn-cs"/>
            </a:endParaRPr>
          </a:p>
          <a:p>
            <a:pPr marL="0" indent="-285750"/>
            <a:endParaRPr lang="en-US" sz="2400">
              <a:solidFill>
                <a:srgbClr val="0070C0">
                  <a:alpha val="100000"/>
                </a:srgbClr>
              </a:solidFill>
              <a:latin typeface="Times New Roman" panose="02020603050405020304"/>
              <a:ea typeface="Times New Roman" panose="02020603050405020304"/>
              <a:cs typeface="+mn-cs"/>
            </a:endParaRPr>
          </a:p>
          <a:p>
            <a:pPr marL="0" indent="-285750"/>
            <a:r>
              <a:rPr lang="en-US" sz="2400">
                <a:solidFill>
                  <a:srgbClr val="0070C0">
                    <a:alpha val="100000"/>
                  </a:srgbClr>
                </a:solidFill>
                <a:latin typeface="Times New Roman" panose="02020603050405020304"/>
                <a:ea typeface="Times New Roman" panose="02020603050405020304"/>
                <a:cs typeface="+mn-cs"/>
              </a:rPr>
              <a:t>"I think society would break down entirely if people start breaking the rules," Hazel said.
</a:t>
            </a:r>
            <a:endParaRPr lang="en-US" sz="2400">
              <a:solidFill>
                <a:srgbClr val="0070C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cxnSp>
        <p:nvCxnSpPr>
          <p:cNvPr id="113"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14"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15"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16"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17"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18" name="文本框 117"/>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Paraphrases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19" name="文本框 118"/>
          <p:cNvSpPr txBox="1"/>
          <p:nvPr/>
        </p:nvSpPr>
        <p:spPr>
          <a:xfrm>
            <a:off x="899501" y="1134304"/>
            <a:ext cx="10792069" cy="1555750"/>
          </a:xfrm>
          <a:prstGeom prst="rect">
            <a:avLst/>
          </a:prstGeom>
          <a:ln w="6350">
            <a:prstDash val="solid"/>
          </a:ln>
        </p:spPr>
        <p:txBody>
          <a:bodyPr wrap="square">
            <a:spAutoFit/>
          </a:bodyPr>
          <a:lstStyle/>
          <a:p>
            <a:pPr indent="0">
              <a:buNone/>
            </a:pPr>
            <a:r>
              <a:rPr lang="zh-CN" sz="2400" b="1">
                <a:solidFill>
                  <a:srgbClr val="000000">
                    <a:alpha val="100000"/>
                  </a:srgbClr>
                </a:solidFill>
                <a:latin typeface="Times New Roman" panose="02020603050405020304"/>
                <a:ea typeface="Times New Roman" panose="02020603050405020304"/>
                <a:cs typeface="+mn-cs"/>
              </a:rPr>
              <a:t>“Harrison Bergeron, age fourteen,” she said in a grackle squawk, “has just escaped from jail, </a:t>
            </a:r>
            <a:r>
              <a:rPr lang="en-US" sz="2400" b="1">
                <a:solidFill>
                  <a:srgbClr val="000000">
                    <a:alpha val="100000"/>
                  </a:srgbClr>
                </a:solidFill>
                <a:latin typeface="Times New Roman" panose="02020603050405020304"/>
                <a:ea typeface="Times New Roman" panose="02020603050405020304"/>
                <a:cs typeface="+mn-cs"/>
              </a:rPr>
              <a:t>where he was held on suspicion of plotting to overthrow the government. He is a genius and an </a:t>
            </a:r>
            <a:r>
              <a:rPr lang="en-US" sz="2400" b="1">
                <a:solidFill>
                  <a:srgbClr val="000000">
                    <a:alpha val="100000"/>
                  </a:srgbClr>
                </a:solidFill>
                <a:latin typeface="Times New Roman" panose="02020603050405020304"/>
                <a:ea typeface="Times New Roman" panose="02020603050405020304"/>
                <a:cs typeface="+mn-cs"/>
              </a:rPr>
              <a:t>athlete, is under–handicapped, and should be regarded as extremely dangerous.” (Para. 42)</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120" name="文本框 119"/>
          <p:cNvSpPr txBox="1"/>
          <p:nvPr/>
        </p:nvSpPr>
        <p:spPr>
          <a:xfrm>
            <a:off x="1099038" y="2871108"/>
            <a:ext cx="9994900" cy="3384550"/>
          </a:xfrm>
          <a:prstGeom prst="rect">
            <a:avLst/>
          </a:prstGeom>
          <a:ln w="6350">
            <a:prstDash val="solid"/>
          </a:ln>
        </p:spPr>
        <p:txBody>
          <a:bodyPr wrap="square">
            <a:spAutoFit/>
          </a:bodyPr>
          <a:lstStyle/>
          <a:p>
            <a:pPr marL="0" indent="-285750"/>
            <a:r>
              <a:rPr lang="en-US" sz="2400" b="1">
                <a:solidFill>
                  <a:srgbClr val="000000">
                    <a:alpha val="100000"/>
                  </a:srgbClr>
                </a:solidFill>
                <a:latin typeface="Times New Roman" panose="02020603050405020304"/>
                <a:ea typeface="Times New Roman" panose="02020603050405020304"/>
                <a:cs typeface="+mn-cs"/>
              </a:rPr>
              <a:t>grackle squawk</a:t>
            </a:r>
            <a:r>
              <a:rPr lang="en-US" sz="2400" b="0">
                <a:solidFill>
                  <a:srgbClr val="000000">
                    <a:alpha val="100000"/>
                  </a:srgbClr>
                </a:solidFill>
                <a:latin typeface="Times New Roman" panose="02020603050405020304"/>
                <a:ea typeface="Times New Roman" panose="02020603050405020304"/>
                <a:cs typeface="+mn-cs"/>
              </a:rPr>
              <a:t>: A harsh, shrill, unpleasant sound</a:t>
            </a:r>
            <a:endParaRPr lang="en-US" sz="2400" b="0">
              <a:solidFill>
                <a:srgbClr val="000000">
                  <a:alpha val="100000"/>
                </a:srgbClr>
              </a:solidFill>
              <a:latin typeface="Times New Roman" panose="02020603050405020304"/>
              <a:ea typeface="Times New Roman" panose="02020603050405020304"/>
              <a:cs typeface="+mn-cs"/>
            </a:endParaRPr>
          </a:p>
          <a:p>
            <a:pPr marL="0" indent="-285750"/>
            <a:r>
              <a:rPr lang="en-US" sz="2400" b="1">
                <a:solidFill>
                  <a:srgbClr val="000000">
                    <a:alpha val="100000"/>
                  </a:srgbClr>
                </a:solidFill>
                <a:latin typeface="Times New Roman" panose="02020603050405020304"/>
                <a:ea typeface="Times New Roman" panose="02020603050405020304"/>
                <a:cs typeface="+mn-cs"/>
              </a:rPr>
              <a:t>overthrow</a:t>
            </a:r>
            <a:r>
              <a:rPr lang="en-US" sz="2400" b="0">
                <a:solidFill>
                  <a:srgbClr val="000000">
                    <a:alpha val="100000"/>
                  </a:srgbClr>
                </a:solidFill>
                <a:latin typeface="Times New Roman" panose="02020603050405020304"/>
                <a:ea typeface="Times New Roman" panose="02020603050405020304"/>
                <a:cs typeface="+mn-cs"/>
              </a:rPr>
              <a:t>: topple the ruling authority</a:t>
            </a:r>
            <a:endParaRPr lang="en-US" sz="2400" b="0">
              <a:solidFill>
                <a:srgbClr val="000000">
                  <a:alpha val="100000"/>
                </a:srgbClr>
              </a:solidFill>
              <a:latin typeface="Times New Roman" panose="02020603050405020304"/>
              <a:ea typeface="Times New Roman" panose="02020603050405020304"/>
              <a:cs typeface="+mn-cs"/>
            </a:endParaRPr>
          </a:p>
          <a:p>
            <a:pPr marL="0" indent="-285750"/>
            <a:r>
              <a:rPr lang="en-US" sz="2400" b="1">
                <a:solidFill>
                  <a:schemeClr val="tx1">
                    <a:alpha val="100000"/>
                  </a:schemeClr>
                </a:solidFill>
                <a:latin typeface="Times New Roman" panose="02020603050405020304"/>
                <a:ea typeface="Times New Roman" panose="02020603050405020304"/>
                <a:cs typeface="+mn-cs"/>
              </a:rPr>
              <a:t>plot: (to do sth.) </a:t>
            </a:r>
            <a:r>
              <a:rPr lang="en-US" sz="2400" b="0">
                <a:solidFill>
                  <a:schemeClr val="tx1">
                    <a:alpha val="100000"/>
                  </a:schemeClr>
                </a:solidFill>
                <a:latin typeface="Times New Roman" panose="02020603050405020304"/>
                <a:ea typeface="Times New Roman" panose="02020603050405020304"/>
                <a:cs typeface="+mn-cs"/>
              </a:rPr>
              <a:t>To secretly plan something (often something bad, illegal)</a:t>
            </a:r>
            <a:endParaRPr lang="en-US" sz="2400" b="0">
              <a:solidFill>
                <a:schemeClr val="tx1">
                  <a:alpha val="100000"/>
                </a:schemeClr>
              </a:solidFill>
              <a:latin typeface="Times New Roman" panose="02020603050405020304"/>
              <a:ea typeface="Times New Roman" panose="02020603050405020304"/>
              <a:cs typeface="+mn-cs"/>
            </a:endParaRPr>
          </a:p>
          <a:p>
            <a:pPr marL="0" indent="-285750"/>
            <a:endParaRPr lang="en-US" sz="2400" b="0">
              <a:solidFill>
                <a:srgbClr val="0070C0">
                  <a:alpha val="100000"/>
                </a:srgbClr>
              </a:solidFill>
              <a:latin typeface="Times New Roman" panose="02020603050405020304"/>
              <a:ea typeface="Times New Roman" panose="02020603050405020304"/>
              <a:cs typeface="+mn-cs"/>
            </a:endParaRPr>
          </a:p>
          <a:p>
            <a:pPr marL="0" indent="-285750"/>
            <a:r>
              <a:rPr lang="zh-CN" sz="2400">
                <a:solidFill>
                  <a:srgbClr val="0070C0">
                    <a:alpha val="100000"/>
                  </a:srgbClr>
                </a:solidFill>
                <a:latin typeface="Times New Roman" panose="02020603050405020304"/>
                <a:ea typeface="Times New Roman" panose="02020603050405020304"/>
                <a:cs typeface="+mn-cs"/>
              </a:rPr>
              <a:t>“14-year-old Harrison Bergeron escaped jail,” she squawked loudly. “He was held in jail because people think he wanted to take control of the government. He’s a genius and an athlete—his handicaps aren’t enough to stop him. He’s really dangerous.”
</a:t>
            </a:r>
            <a:endParaRPr lang="zh-CN" sz="2400">
              <a:solidFill>
                <a:srgbClr val="0070C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cxnSp>
        <p:nvCxnSpPr>
          <p:cNvPr id="122"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23"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24"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25"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26"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27" name="文本框 126"/>
          <p:cNvSpPr txBox="1"/>
          <p:nvPr/>
        </p:nvSpPr>
        <p:spPr>
          <a:xfrm>
            <a:off x="3054350" y="408842"/>
            <a:ext cx="5873750" cy="698500"/>
          </a:xfrm>
          <a:prstGeom prst="rect">
            <a:avLst/>
          </a:prstGeom>
          <a:ln w="6350">
            <a:prstDash val="solid"/>
          </a:ln>
        </p:spPr>
        <p:txBody>
          <a:bodyPr wrap="square">
            <a:spAutoFit/>
          </a:bodyPr>
          <a:lstStyle/>
          <a:p>
            <a:pPr marL="0" lvl="0" indent="0" algn="ctr" defTabSz="914400">
              <a:lnSpc>
                <a:spcPct val="100000"/>
              </a:lnSpc>
              <a:defRPr sz="1800">
                <a:solidFill>
                  <a:schemeClr val="tx1">
                    <a:alpha val="100000"/>
                  </a:schemeClr>
                </a:solidFill>
                <a:latin typeface="汉仪君黑-45简"/>
                <a:ea typeface="汉仪君黑-45简"/>
                <a:cs typeface="+mn-cs"/>
              </a:defRPr>
            </a:pPr>
            <a:r>
              <a:rPr lang="en-US" sz="4000" b="0" i="0" u="none" strike="noStrike">
                <a:solidFill>
                  <a:srgbClr val="8AA3A0">
                    <a:alpha val="100000"/>
                  </a:srgbClr>
                </a:solidFill>
                <a:latin typeface="Times New Roman" panose="02020603050405020304"/>
                <a:ea typeface="Times New Roman" panose="02020603050405020304"/>
                <a:cs typeface="+mn-cs"/>
              </a:rPr>
              <a:t>Paraphrases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28" name="文本框 127"/>
          <p:cNvSpPr txBox="1"/>
          <p:nvPr/>
        </p:nvSpPr>
        <p:spPr>
          <a:xfrm>
            <a:off x="1519163" y="1243554"/>
            <a:ext cx="9671050" cy="118745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Ordinarily, there was a certain symmetry, a military neatness to the handicaps issued to strong people, but Harrison looked like a walking junkyard. (Para. 45)</a:t>
            </a:r>
            <a:endParaRPr lang="en-US" sz="2400" b="1">
              <a:solidFill>
                <a:srgbClr val="000000">
                  <a:alpha val="100000"/>
                </a:srgbClr>
              </a:solidFill>
              <a:latin typeface="Times New Roman" panose="02020603050405020304"/>
              <a:ea typeface="Times New Roman" panose="02020603050405020304"/>
              <a:cs typeface="+mn-cs"/>
            </a:endParaRPr>
          </a:p>
        </p:txBody>
      </p:sp>
      <p:sp>
        <p:nvSpPr>
          <p:cNvPr id="129" name="文本框 128"/>
          <p:cNvSpPr txBox="1"/>
          <p:nvPr/>
        </p:nvSpPr>
        <p:spPr>
          <a:xfrm>
            <a:off x="1229017" y="2522220"/>
            <a:ext cx="10052050" cy="4025900"/>
          </a:xfrm>
          <a:prstGeom prst="rect">
            <a:avLst/>
          </a:prstGeom>
          <a:ln w="6350">
            <a:prstDash val="solid"/>
          </a:ln>
        </p:spPr>
        <p:txBody>
          <a:bodyPr wrap="square">
            <a:spAutoFit/>
          </a:bodyPr>
          <a:lstStyle/>
          <a:p>
            <a:r>
              <a:rPr sz="2400" b="1">
                <a:solidFill>
                  <a:srgbClr val="000000">
                    <a:alpha val="100000"/>
                  </a:srgbClr>
                </a:solidFill>
                <a:latin typeface="Times New Roman" panose="02020603050405020304"/>
                <a:ea typeface="Times New Roman" panose="02020603050405020304"/>
                <a:cs typeface="+mn-cs"/>
              </a:rPr>
              <a:t>military neatness</a:t>
            </a:r>
            <a:r>
              <a:rPr sz="2400">
                <a:solidFill>
                  <a:srgbClr val="000000">
                    <a:alpha val="100000"/>
                  </a:srgbClr>
                </a:solidFill>
                <a:latin typeface="Times New Roman" panose="02020603050405020304"/>
                <a:ea typeface="Times New Roman" panose="02020603050405020304"/>
                <a:cs typeface="+mn-cs"/>
              </a:rPr>
              <a:t>: A strict, organized, and tidy quality like that of military equipment or procedures.</a:t>
            </a:r>
            <a:endParaRPr sz="2400">
              <a:solidFill>
                <a:srgbClr val="000000">
                  <a:alpha val="100000"/>
                </a:srgbClr>
              </a:solidFill>
              <a:latin typeface="Times New Roman" panose="02020603050405020304"/>
              <a:ea typeface="Times New Roman" panose="02020603050405020304"/>
              <a:cs typeface="+mn-cs"/>
            </a:endParaRPr>
          </a:p>
          <a:p>
            <a:pPr marL="0" indent="-285750"/>
            <a:r>
              <a:rPr sz="2400" b="1">
                <a:solidFill>
                  <a:srgbClr val="000000">
                    <a:alpha val="100000"/>
                  </a:srgbClr>
                </a:solidFill>
                <a:latin typeface="Times New Roman" panose="02020603050405020304"/>
                <a:ea typeface="Times New Roman" panose="02020603050405020304"/>
                <a:cs typeface="+mn-cs"/>
              </a:rPr>
              <a:t>symmetry</a:t>
            </a:r>
            <a:r>
              <a:rPr sz="2400">
                <a:solidFill>
                  <a:srgbClr val="000000">
                    <a:alpha val="100000"/>
                  </a:srgbClr>
                </a:solidFill>
                <a:latin typeface="Times New Roman" panose="02020603050405020304"/>
                <a:ea typeface="Times New Roman" panose="02020603050405020304"/>
                <a:cs typeface="+mn-cs"/>
              </a:rPr>
              <a:t>: a balanced even arrangement of parts. Here refers to how standard handicaps for strong people were</a:t>
            </a:r>
            <a:r>
              <a:rPr sz="2400">
                <a:solidFill>
                  <a:srgbClr val="000000">
                    <a:alpha val="100000"/>
                  </a:srgbClr>
                </a:solidFill>
                <a:latin typeface="Times New Roman" panose="02020603050405020304"/>
                <a:ea typeface="Times New Roman" panose="02020603050405020304"/>
                <a:cs typeface="+mn-cs"/>
              </a:rPr>
              <a:t>carefully designed to be uniform and proportional.</a:t>
            </a:r>
            <a:endParaRPr sz="2400">
              <a:solidFill>
                <a:srgbClr val="000000">
                  <a:alpha val="100000"/>
                </a:srgbClr>
              </a:solidFill>
              <a:latin typeface="Times New Roman" panose="02020603050405020304"/>
              <a:ea typeface="Times New Roman" panose="02020603050405020304"/>
              <a:cs typeface="+mn-cs"/>
            </a:endParaRPr>
          </a:p>
          <a:p>
            <a:pPr marL="0" indent="-285750"/>
            <a:endParaRPr lang="en-US">
              <a:solidFill>
                <a:srgbClr val="000000">
                  <a:alpha val="100000"/>
                </a:srgbClr>
              </a:solidFill>
            </a:endParaRPr>
          </a:p>
          <a:p>
            <a:pPr marL="0" indent="-285750"/>
            <a:r>
              <a:rPr lang="en-US" sz="2400">
                <a:solidFill>
                  <a:srgbClr val="0070C0">
                    <a:alpha val="100000"/>
                  </a:srgbClr>
                </a:solidFill>
                <a:latin typeface="Times New Roman" panose="02020603050405020304"/>
                <a:ea typeface="Times New Roman" panose="02020603050405020304"/>
                <a:cs typeface="+mn-cs"/>
              </a:rPr>
              <a:t>Usually, the handicap devices given to people who were physically strong had a certain sense of balance and a strict, orderly neatness, just like the precision of military gear, but Harrison looked like a moving pile of old, messy, discarded junk.
</a:t>
            </a:r>
            <a:endParaRPr lang="en-US" sz="2400">
              <a:solidFill>
                <a:srgbClr val="0070C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cxnSp>
        <p:nvCxnSpPr>
          <p:cNvPr id="131"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32"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33"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34"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35"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36" name="文本框 135"/>
          <p:cNvSpPr txBox="1"/>
          <p:nvPr/>
        </p:nvSpPr>
        <p:spPr>
          <a:xfrm>
            <a:off x="2584850" y="408842"/>
            <a:ext cx="7062037"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Sci-fi Elements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37" name="文本框 136"/>
          <p:cNvSpPr txBox="1"/>
          <p:nvPr/>
        </p:nvSpPr>
        <p:spPr>
          <a:xfrm>
            <a:off x="755087" y="1417689"/>
            <a:ext cx="10953750" cy="4114800"/>
          </a:xfrm>
          <a:prstGeom prst="rect">
            <a:avLst/>
          </a:prstGeom>
          <a:ln w="6350">
            <a:prstDash val="solid"/>
          </a:ln>
        </p:spPr>
        <p:txBody>
          <a:bodyPr wrap="square">
            <a:spAutoFit/>
          </a:bodyPr>
          <a:lstStyle/>
          <a:p>
            <a:pPr marL="285750" indent="-285750">
              <a:buFont typeface="Wingdings" panose="05000000000000000000" pitchFamily="2" charset="2"/>
              <a:buChar char="l"/>
            </a:pPr>
            <a:r>
              <a:rPr lang="en-US" sz="2400" b="1">
                <a:latin typeface="Times New Roman" panose="02020603050405020304"/>
                <a:ea typeface="Times New Roman" panose="02020603050405020304"/>
                <a:cs typeface="+mn-cs"/>
              </a:rPr>
              <a:t>mental handicaps</a:t>
            </a:r>
            <a:endParaRPr lang="en-US" sz="2400" b="1">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"···the transmitters would send out some sharp noise to keep people like George from </a:t>
            </a:r>
            <a:r>
              <a:rPr sz="2400">
                <a:solidFill>
                  <a:srgbClr val="000000">
                    <a:alpha val="100000"/>
                  </a:srgbClr>
                </a:solidFill>
                <a:latin typeface="Times New Roman" panose="02020603050405020304"/>
                <a:ea typeface="Times New Roman" panose="02020603050405020304"/>
                <a:cs typeface="+mn-cs"/>
              </a:rPr>
              <a:t>taking unfair advantage of their brains." (Para.3)</a:t>
            </a:r>
            <a:endParaRPr sz="2400">
              <a:solidFill>
                <a:srgbClr val="000000">
                  <a:alpha val="100000"/>
                </a:srgbClr>
              </a:solidFill>
              <a:latin typeface="Times New Roman" panose="02020603050405020304"/>
              <a:ea typeface="Times New Roman" panose="02020603050405020304"/>
              <a:cs typeface="+mn-cs"/>
            </a:endParaRPr>
          </a:p>
          <a:p>
            <a:endParaRPr lang="en-US" sz="2400">
              <a:solidFill>
                <a:srgbClr val="000000">
                  <a:alpha val="100000"/>
                </a:srgbClr>
              </a:solidFill>
              <a:latin typeface="Times New Roman" panose="02020603050405020304"/>
              <a:ea typeface="Times New Roman" panose="02020603050405020304"/>
              <a:cs typeface="+mn-cs"/>
            </a:endParaRPr>
          </a:p>
          <a:p>
            <a:pPr marL="285750" indent="-285750">
              <a:buFont typeface="Wingdings" panose="05000000000000000000" pitchFamily="2" charset="2"/>
              <a:buChar char="l"/>
            </a:pPr>
            <a:r>
              <a:rPr lang="en-US" sz="2400" b="1">
                <a:latin typeface="Times New Roman" panose="02020603050405020304"/>
                <a:ea typeface="Times New Roman" panose="02020603050405020304"/>
                <a:cs typeface="+mn-cs"/>
              </a:rPr>
              <a:t>physical handicaps</a:t>
            </a:r>
            <a:endParaRPr lang="en-US" sz="2400" b="1">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"···the forty-seven pounds of birdshot in a canvas bag,which was padlocked around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George's neck."(Para.24)</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"···he wore a tremendous pair of earphones,and spectacles with thick wavy lenses.Th</a:t>
            </a:r>
            <a:r>
              <a:rPr sz="2400">
                <a:solidFill>
                  <a:srgbClr val="000000">
                    <a:alpha val="100000"/>
                  </a:srgbClr>
                </a:solidFill>
                <a:latin typeface="Times New Roman" panose="02020603050405020304"/>
                <a:ea typeface="Times New Roman" panose="02020603050405020304"/>
                <a:cs typeface="+mn-cs"/>
              </a:rPr>
              <a:t>e spectacles were intended to make him not only half blind,but to give him whanging </a:t>
            </a:r>
            <a:r>
              <a:rPr sz="2400">
                <a:solidFill>
                  <a:srgbClr val="000000">
                    <a:alpha val="100000"/>
                  </a:srgbClr>
                </a:solidFill>
                <a:latin typeface="Times New Roman" panose="02020603050405020304"/>
                <a:ea typeface="Times New Roman" panose="02020603050405020304"/>
                <a:cs typeface="+mn-cs"/>
              </a:rPr>
              <a:t>headaches besides."(Para.44)</a:t>
            </a:r>
            <a:endParaRPr sz="2400">
              <a:solidFill>
                <a:srgbClr val="000000">
                  <a:alpha val="100000"/>
                </a:srgbClr>
              </a:solidFill>
              <a:latin typeface="Times New Roman" panose="02020603050405020304"/>
              <a:ea typeface="Times New Roman" panose="02020603050405020304"/>
              <a:cs typeface="+mn-cs"/>
            </a:endParaRPr>
          </a:p>
          <a:p>
            <a:pPr marL="0" indent="-285750"/>
            <a:endParaRPr lang="en-US" sz="240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cxnSp>
        <p:nvCxnSpPr>
          <p:cNvPr id="139"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40"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41"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42"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43"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44" name="文本框 143"/>
          <p:cNvSpPr txBox="1"/>
          <p:nvPr/>
        </p:nvSpPr>
        <p:spPr>
          <a:xfrm>
            <a:off x="2584850" y="408842"/>
            <a:ext cx="7062037"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Sci-fi Elements</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45" name="文本框 144"/>
          <p:cNvSpPr txBox="1"/>
          <p:nvPr/>
        </p:nvSpPr>
        <p:spPr>
          <a:xfrm>
            <a:off x="443937" y="1555750"/>
            <a:ext cx="11201303" cy="3384550"/>
          </a:xfrm>
          <a:prstGeom prst="rect">
            <a:avLst/>
          </a:prstGeom>
          <a:ln w="6350">
            <a:prstDash val="solid"/>
          </a:ln>
        </p:spPr>
        <p:txBody>
          <a:bodyPr wrap="square">
            <a:spAutoFit/>
          </a:bodyPr>
          <a:lstStyle/>
          <a:p>
            <a:pPr marL="285750" indent="-285750">
              <a:buFont typeface="Wingdings" panose="05000000000000000000" pitchFamily="2" charset="2"/>
              <a:buChar char="l"/>
            </a:pPr>
            <a:r>
              <a:rPr lang="en-US" sz="2400" b="1">
                <a:latin typeface="Times New Roman" panose="02020603050405020304"/>
                <a:ea typeface="Times New Roman" panose="02020603050405020304"/>
                <a:cs typeface="+mn-cs"/>
              </a:rPr>
              <a:t>authoritarian regulator</a:t>
            </a:r>
            <a:endParaRPr lang="en-US" sz="2400" b="1">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the "Handicapper General",who hold absolute power to enforce equality policies.</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"She aimed it at the musicians and told them they had ten seconds to get their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handicaps back on."(Para.80)</a:t>
            </a:r>
            <a:endParaRPr sz="2400">
              <a:solidFill>
                <a:srgbClr val="000000">
                  <a:alpha val="100000"/>
                </a:srgbClr>
              </a:solidFill>
              <a:latin typeface="Times New Roman" panose="02020603050405020304"/>
              <a:ea typeface="Times New Roman" panose="02020603050405020304"/>
              <a:cs typeface="+mn-cs"/>
            </a:endParaRPr>
          </a:p>
          <a:p>
            <a:pPr indent="0">
              <a:buNone/>
            </a:pPr>
            <a:endParaRPr lang="en-US" sz="2400" b="1">
              <a:latin typeface="Times New Roman" panose="02020603050405020304"/>
              <a:ea typeface="Times New Roman" panose="02020603050405020304"/>
              <a:cs typeface="+mn-cs"/>
            </a:endParaRPr>
          </a:p>
          <a:p>
            <a:pPr marL="0" indent="-285750"/>
            <a:endParaRPr lang="en-US" sz="2400">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The sci-fi elements in </a:t>
            </a:r>
            <a:r>
              <a:rPr sz="2400" i="1">
                <a:solidFill>
                  <a:srgbClr val="000000">
                    <a:alpha val="100000"/>
                  </a:srgbClr>
                </a:solidFill>
                <a:latin typeface="Times New Roman" panose="02020603050405020304"/>
                <a:ea typeface="Times New Roman" panose="02020603050405020304"/>
                <a:cs typeface="+mn-cs"/>
              </a:rPr>
              <a:t>Harrison Bergeron </a:t>
            </a:r>
            <a:r>
              <a:rPr sz="2400">
                <a:solidFill>
                  <a:srgbClr val="000000">
                    <a:alpha val="100000"/>
                  </a:srgbClr>
                </a:solidFill>
                <a:latin typeface="Times New Roman" panose="02020603050405020304"/>
                <a:ea typeface="Times New Roman" panose="02020603050405020304"/>
                <a:cs typeface="+mn-cs"/>
              </a:rPr>
              <a:t>are portrayed as an oppressive tool rather </a:t>
            </a:r>
            <a:r>
              <a:rPr sz="2400">
                <a:solidFill>
                  <a:srgbClr val="000000">
                    <a:alpha val="100000"/>
                  </a:srgbClr>
                </a:solidFill>
                <a:latin typeface="Times New Roman" panose="02020603050405020304"/>
                <a:ea typeface="Times New Roman" panose="02020603050405020304"/>
                <a:cs typeface="+mn-cs"/>
              </a:rPr>
              <a:t>than a catalyst for advancement.While the story does not attack technology in the </a:t>
            </a:r>
            <a:r>
              <a:rPr sz="2400">
                <a:solidFill>
                  <a:srgbClr val="000000">
                    <a:alpha val="100000"/>
                  </a:srgbClr>
                </a:solidFill>
                <a:latin typeface="Times New Roman" panose="02020603050405020304"/>
                <a:ea typeface="Times New Roman" panose="02020603050405020304"/>
                <a:cs typeface="+mn-cs"/>
              </a:rPr>
              <a:t>broad sense,it suggests the absurdity of allowing technology to be weaponized to </a:t>
            </a:r>
            <a:r>
              <a:rPr sz="2400">
                <a:solidFill>
                  <a:srgbClr val="000000">
                    <a:alpha val="100000"/>
                  </a:srgbClr>
                </a:solidFill>
                <a:latin typeface="Times New Roman" panose="02020603050405020304"/>
                <a:ea typeface="Times New Roman" panose="02020603050405020304"/>
                <a:cs typeface="+mn-cs"/>
              </a:rPr>
              <a:t>suppress difference.</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46" name=""/>
        <p:cNvGrpSpPr/>
        <p:nvPr/>
      </p:nvGrpSpPr>
      <p:grpSpPr>
        <a:xfrm>
          <a:off x="0" y="0"/>
          <a:ext cx="0" cy="0"/>
          <a:chOff x="0" y="0"/>
          <a:chExt cx="0" cy="0"/>
        </a:xfrm>
      </p:grpSpPr>
      <p:cxnSp>
        <p:nvCxnSpPr>
          <p:cNvPr id="147"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48"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49"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50"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51"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52" name="文本框 151"/>
          <p:cNvSpPr txBox="1"/>
          <p:nvPr/>
        </p:nvSpPr>
        <p:spPr>
          <a:xfrm>
            <a:off x="2584850" y="408842"/>
            <a:ext cx="7067550"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Dark Humor</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53" name="文本框 152"/>
          <p:cNvSpPr txBox="1"/>
          <p:nvPr/>
        </p:nvSpPr>
        <p:spPr>
          <a:xfrm>
            <a:off x="495300" y="1581150"/>
            <a:ext cx="11468100" cy="4483100"/>
          </a:xfrm>
          <a:prstGeom prst="rect">
            <a:avLst/>
          </a:prstGeom>
          <a:ln w="6350">
            <a:prstDash val="solid"/>
          </a:ln>
        </p:spPr>
        <p:txBody>
          <a:bodyPr wrap="square">
            <a:spAutoFit/>
          </a:bodyPr>
          <a:lstStyle/>
          <a:p>
            <a:r>
              <a:rPr sz="2400">
                <a:solidFill>
                  <a:srgbClr val="000000">
                    <a:alpha val="100000"/>
                  </a:srgbClr>
                </a:solidFill>
                <a:latin typeface="Times New Roman" panose="02020603050405020304"/>
                <a:ea typeface="Times New Roman" panose="02020603050405020304"/>
                <a:cs typeface="+mn-cs"/>
              </a:rPr>
              <a:t>The characters George and Hazel provide much of the story's comedic element.The </a:t>
            </a:r>
            <a:r>
              <a:rPr sz="2400">
                <a:solidFill>
                  <a:srgbClr val="000000">
                    <a:alpha val="100000"/>
                  </a:srgbClr>
                </a:solidFill>
                <a:latin typeface="Times New Roman" panose="02020603050405020304"/>
                <a:ea typeface="Times New Roman" panose="02020603050405020304"/>
                <a:cs typeface="+mn-cs"/>
              </a:rPr>
              <a:t>dialogue between them serves as the most vivid carrier of dark humor.</a:t>
            </a:r>
            <a:endParaRPr sz="2400">
              <a:solidFill>
                <a:srgbClr val="000000">
                  <a:alpha val="100000"/>
                </a:srgbClr>
              </a:solidFill>
              <a:latin typeface="Times New Roman" panose="02020603050405020304"/>
              <a:ea typeface="Times New Roman" panose="02020603050405020304"/>
              <a:cs typeface="+mn-cs"/>
            </a:endParaRPr>
          </a:p>
          <a:p>
            <a:endParaRPr lang="en-US"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"'Sounded like somebody hitting a milk bottle with a ball peen hammer,'said George."</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"'I'd think it would be real interesting,hearing all the different sounds,' said Hazel,a </a:t>
            </a:r>
            <a:r>
              <a:rPr sz="2400">
                <a:solidFill>
                  <a:srgbClr val="000000">
                    <a:alpha val="100000"/>
                  </a:srgbClr>
                </a:solidFill>
                <a:latin typeface="Times New Roman" panose="02020603050405020304"/>
                <a:ea typeface="Times New Roman" panose="02020603050405020304"/>
                <a:cs typeface="+mn-cs"/>
              </a:rPr>
              <a:t>little envious.···"(Para.13,Para.14)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"'···It's just a part of me.'"(Para.25)</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"'If I tried to get away with it,' said George,'then other people'd get away with it--and </a:t>
            </a:r>
            <a:r>
              <a:rPr sz="2400">
                <a:solidFill>
                  <a:srgbClr val="000000">
                    <a:alpha val="100000"/>
                  </a:srgbClr>
                </a:solidFill>
                <a:latin typeface="Times New Roman" panose="02020603050405020304"/>
                <a:ea typeface="Times New Roman" panose="02020603050405020304"/>
                <a:cs typeface="+mn-cs"/>
              </a:rPr>
              <a:t>pretty soon we'd be right back to the dark ages again,···'"(Para.29)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At the end of the story,George and Hazel completely forgot the death of their son.</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cxnSp>
        <p:nvCxnSpPr>
          <p:cNvPr id="155"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56"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57"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58"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59"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60" name="文本框 159"/>
          <p:cNvSpPr txBox="1"/>
          <p:nvPr/>
        </p:nvSpPr>
        <p:spPr>
          <a:xfrm>
            <a:off x="2584850" y="408842"/>
            <a:ext cx="7067550"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Dark Humor</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61" name="文本框 160"/>
          <p:cNvSpPr txBox="1"/>
          <p:nvPr/>
        </p:nvSpPr>
        <p:spPr>
          <a:xfrm>
            <a:off x="495300" y="1581150"/>
            <a:ext cx="11468100" cy="1187450"/>
          </a:xfrm>
          <a:prstGeom prst="rect">
            <a:avLst/>
          </a:prstGeom>
          <a:ln w="6350">
            <a:prstDash val="solid"/>
          </a:ln>
        </p:spPr>
        <p:txBody>
          <a:bodyPr wrap="square">
            <a:spAutoFit/>
          </a:bodyPr>
          <a:lstStyle/>
          <a:p>
            <a:r>
              <a:rPr sz="2400">
                <a:solidFill>
                  <a:srgbClr val="000000">
                    <a:alpha val="100000"/>
                  </a:srgbClr>
                </a:solidFill>
                <a:latin typeface="Times New Roman" panose="02020603050405020304"/>
                <a:ea typeface="Times New Roman" panose="02020603050405020304"/>
                <a:cs typeface="+mn-cs"/>
              </a:rPr>
              <a:t>"'Gee-I could tell that one was a doozy,' said Hazel."</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"'You can say that again,' said George."</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"'Gee-' said Hazel,'I could tell that one was a doozy.'"(Para.92,Para.93,Para.94)</a:t>
            </a:r>
            <a:endParaRPr sz="2400">
              <a:solidFill>
                <a:srgbClr val="000000">
                  <a:alpha val="100000"/>
                </a:srgbClr>
              </a:solidFill>
              <a:latin typeface="Times New Roman" panose="02020603050405020304"/>
              <a:ea typeface="Times New Roman" panose="02020603050405020304"/>
              <a:cs typeface="+mn-cs"/>
            </a:endParaRPr>
          </a:p>
        </p:txBody>
      </p:sp>
      <p:sp>
        <p:nvSpPr>
          <p:cNvPr id="162" name="文本框 161"/>
          <p:cNvSpPr txBox="1"/>
          <p:nvPr/>
        </p:nvSpPr>
        <p:spPr>
          <a:xfrm>
            <a:off x="495300" y="3013710"/>
            <a:ext cx="10001250" cy="457200"/>
          </a:xfrm>
          <a:prstGeom prst="rect">
            <a:avLst/>
          </a:prstGeom>
          <a:ln w="12700">
            <a:prstDash val="solid"/>
          </a:ln>
        </p:spPr>
        <p:txBody>
          <a:bodyPr>
            <a:spAutoFit/>
          </a:bodyPr>
          <a:p>
            <a:r>
              <a:rPr sz="2400" b="1">
                <a:solidFill>
                  <a:srgbClr val="000000">
                    <a:alpha val="100000"/>
                  </a:srgbClr>
                </a:solidFill>
                <a:highlight>
                  <a:srgbClr val="FBFBFB">
                    <a:alpha val="100000"/>
                  </a:srgbClr>
                </a:highlight>
                <a:latin typeface="Times New Roman" panose="02020603050405020304"/>
                <a:ea typeface="Times New Roman" panose="02020603050405020304"/>
              </a:rPr>
              <a:t>you can say that again</a:t>
            </a:r>
            <a:r>
              <a:rPr sz="2400">
                <a:solidFill>
                  <a:srgbClr val="000000">
                    <a:alpha val="100000"/>
                  </a:srgbClr>
                </a:solidFill>
                <a:highlight>
                  <a:srgbClr val="FBFBFB">
                    <a:alpha val="100000"/>
                  </a:srgbClr>
                </a:highlight>
                <a:latin typeface="Times New Roman" panose="02020603050405020304"/>
                <a:ea typeface="Times New Roman" panose="02020603050405020304"/>
              </a:rPr>
              <a:t>: used to express emphatic agreement.</a:t>
            </a:r>
            <a:r>
              <a:rPr sz="1700">
                <a:solidFill>
                  <a:srgbClr val="000000">
                    <a:alpha val="100000"/>
                  </a:srgbClr>
                </a:solidFill>
                <a:highlight>
                  <a:srgbClr val="FBFBFB">
                    <a:alpha val="100000"/>
                  </a:srgbClr>
                </a:highlight>
                <a:latin typeface="Lora"/>
                <a:ea typeface="Lora"/>
                <a:cs typeface="+mn-cs"/>
              </a:rPr>
              <a:t> </a:t>
            </a:r>
            <a:endParaRPr sz="1700">
              <a:solidFill>
                <a:srgbClr val="000000">
                  <a:alpha val="100000"/>
                </a:srgbClr>
              </a:solidFill>
              <a:highlight>
                <a:srgbClr val="FBFBFB">
                  <a:alpha val="100000"/>
                </a:srgbClr>
              </a:highlight>
              <a:latin typeface="Lora"/>
              <a:ea typeface="Lora"/>
              <a:cs typeface="+mn-cs"/>
            </a:endParaRPr>
          </a:p>
        </p:txBody>
      </p:sp>
      <p:sp>
        <p:nvSpPr>
          <p:cNvPr id="163" name="文本框 162"/>
          <p:cNvSpPr txBox="1"/>
          <p:nvPr/>
        </p:nvSpPr>
        <p:spPr>
          <a:xfrm>
            <a:off x="495300" y="4064000"/>
            <a:ext cx="10090150" cy="825500"/>
          </a:xfrm>
          <a:prstGeom prst="rect">
            <a:avLst/>
          </a:prstGeom>
          <a:ln w="12700">
            <a:prstDash val="solid"/>
          </a:ln>
        </p:spPr>
        <p:txBody>
          <a:bodyPr>
            <a:spAutoFit/>
          </a:bodyPr>
          <a:p>
            <a:r>
              <a:rPr sz="2400">
                <a:solidFill>
                  <a:srgbClr val="000000">
                    <a:alpha val="100000"/>
                  </a:srgbClr>
                </a:solidFill>
                <a:latin typeface="Times New Roman" panose="02020603050405020304"/>
                <a:ea typeface="Times New Roman" panose="02020603050405020304"/>
                <a:cs typeface="+mn-cs"/>
              </a:rPr>
              <a:t>The dark humor in their dialogue is never for the sake of laughter.The ridiculous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conversations expose the essence of the "forced equality" system.</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64" name=""/>
        <p:cNvGrpSpPr/>
        <p:nvPr/>
      </p:nvGrpSpPr>
      <p:grpSpPr>
        <a:xfrm>
          <a:off x="0" y="0"/>
          <a:ext cx="0" cy="0"/>
          <a:chOff x="0" y="0"/>
          <a:chExt cx="0" cy="0"/>
        </a:xfrm>
      </p:grpSpPr>
      <p:cxnSp>
        <p:nvCxnSpPr>
          <p:cNvPr id="165"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66"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67"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68"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69"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70" name="文本框 169"/>
          <p:cNvSpPr txBox="1"/>
          <p:nvPr/>
        </p:nvSpPr>
        <p:spPr>
          <a:xfrm>
            <a:off x="2584850" y="408842"/>
            <a:ext cx="7067550"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Narrative Style</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71" name="文本框 170"/>
          <p:cNvSpPr txBox="1"/>
          <p:nvPr/>
        </p:nvSpPr>
        <p:spPr>
          <a:xfrm>
            <a:off x="479828" y="2169160"/>
            <a:ext cx="11468100" cy="1917700"/>
          </a:xfrm>
          <a:prstGeom prst="rect">
            <a:avLst/>
          </a:prstGeom>
          <a:ln w="6350">
            <a:prstDash val="solid"/>
          </a:ln>
        </p:spPr>
        <p:txBody>
          <a:bodyPr wrap="square">
            <a:spAutoFit/>
          </a:bodyPr>
          <a:lstStyle/>
          <a:p>
            <a:r>
              <a:rPr sz="2400">
                <a:solidFill>
                  <a:srgbClr val="000000">
                    <a:alpha val="100000"/>
                  </a:srgbClr>
                </a:solidFill>
                <a:latin typeface="Times New Roman" panose="02020603050405020304"/>
                <a:ea typeface="Times New Roman" panose="02020603050405020304"/>
                <a:cs typeface="+mn-cs"/>
              </a:rPr>
              <a:t>Vonnegut prefers to state facts outright,dispensing with subtle character introductions and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detailed settings.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In </a:t>
            </a:r>
            <a:r>
              <a:rPr sz="2400" i="1">
                <a:solidFill>
                  <a:srgbClr val="000000">
                    <a:alpha val="100000"/>
                  </a:srgbClr>
                </a:solidFill>
                <a:latin typeface="Times New Roman" panose="02020603050405020304"/>
                <a:ea typeface="Times New Roman" panose="02020603050405020304"/>
                <a:cs typeface="+mn-cs"/>
              </a:rPr>
              <a:t>Harrison Bergeron</a:t>
            </a:r>
            <a:r>
              <a:rPr sz="2400">
                <a:solidFill>
                  <a:srgbClr val="000000">
                    <a:alpha val="100000"/>
                  </a:srgbClr>
                </a:solidFill>
                <a:latin typeface="Times New Roman" panose="02020603050405020304"/>
                <a:ea typeface="Times New Roman" panose="02020603050405020304"/>
                <a:cs typeface="+mn-cs"/>
              </a:rPr>
              <a:t>,he employs simple language,ensuring his message is both accessible </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and immediate.</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72" name=""/>
        <p:cNvGrpSpPr/>
        <p:nvPr/>
      </p:nvGrpSpPr>
      <p:grpSpPr>
        <a:xfrm>
          <a:off x="0" y="0"/>
          <a:ext cx="0" cy="0"/>
          <a:chOff x="0" y="0"/>
          <a:chExt cx="0" cy="0"/>
        </a:xfrm>
      </p:grpSpPr>
      <p:cxnSp>
        <p:nvCxnSpPr>
          <p:cNvPr id="173"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74"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75"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76"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77"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2584850" y="408842"/>
            <a:ext cx="7067550"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Allusions (</a:t>
            </a:r>
            <a:r>
              <a:rPr lang="zh-CN" sz="4000" b="0" i="0" u="none" strike="noStrike">
                <a:solidFill>
                  <a:srgbClr val="8AA3A0">
                    <a:alpha val="100000"/>
                  </a:srgbClr>
                </a:solidFill>
                <a:latin typeface="Times New Roman" panose="02020603050405020304"/>
                <a:ea typeface="Times New Roman" panose="02020603050405020304"/>
                <a:cs typeface="+mn-cs"/>
              </a:rPr>
              <a:t>典故</a:t>
            </a:r>
            <a:r>
              <a:rPr lang="en-US" sz="4000" b="0" i="0" u="none" strike="noStrike">
                <a:solidFill>
                  <a:srgbClr val="8AA3A0">
                    <a:alpha val="100000"/>
                  </a:srgbClr>
                </a:solidFill>
                <a:latin typeface="Times New Roman" panose="02020603050405020304"/>
                <a:ea typeface="Times New Roman" panose="02020603050405020304"/>
                <a:cs typeface="+mn-cs"/>
              </a:rPr>
              <a:t>)</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79" name="文本框 178"/>
          <p:cNvSpPr txBox="1"/>
          <p:nvPr/>
        </p:nvSpPr>
        <p:spPr>
          <a:xfrm>
            <a:off x="695468" y="2406650"/>
            <a:ext cx="10198100" cy="1917700"/>
          </a:xfrm>
          <a:prstGeom prst="rect">
            <a:avLst/>
          </a:prstGeom>
          <a:ln w="12700">
            <a:prstDash val="solid"/>
          </a:ln>
        </p:spPr>
        <p:txBody>
          <a:bodyPr>
            <a:spAutoFit/>
          </a:bodyPr>
          <a:p>
            <a:r>
              <a:rPr sz="2400">
                <a:solidFill>
                  <a:srgbClr val="000000">
                    <a:alpha val="100000"/>
                  </a:srgbClr>
                </a:solidFill>
                <a:latin typeface="Times New Roman" panose="02020603050405020304"/>
                <a:ea typeface="Times New Roman" panose="02020603050405020304"/>
                <a:cs typeface="+mn-cs"/>
              </a:rPr>
              <a:t>"April,for instance,still drove people crazy by not being springtime"(Para.2)</a:t>
            </a:r>
            <a:endParaRPr sz="2400">
              <a:solidFill>
                <a:srgbClr val="000000">
                  <a:alpha val="100000"/>
                </a:srgbClr>
              </a:solidFill>
              <a:latin typeface="Times New Roman" panose="02020603050405020304"/>
              <a:ea typeface="Times New Roman" panose="02020603050405020304"/>
              <a:cs typeface="+mn-cs"/>
            </a:endParaRPr>
          </a:p>
          <a:p>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T.S.Eliot's "The Waste Land" :"April is the cruellest month···"</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"April" symbolizes the collapse of normal order,suggesting a time of false hope and </a:t>
            </a:r>
            <a:r>
              <a:rPr sz="2400">
                <a:solidFill>
                  <a:srgbClr val="000000">
                    <a:alpha val="100000"/>
                  </a:srgbClr>
                </a:solidFill>
                <a:latin typeface="Times New Roman" panose="02020603050405020304"/>
                <a:ea typeface="Times New Roman" panose="02020603050405020304"/>
                <a:cs typeface="+mn-cs"/>
              </a:rPr>
              <a:t>unpredictability.</a:t>
            </a:r>
            <a:endParaRPr sz="2400">
              <a:solidFill>
                <a:srgbClr val="000000">
                  <a:alpha val="100000"/>
                </a:srgbClr>
              </a:solidFill>
              <a:latin typeface="Times New Roman" panose="02020603050405020304"/>
              <a:ea typeface="Times New Roman" panose="02020603050405020304"/>
              <a:cs typeface="+mn-cs"/>
            </a:endParaRPr>
          </a:p>
        </p:txBody>
      </p:sp>
      <p:sp>
        <p:nvSpPr>
          <p:cNvPr id="180" name="文本框 179"/>
          <p:cNvSpPr txBox="1"/>
          <p:nvPr/>
        </p:nvSpPr>
        <p:spPr>
          <a:xfrm>
            <a:off x="695468" y="4927729"/>
            <a:ext cx="10198100" cy="825500"/>
          </a:xfrm>
          <a:prstGeom prst="rect">
            <a:avLst/>
          </a:prstGeom>
          <a:ln w="12700">
            <a:prstDash val="solid"/>
          </a:ln>
        </p:spPr>
        <p:txBody>
          <a:bodyPr>
            <a:spAutoFit/>
          </a:bodyPr>
          <a:p>
            <a:r>
              <a:rPr sz="2400">
                <a:solidFill>
                  <a:srgbClr val="000000">
                    <a:alpha val="100000"/>
                  </a:srgbClr>
                </a:solidFill>
                <a:latin typeface="Times New Roman" panose="02020603050405020304"/>
                <a:ea typeface="Times New Roman" panose="02020603050405020304"/>
                <a:cs typeface="+mn-cs"/>
              </a:rPr>
              <a:t>The agents of the Handicapper General,referred to as "H-G men",ironically echo the once-</a:t>
            </a:r>
            <a:r>
              <a:rPr sz="2400">
                <a:solidFill>
                  <a:srgbClr val="000000">
                    <a:alpha val="100000"/>
                  </a:srgbClr>
                </a:solidFill>
                <a:latin typeface="Times New Roman" panose="02020603050405020304"/>
                <a:ea typeface="Times New Roman" panose="02020603050405020304"/>
                <a:cs typeface="+mn-cs"/>
              </a:rPr>
              <a:t>respected "G-men",but represent a sinister government force.</a:t>
            </a:r>
            <a:endParaRPr sz="2400">
              <a:solidFill>
                <a:srgbClr val="000000">
                  <a:alpha val="100000"/>
                </a:srgbClr>
              </a:solidFill>
              <a:latin typeface="Times New Roman" panose="02020603050405020304"/>
              <a:ea typeface="Times New Roman" panose="02020603050405020304"/>
              <a:cs typeface="+mn-cs"/>
            </a:endParaRPr>
          </a:p>
        </p:txBody>
      </p:sp>
      <p:sp>
        <p:nvSpPr>
          <p:cNvPr id="181" name="文本框 180"/>
          <p:cNvSpPr txBox="1"/>
          <p:nvPr/>
        </p:nvSpPr>
        <p:spPr>
          <a:xfrm>
            <a:off x="747817" y="1346071"/>
            <a:ext cx="10185400" cy="457200"/>
          </a:xfrm>
          <a:prstGeom prst="rect">
            <a:avLst/>
          </a:prstGeom>
          <a:ln w="12700">
            <a:prstDash val="solid"/>
          </a:ln>
        </p:spPr>
        <p:txBody>
          <a:bodyPr>
            <a:spAutoFit/>
          </a:bodyPr>
          <a:p>
            <a:r>
              <a:rPr sz="2400">
                <a:solidFill>
                  <a:srgbClr val="000000">
                    <a:alpha val="100000"/>
                  </a:srgbClr>
                </a:solidFill>
                <a:latin typeface="Times New Roman" panose="02020603050405020304"/>
                <a:ea typeface="Times New Roman" panose="02020603050405020304"/>
                <a:cs typeface="+mn-cs"/>
              </a:rPr>
              <a:t>Vonnegut's narrative is packed with allusions,enriching its satirical layers</a:t>
            </a:r>
            <a:r>
              <a:rPr sz="2400">
                <a:solidFill>
                  <a:srgbClr val="000000">
                    <a:alpha val="100000"/>
                  </a:srgbClr>
                </a:solidFill>
                <a:latin typeface="Times New Roman" panose="02020603050405020304"/>
                <a:ea typeface="Times New Roman" panose="02020603050405020304"/>
                <a:cs typeface="+mn-cs"/>
              </a:rPr>
              <a:t>.</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82" name=""/>
        <p:cNvGrpSpPr/>
        <p:nvPr/>
      </p:nvGrpSpPr>
      <p:grpSpPr>
        <a:xfrm>
          <a:off x="0" y="0"/>
          <a:ext cx="0" cy="0"/>
          <a:chOff x="0" y="0"/>
          <a:chExt cx="0" cy="0"/>
        </a:xfrm>
      </p:grpSpPr>
      <p:cxnSp>
        <p:nvCxnSpPr>
          <p:cNvPr id="183"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84"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85"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86"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87"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88" name="文本框 187"/>
          <p:cNvSpPr txBox="1"/>
          <p:nvPr/>
        </p:nvSpPr>
        <p:spPr>
          <a:xfrm>
            <a:off x="2584850" y="408842"/>
            <a:ext cx="7067550" cy="698500"/>
          </a:xfrm>
          <a:prstGeom prst="rect">
            <a:avLst/>
          </a:prstGeom>
          <a:ln w="6350">
            <a:prstDash val="solid"/>
          </a:ln>
        </p:spPr>
        <p:txBody>
          <a:bodyPr wrap="square">
            <a:spAutoFit/>
          </a:bodyPr>
          <a:lstStyle/>
          <a:p>
            <a:pPr algn="ctr"/>
            <a:r>
              <a:rPr lang="en-US" sz="4000" b="0" i="0" u="none" strike="noStrike">
                <a:solidFill>
                  <a:srgbClr val="8AA3A0">
                    <a:alpha val="100000"/>
                  </a:srgbClr>
                </a:solidFill>
                <a:latin typeface="Times New Roman" panose="02020603050405020304"/>
                <a:ea typeface="Times New Roman" panose="02020603050405020304"/>
                <a:cs typeface="+mn-cs"/>
              </a:rPr>
              <a:t>Story Analysis -- Allusions (</a:t>
            </a:r>
            <a:r>
              <a:rPr lang="zh-CN" sz="4000" b="0" i="0" u="none" strike="noStrike">
                <a:solidFill>
                  <a:srgbClr val="8AA3A0">
                    <a:alpha val="100000"/>
                  </a:srgbClr>
                </a:solidFill>
                <a:latin typeface="Times New Roman" panose="02020603050405020304"/>
                <a:ea typeface="Times New Roman" panose="02020603050405020304"/>
                <a:cs typeface="+mn-cs"/>
              </a:rPr>
              <a:t>典故</a:t>
            </a:r>
            <a:r>
              <a:rPr lang="en-US" sz="4000" b="0" i="0" u="none" strike="noStrike">
                <a:solidFill>
                  <a:srgbClr val="8AA3A0">
                    <a:alpha val="100000"/>
                  </a:srgbClr>
                </a:solidFill>
                <a:latin typeface="Times New Roman" panose="02020603050405020304"/>
                <a:ea typeface="Times New Roman" panose="02020603050405020304"/>
                <a:cs typeface="+mn-cs"/>
              </a:rPr>
              <a:t>)</a:t>
            </a:r>
            <a:endParaRPr lang="en-US" sz="4000" b="0" i="0" u="none" strike="noStrike">
              <a:solidFill>
                <a:srgbClr val="8AA3A0">
                  <a:alpha val="100000"/>
                </a:srgbClr>
              </a:solidFill>
              <a:latin typeface="Times New Roman" panose="02020603050405020304"/>
              <a:ea typeface="Times New Roman" panose="02020603050405020304"/>
              <a:cs typeface="+mn-cs"/>
            </a:endParaRPr>
          </a:p>
        </p:txBody>
      </p:sp>
      <p:sp>
        <p:nvSpPr>
          <p:cNvPr id="189" name="文本框 188"/>
          <p:cNvSpPr txBox="1"/>
          <p:nvPr/>
        </p:nvSpPr>
        <p:spPr>
          <a:xfrm>
            <a:off x="695468" y="1478280"/>
            <a:ext cx="10198100" cy="2654300"/>
          </a:xfrm>
          <a:prstGeom prst="rect">
            <a:avLst/>
          </a:prstGeom>
          <a:ln w="12700">
            <a:prstDash val="solid"/>
          </a:ln>
        </p:spPr>
        <p:txBody>
          <a:bodyPr>
            <a:spAutoFit/>
          </a:bodyPr>
          <a:p>
            <a:r>
              <a:rPr sz="2400">
                <a:solidFill>
                  <a:srgbClr val="000000">
                    <a:alpha val="100000"/>
                  </a:srgbClr>
                </a:solidFill>
                <a:latin typeface="Times New Roman" panose="02020603050405020304"/>
                <a:ea typeface="Times New Roman" panose="02020603050405020304"/>
                <a:cs typeface="+mn-cs"/>
              </a:rPr>
              <a:t>The Handicapper General,Diana Moon Glampers</a:t>
            </a:r>
            <a:endParaRPr sz="2400">
              <a:solidFill>
                <a:srgbClr val="000000">
                  <a:alpha val="100000"/>
                </a:srgbClr>
              </a:solidFill>
              <a:latin typeface="Times New Roman" panose="02020603050405020304"/>
              <a:ea typeface="Times New Roman" panose="02020603050405020304"/>
              <a:cs typeface="+mn-cs"/>
            </a:endParaRPr>
          </a:p>
          <a:p>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Diana: </a:t>
            </a:r>
            <a:r>
              <a:rPr sz="2400">
                <a:solidFill>
                  <a:srgbClr val="000000">
                    <a:alpha val="100000"/>
                  </a:srgbClr>
                </a:solidFill>
                <a:latin typeface="Times New Roman" panose="02020603050405020304"/>
                <a:ea typeface="Times New Roman" panose="02020603050405020304"/>
                <a:cs typeface="+mn-cs"/>
              </a:rPr>
              <a:t>identified with the Greek goddess Artemis</a:t>
            </a:r>
            <a:r>
              <a:rPr sz="2400">
                <a:solidFill>
                  <a:srgbClr val="000000">
                    <a:alpha val="100000"/>
                  </a:srgbClr>
                </a:solidFill>
                <a:latin typeface="Times New Roman" panose="02020603050405020304"/>
                <a:ea typeface="Times New Roman" panose="02020603050405020304"/>
                <a:cs typeface="+mn-cs"/>
              </a:rPr>
              <a:t>(</a:t>
            </a:r>
            <a:r>
              <a:rPr lang="zh-CN" sz="2400">
                <a:solidFill>
                  <a:srgbClr val="000000">
                    <a:alpha val="100000"/>
                  </a:srgbClr>
                </a:solidFill>
                <a:latin typeface="Times New Roman" panose="02020603050405020304"/>
                <a:ea typeface="Times New Roman" panose="02020603050405020304"/>
                <a:cs typeface="+mn-cs"/>
              </a:rPr>
              <a:t>阿尔忒弥斯</a:t>
            </a:r>
            <a:r>
              <a:rPr sz="2400">
                <a:solidFill>
                  <a:srgbClr val="000000">
                    <a:alpha val="100000"/>
                  </a:srgbClr>
                </a:solidFill>
                <a:latin typeface="Times New Roman" panose="02020603050405020304"/>
                <a:ea typeface="Times New Roman" panose="02020603050405020304"/>
                <a:cs typeface="+mn-cs"/>
              </a:rPr>
              <a:t>)</a:t>
            </a:r>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the goddess of hunting in Roman mythology</a:t>
            </a:r>
            <a:r>
              <a:rPr lang="en-US" sz="2400">
                <a:solidFill>
                  <a:srgbClr val="000000">
                    <a:alpha val="100000"/>
                  </a:srgbClr>
                </a:solidFill>
                <a:latin typeface="Times New Roman" panose="02020603050405020304"/>
                <a:ea typeface="Times New Roman" panose="02020603050405020304"/>
                <a:cs typeface="+mn-cs"/>
              </a:rPr>
              <a:t> </a:t>
            </a:r>
            <a:r>
              <a:rPr sz="2400">
                <a:solidFill>
                  <a:srgbClr val="000000">
                    <a:alpha val="100000"/>
                  </a:srgbClr>
                </a:solidFill>
                <a:latin typeface="Times New Roman" panose="02020603050405020304"/>
                <a:ea typeface="Times New Roman" panose="02020603050405020304"/>
                <a:cs typeface="+mn-cs"/>
              </a:rPr>
              <a:t>with a side of vengeance and cruelty in her personality</a:t>
            </a:r>
            <a:endParaRPr sz="2400">
              <a:solidFill>
                <a:srgbClr val="000000">
                  <a:alpha val="100000"/>
                </a:srgbClr>
              </a:solidFill>
              <a:latin typeface="Times New Roman" panose="02020603050405020304"/>
              <a:ea typeface="Times New Roman" panose="02020603050405020304"/>
              <a:cs typeface="+mn-cs"/>
            </a:endParaRPr>
          </a:p>
          <a:p>
            <a:endParaRPr sz="2400">
              <a:solidFill>
                <a:srgbClr val="000000">
                  <a:alpha val="100000"/>
                </a:srgbClr>
              </a:solidFill>
              <a:latin typeface="Times New Roman" panose="02020603050405020304"/>
              <a:ea typeface="Times New Roman" panose="02020603050405020304"/>
              <a:cs typeface="+mn-cs"/>
            </a:endParaRPr>
          </a:p>
          <a:p>
            <a:r>
              <a:rPr sz="2400">
                <a:solidFill>
                  <a:srgbClr val="000000">
                    <a:alpha val="100000"/>
                  </a:srgbClr>
                </a:solidFill>
                <a:latin typeface="Times New Roman" panose="02020603050405020304"/>
                <a:ea typeface="Times New Roman" panose="02020603050405020304"/>
                <a:cs typeface="+mn-cs"/>
              </a:rPr>
              <a:t>It reflects the Handicapper General's ruthless enforcement of laws.</a:t>
            </a:r>
            <a:endParaRPr sz="2400">
              <a:solidFill>
                <a:srgbClr val="000000">
                  <a:alpha val="100000"/>
                </a:srgbClr>
              </a:solidFill>
              <a:latin typeface="Times New Roman" panose="02020603050405020304"/>
              <a:ea typeface="Times New Roman" panose="02020603050405020304"/>
              <a:cs typeface="+mn-cs"/>
            </a:endParaRPr>
          </a:p>
        </p:txBody>
      </p:sp>
      <p:sp>
        <p:nvSpPr>
          <p:cNvPr id="190" name="文本框 189"/>
          <p:cNvSpPr txBox="1"/>
          <p:nvPr/>
        </p:nvSpPr>
        <p:spPr>
          <a:xfrm>
            <a:off x="695468" y="5028426"/>
            <a:ext cx="10620133" cy="825500"/>
          </a:xfrm>
          <a:prstGeom prst="rect">
            <a:avLst/>
          </a:prstGeom>
          <a:ln w="12700">
            <a:prstDash val="solid"/>
          </a:ln>
        </p:spPr>
        <p:txBody>
          <a:bodyPr>
            <a:spAutoFit/>
          </a:bodyPr>
          <a:p>
            <a:r>
              <a:rPr sz="2400">
                <a:solidFill>
                  <a:srgbClr val="000000">
                    <a:alpha val="100000"/>
                  </a:srgbClr>
                </a:solidFill>
                <a:latin typeface="Times New Roman" panose="02020603050405020304"/>
                <a:ea typeface="Times New Roman" panose="02020603050405020304"/>
                <a:cs typeface="+mn-cs"/>
              </a:rPr>
              <a:t>Through strategic narrative choices,absurd humor and rich allusions,Vonnegut critiques a </a:t>
            </a:r>
            <a:r>
              <a:rPr sz="2400">
                <a:solidFill>
                  <a:srgbClr val="000000">
                    <a:alpha val="100000"/>
                  </a:srgbClr>
                </a:solidFill>
                <a:latin typeface="Times New Roman" panose="02020603050405020304"/>
                <a:ea typeface="Times New Roman" panose="02020603050405020304"/>
                <a:cs typeface="+mn-cs"/>
              </a:rPr>
              <a:t>society that sacrifices individuality and freedom on the altar of "equality".</a:t>
            </a:r>
            <a:endParaRPr sz="2400">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91" name=""/>
        <p:cNvGrpSpPr/>
        <p:nvPr/>
      </p:nvGrpSpPr>
      <p:grpSpPr>
        <a:xfrm>
          <a:off x="0" y="0"/>
          <a:ext cx="0" cy="0"/>
          <a:chOff x="0" y="0"/>
          <a:chExt cx="0" cy="0"/>
        </a:xfrm>
      </p:grpSpPr>
      <p:cxnSp>
        <p:nvCxnSpPr>
          <p:cNvPr id="192"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193"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194"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195"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196"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197" name="文本框 196"/>
          <p:cNvSpPr txBox="1"/>
          <p:nvPr/>
        </p:nvSpPr>
        <p:spPr>
          <a:xfrm>
            <a:off x="3920294" y="422323"/>
            <a:ext cx="4006850"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Theme</a:t>
            </a:r>
            <a:endParaRPr lang="en-US" sz="4000">
              <a:solidFill>
                <a:srgbClr val="8AA3A0">
                  <a:alpha val="100000"/>
                </a:srgbClr>
              </a:solidFill>
              <a:latin typeface="Times New Roman" panose="02020603050405020304"/>
              <a:ea typeface="Times New Roman" panose="02020603050405020304"/>
              <a:cs typeface="+mn-cs"/>
            </a:endParaRPr>
          </a:p>
        </p:txBody>
      </p:sp>
      <p:sp>
        <p:nvSpPr>
          <p:cNvPr id="198" name="文本框 197"/>
          <p:cNvSpPr txBox="1"/>
          <p:nvPr/>
        </p:nvSpPr>
        <p:spPr>
          <a:xfrm>
            <a:off x="613999" y="1516380"/>
            <a:ext cx="10617200" cy="1917700"/>
          </a:xfrm>
          <a:prstGeom prst="rect">
            <a:avLst/>
          </a:prstGeom>
          <a:ln w="6350">
            <a:prstDash val="solid"/>
          </a:ln>
        </p:spPr>
        <p:txBody>
          <a:bodyPr wrap="square">
            <a:spAutoFit/>
          </a:bodyPr>
          <a:lstStyle/>
          <a:p>
            <a:pPr indent="0">
              <a:buNone/>
            </a:pPr>
            <a:r>
              <a:rPr lang="en-US" sz="2400" i="1">
                <a:latin typeface="Times New Roman" panose="02020603050405020304"/>
                <a:ea typeface="Times New Roman" panose="02020603050405020304"/>
                <a:cs typeface="+mn-cs"/>
              </a:rPr>
              <a:t>Definition</a:t>
            </a:r>
            <a:r>
              <a:rPr lang="en-US" sz="2400">
                <a:latin typeface="Times New Roman" panose="02020603050405020304"/>
                <a:ea typeface="Times New Roman" panose="02020603050405020304"/>
                <a:cs typeface="+mn-cs"/>
              </a:rPr>
              <a:t>：A theme is a universal idea, lesson, or message explored throughout a work of literature.</a:t>
            </a:r>
            <a:endParaRPr lang="en-US" sz="2400">
              <a:latin typeface="Times New Roman" panose="02020603050405020304"/>
              <a:ea typeface="Times New Roman" panose="02020603050405020304"/>
              <a:cs typeface="+mn-cs"/>
            </a:endParaRPr>
          </a:p>
          <a:p>
            <a:pPr indent="0">
              <a:buNone/>
            </a:pPr>
            <a:r>
              <a:rPr lang="en-US" sz="2400">
                <a:latin typeface="Times New Roman" panose="02020603050405020304"/>
                <a:ea typeface="Times New Roman" panose="02020603050405020304"/>
                <a:cs typeface="+mn-cs"/>
              </a:rPr>
              <a:t>The same work can have multiple themes, and they are hidden in the words.
Because of its variety, it's not strange that we could see many different views about a work's theme, but a theme should be </a:t>
            </a:r>
            <a:r>
              <a:rPr lang="en-US" sz="2400" b="1">
                <a:latin typeface="Times New Roman" panose="02020603050405020304"/>
                <a:ea typeface="Times New Roman" panose="02020603050405020304"/>
                <a:cs typeface="+mn-cs"/>
              </a:rPr>
              <a:t>reasonable</a:t>
            </a:r>
            <a:r>
              <a:rPr lang="en-US" sz="2400">
                <a:latin typeface="Times New Roman" panose="02020603050405020304"/>
                <a:ea typeface="Times New Roman" panose="02020603050405020304"/>
                <a:cs typeface="+mn-cs"/>
              </a:rPr>
              <a:t>.</a:t>
            </a:r>
            <a:endParaRPr lang="en-US" sz="2400">
              <a:latin typeface="Times New Roman" panose="02020603050405020304"/>
              <a:ea typeface="Times New Roman" panose="02020603050405020304"/>
              <a:cs typeface="+mn-cs"/>
            </a:endParaRPr>
          </a:p>
        </p:txBody>
      </p:sp>
      <p:sp>
        <p:nvSpPr>
          <p:cNvPr id="199" name="文本框 198"/>
          <p:cNvSpPr txBox="1"/>
          <p:nvPr/>
        </p:nvSpPr>
        <p:spPr>
          <a:xfrm>
            <a:off x="764018" y="4156178"/>
            <a:ext cx="10160000" cy="457200"/>
          </a:xfrm>
          <a:prstGeom prst="rect">
            <a:avLst/>
          </a:prstGeom>
          <a:ln w="6350">
            <a:prstDash val="solid"/>
          </a:ln>
        </p:spPr>
        <p:txBody>
          <a:bodyPr wrap="square">
            <a:spAutoFit/>
          </a:bodyPr>
          <a:lstStyle/>
          <a:p>
            <a:pPr indent="0">
              <a:buNone/>
            </a:pPr>
            <a:r>
              <a:rPr lang="en-US" sz="2400" b="1">
                <a:solidFill>
                  <a:srgbClr val="000000">
                    <a:alpha val="100000"/>
                  </a:srgbClr>
                </a:solidFill>
                <a:latin typeface="Times New Roman" panose="02020603050405020304"/>
                <a:ea typeface="Times New Roman" panose="02020603050405020304"/>
                <a:cs typeface="+mn-cs"/>
              </a:rPr>
              <a:t>8</a:t>
            </a:r>
            <a:r>
              <a:rPr sz="2400" b="1">
                <a:solidFill>
                  <a:srgbClr val="000000">
                    <a:alpha val="100000"/>
                  </a:srgbClr>
                </a:solidFill>
                <a:latin typeface="Times New Roman" panose="02020603050405020304"/>
                <a:ea typeface="Times New Roman" panose="02020603050405020304"/>
                <a:cs typeface="+mn-cs"/>
              </a:rPr>
              <a:t>. Does the story argue for anything? How would you sum up its theme?</a:t>
            </a:r>
            <a:endParaRPr sz="2400" b="1">
              <a:solidFill>
                <a:srgbClr val="000000">
                  <a:alpha val="100000"/>
                </a:srgbClr>
              </a:solidFill>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08" name=""/>
        <p:cNvGrpSpPr/>
        <p:nvPr/>
      </p:nvGrpSpPr>
      <p:grpSpPr>
        <a:xfrm>
          <a:off x="0" y="0"/>
          <a:ext cx="0" cy="0"/>
          <a:chOff x="0" y="0"/>
          <a:chExt cx="0" cy="0"/>
        </a:xfrm>
      </p:grpSpPr>
      <p:cxnSp>
        <p:nvCxnSpPr>
          <p:cNvPr id="209"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10"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11"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12"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13"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14" name="文本框 213"/>
          <p:cNvSpPr txBox="1"/>
          <p:nvPr/>
        </p:nvSpPr>
        <p:spPr>
          <a:xfrm>
            <a:off x="1972502" y="422323"/>
            <a:ext cx="7899400"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Method 1: Focus on Main Conflicts</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15" name="文本框 214"/>
          <p:cNvSpPr txBox="1"/>
          <p:nvPr/>
        </p:nvSpPr>
        <p:spPr>
          <a:xfrm>
            <a:off x="511175" y="1535137"/>
            <a:ext cx="10718237" cy="1187450"/>
          </a:xfrm>
          <a:prstGeom prst="rect">
            <a:avLst/>
          </a:prstGeom>
          <a:ln w="6350">
            <a:prstDash val="solid"/>
          </a:ln>
        </p:spPr>
        <p:txBody>
          <a:bodyPr wrap="square">
            <a:spAutoFit/>
          </a:bodyPr>
          <a:lstStyle/>
          <a:p>
            <a:pPr indent="0">
              <a:buNone/>
            </a:pPr>
            <a:r>
              <a:rPr lang="en-US" sz="2400" i="0">
                <a:latin typeface="Times New Roman" panose="02020603050405020304"/>
                <a:ea typeface="Times New Roman" panose="02020603050405020304"/>
                <a:cs typeface="+mn-cs"/>
              </a:rPr>
              <a:t>Main conflict: Harrison fights against the whole society.</a:t>
            </a:r>
            <a:endParaRPr lang="en-US" sz="2400" i="0">
              <a:latin typeface="Times New Roman" panose="02020603050405020304"/>
              <a:ea typeface="Times New Roman" panose="02020603050405020304"/>
              <a:cs typeface="+mn-cs"/>
            </a:endParaRPr>
          </a:p>
          <a:p>
            <a:pPr indent="0">
              <a:buNone/>
            </a:pPr>
            <a:endParaRPr lang="en-US" sz="2400" i="0">
              <a:latin typeface="Times New Roman" panose="02020603050405020304"/>
              <a:ea typeface="Times New Roman" panose="02020603050405020304"/>
              <a:cs typeface="+mn-cs"/>
            </a:endParaRPr>
          </a:p>
          <a:p>
            <a:pPr indent="0">
              <a:buNone/>
            </a:pPr>
            <a:endParaRPr lang="en-US" sz="2400" i="0">
              <a:latin typeface="Times New Roman" panose="02020603050405020304"/>
              <a:ea typeface="Times New Roman" panose="02020603050405020304"/>
              <a:cs typeface="+mn-cs"/>
            </a:endParaRPr>
          </a:p>
        </p:txBody>
      </p:sp>
      <p:graphicFrame>
        <p:nvGraphicFramePr>
          <p:cNvPr id="216" name="表格 215"/>
          <p:cNvGraphicFramePr/>
          <p:nvPr/>
        </p:nvGraphicFramePr>
        <p:xfrm>
          <a:off x="612212" y="2159000"/>
          <a:ext cx="11296650" cy="2254250"/>
        </p:xfrm>
        <a:graphic>
          <a:graphicData uri="http://schemas.openxmlformats.org/drawingml/2006/table">
            <a:tbl>
              <a:tblPr firstRow="1" bandRow="1">
                <a:tableStyleId>{93296810-A885-4BE3-A3E7-6D5BEEA58F35}</a:tableStyleId>
              </a:tblPr>
              <a:tblGrid>
                <a:gridCol w="4400550"/>
                <a:gridCol w="6896100"/>
              </a:tblGrid>
              <a:tr h="438150">
                <a:tc>
                  <a:txBody>
                    <a:bodyPr/>
                    <a:lstStyle/>
                    <a:p>
                      <a:pPr algn="ctr"/>
                      <a:r>
                        <a:rPr lang="en-US" sz="2400">
                          <a:latin typeface="Times New Roman" panose="02020603050405020304"/>
                          <a:ea typeface="Times New Roman" panose="02020603050405020304"/>
                          <a:cs typeface="+mn-cs"/>
                        </a:rPr>
                        <a:t>Harrison</a:t>
                      </a:r>
                      <a:endParaRPr lang="en-US" sz="2400">
                        <a:latin typeface="Times New Roman" panose="02020603050405020304"/>
                        <a:ea typeface="Times New Roman" panose="02020603050405020304"/>
                        <a:cs typeface="+mn-cs"/>
                      </a:endParaRPr>
                    </a:p>
                  </a:txBody>
                  <a:tcPr/>
                </a:tc>
                <a:tc>
                  <a:txBody>
                    <a:bodyPr/>
                    <a:lstStyle/>
                    <a:p>
                      <a:pPr algn="ctr"/>
                      <a:r>
                        <a:rPr lang="en-US" sz="2400">
                          <a:latin typeface="Times New Roman" panose="02020603050405020304"/>
                          <a:ea typeface="Times New Roman" panose="02020603050405020304"/>
                          <a:cs typeface="+mn-cs"/>
                        </a:rPr>
                        <a:t>Way to equalize</a:t>
                      </a:r>
                      <a:endParaRPr lang="en-US" sz="2400">
                        <a:latin typeface="Times New Roman" panose="02020603050405020304"/>
                        <a:ea typeface="Times New Roman" panose="02020603050405020304"/>
                        <a:cs typeface="+mn-cs"/>
                      </a:endParaRPr>
                    </a:p>
                  </a:txBody>
                  <a:tcPr/>
                </a:tc>
              </a:tr>
              <a:tr h="438150">
                <a:tc>
                  <a:txBody>
                    <a:bodyPr/>
                    <a:lstStyle/>
                    <a:p>
                      <a:pPr algn="ctr"/>
                      <a:r>
                        <a:rPr lang="en-US" sz="2400">
                          <a:latin typeface="Times New Roman" panose="02020603050405020304"/>
                          <a:ea typeface="Times New Roman" panose="02020603050405020304"/>
                          <a:cs typeface="+mn-cs"/>
                        </a:rPr>
                        <a:t>Intelligence</a:t>
                      </a:r>
                      <a:endParaRPr lang="en-US" sz="2400">
                        <a:latin typeface="Times New Roman" panose="02020603050405020304"/>
                        <a:ea typeface="Times New Roman" panose="02020603050405020304"/>
                        <a:cs typeface="+mn-cs"/>
                      </a:endParaRPr>
                    </a:p>
                  </a:txBody>
                  <a:tcPr/>
                </a:tc>
                <a:tc>
                  <a:txBody>
                    <a:bodyPr/>
                    <a:lstStyle/>
                    <a:p>
                      <a:pPr algn="ctr"/>
                      <a:r>
                        <a:rPr lang="en-US" sz="2400">
                          <a:latin typeface="Times New Roman" panose="02020603050405020304"/>
                          <a:ea typeface="Times New Roman" panose="02020603050405020304"/>
                          <a:cs typeface="+mn-cs"/>
                        </a:rPr>
                        <a:t>Tremendous pair of earphones</a:t>
                      </a:r>
                      <a:endParaRPr lang="en-US" sz="2400">
                        <a:latin typeface="Times New Roman" panose="02020603050405020304"/>
                        <a:ea typeface="Times New Roman" panose="02020603050405020304"/>
                        <a:cs typeface="+mn-cs"/>
                      </a:endParaRPr>
                    </a:p>
                  </a:txBody>
                  <a:tcPr/>
                </a:tc>
              </a:tr>
              <a:tr h="438150">
                <a:tc>
                  <a:txBody>
                    <a:bodyPr/>
                    <a:lstStyle/>
                    <a:p>
                      <a:pPr algn="ctr"/>
                      <a:r>
                        <a:rPr lang="en-US" sz="2400">
                          <a:latin typeface="Times New Roman" panose="02020603050405020304"/>
                          <a:ea typeface="Times New Roman" panose="02020603050405020304"/>
                          <a:cs typeface="+mn-cs"/>
                        </a:rPr>
                        <a:t>Height</a:t>
                      </a:r>
                      <a:endParaRPr lang="en-US" sz="2400">
                        <a:latin typeface="Times New Roman" panose="02020603050405020304"/>
                        <a:ea typeface="Times New Roman" panose="02020603050405020304"/>
                        <a:cs typeface="+mn-cs"/>
                      </a:endParaRPr>
                    </a:p>
                  </a:txBody>
                  <a:tcPr/>
                </a:tc>
                <a:tc>
                  <a:txBody>
                    <a:bodyPr/>
                    <a:lstStyle/>
                    <a:p>
                      <a:pPr algn="ctr"/>
                      <a:r>
                        <a:rPr lang="en-US" sz="2400">
                          <a:latin typeface="Times New Roman" panose="02020603050405020304"/>
                          <a:ea typeface="Times New Roman" panose="02020603050405020304"/>
                          <a:cs typeface="+mn-cs"/>
                        </a:rPr>
                        <a:t>300 pounds (nearly 3 bags of rice)</a:t>
                      </a:r>
                      <a:endParaRPr lang="en-US" sz="2400">
                        <a:latin typeface="Times New Roman" panose="02020603050405020304"/>
                        <a:ea typeface="Times New Roman" panose="02020603050405020304"/>
                        <a:cs typeface="+mn-cs"/>
                      </a:endParaRPr>
                    </a:p>
                  </a:txBody>
                  <a:tcPr/>
                </a:tc>
              </a:tr>
              <a:tr h="438150">
                <a:tc>
                  <a:txBody>
                    <a:bodyPr/>
                    <a:lstStyle/>
                    <a:p>
                      <a:pPr algn="ctr"/>
                      <a:r>
                        <a:rPr lang="en-US" sz="2400">
                          <a:latin typeface="Times New Roman" panose="02020603050405020304"/>
                          <a:ea typeface="Times New Roman" panose="02020603050405020304"/>
                          <a:cs typeface="+mn-cs"/>
                        </a:rPr>
                        <a:t>Eyesight</a:t>
                      </a:r>
                      <a:endParaRPr lang="en-US" sz="2400">
                        <a:latin typeface="Times New Roman" panose="02020603050405020304"/>
                        <a:ea typeface="Times New Roman" panose="02020603050405020304"/>
                        <a:cs typeface="+mn-cs"/>
                      </a:endParaRPr>
                    </a:p>
                  </a:txBody>
                  <a:tcPr/>
                </a:tc>
                <a:tc>
                  <a:txBody>
                    <a:bodyPr/>
                    <a:lstStyle/>
                    <a:p>
                      <a:pPr algn="ctr"/>
                      <a:r>
                        <a:rPr lang="en-US" sz="2400">
                          <a:latin typeface="Times New Roman" panose="02020603050405020304"/>
                          <a:ea typeface="Times New Roman" panose="02020603050405020304"/>
                          <a:cs typeface="+mn-cs"/>
                        </a:rPr>
                        <a:t>Spectacles </a:t>
                      </a:r>
                      <a:r>
                        <a:rPr lang="en-US" sz="2400">
                          <a:latin typeface="Times New Roman" panose="02020603050405020304"/>
                          <a:ea typeface="Times New Roman" panose="02020603050405020304"/>
                          <a:cs typeface="+mn-cs"/>
                        </a:rPr>
                        <a:t>with</a:t>
                      </a:r>
                      <a:r>
                        <a:rPr lang="en-US" sz="2400">
                          <a:latin typeface="Times New Roman" panose="02020603050405020304"/>
                          <a:ea typeface="Times New Roman" panose="02020603050405020304"/>
                          <a:cs typeface="+mn-cs"/>
                        </a:rPr>
                        <a:t> thick wavy lenses</a:t>
                      </a:r>
                      <a:endParaRPr lang="en-US" sz="2400">
                        <a:latin typeface="Times New Roman" panose="02020603050405020304"/>
                        <a:ea typeface="Times New Roman" panose="02020603050405020304"/>
                        <a:cs typeface="+mn-cs"/>
                      </a:endParaRPr>
                    </a:p>
                  </a:txBody>
                  <a:tcPr/>
                </a:tc>
              </a:tr>
              <a:tr h="501650">
                <a:tc>
                  <a:txBody>
                    <a:bodyPr/>
                    <a:lstStyle/>
                    <a:p>
                      <a:pPr algn="ctr"/>
                      <a:r>
                        <a:rPr lang="en-US" sz="2400">
                          <a:latin typeface="Times New Roman" panose="02020603050405020304"/>
                          <a:ea typeface="Times New Roman" panose="02020603050405020304"/>
                          <a:cs typeface="+mn-cs"/>
                        </a:rPr>
                        <a:t>Good looks</a:t>
                      </a:r>
                      <a:endParaRPr lang="en-US" sz="2400">
                        <a:latin typeface="Times New Roman" panose="02020603050405020304"/>
                        <a:ea typeface="Times New Roman" panose="02020603050405020304"/>
                        <a:cs typeface="+mn-cs"/>
                      </a:endParaRPr>
                    </a:p>
                  </a:txBody>
                  <a:tcPr/>
                </a:tc>
                <a:tc>
                  <a:txBody>
                    <a:bodyPr/>
                    <a:lstStyle/>
                    <a:p>
                      <a:pPr algn="ctr"/>
                      <a:r>
                        <a:rPr lang="en-US" sz="2400">
                          <a:latin typeface="Times New Roman" panose="02020603050405020304"/>
                          <a:ea typeface="Times New Roman" panose="02020603050405020304"/>
                          <a:cs typeface="+mn-cs"/>
                        </a:rPr>
                        <a:t>Red rubber ball, Eyebrows shaved off, Black caps</a:t>
                      </a:r>
                      <a:endParaRPr lang="en-US" sz="2400">
                        <a:latin typeface="Times New Roman" panose="02020603050405020304"/>
                        <a:ea typeface="Times New Roman" panose="02020603050405020304"/>
                        <a:cs typeface="+mn-cs"/>
                      </a:endParaRPr>
                    </a:p>
                  </a:txBody>
                  <a:tcPr/>
                </a:tc>
              </a:tr>
            </a:tbl>
          </a:graphicData>
        </a:graphic>
      </p:graphicFrame>
      <p:sp>
        <p:nvSpPr>
          <p:cNvPr id="217" name="文本框 216"/>
          <p:cNvSpPr txBox="1"/>
          <p:nvPr/>
        </p:nvSpPr>
        <p:spPr>
          <a:xfrm>
            <a:off x="511175" y="4716625"/>
            <a:ext cx="11169650" cy="1187450"/>
          </a:xfrm>
          <a:prstGeom prst="rect">
            <a:avLst/>
          </a:prstGeom>
          <a:ln w="6350">
            <a:prstDash val="solid"/>
          </a:ln>
        </p:spPr>
        <p:txBody>
          <a:bodyPr wrap="square">
            <a:spAutoFit/>
          </a:bodyPr>
          <a:lstStyle/>
          <a:p>
            <a:pPr indent="0">
              <a:buNone/>
            </a:pPr>
            <a:r>
              <a:rPr lang="en-US" sz="2400" i="0">
                <a:latin typeface="Times New Roman" panose="02020603050405020304"/>
                <a:ea typeface="Times New Roman" panose="02020603050405020304"/>
                <a:cs typeface="+mn-cs"/>
              </a:rPr>
              <a:t>Harrison, a superman, a symbol of great quality, is oppressed by the society.</a:t>
            </a: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We see that, the 2081 society, which is equal, loses its beauty, grace, and wisdom. The society refuses individual's greatness, and its equality is built by declining not advancing.</a:t>
            </a:r>
            <a:endParaRPr lang="en-US" sz="2400" i="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18" name=""/>
        <p:cNvGrpSpPr/>
        <p:nvPr/>
      </p:nvGrpSpPr>
      <p:grpSpPr>
        <a:xfrm>
          <a:off x="0" y="0"/>
          <a:ext cx="0" cy="0"/>
          <a:chOff x="0" y="0"/>
          <a:chExt cx="0" cy="0"/>
        </a:xfrm>
      </p:grpSpPr>
      <p:cxnSp>
        <p:nvCxnSpPr>
          <p:cNvPr id="219"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20"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21"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22"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23"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24" name="文本框 223"/>
          <p:cNvSpPr txBox="1"/>
          <p:nvPr/>
        </p:nvSpPr>
        <p:spPr>
          <a:xfrm>
            <a:off x="1247808" y="422323"/>
            <a:ext cx="9346009"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Method 2: Focus on Symbols &amp; Indication</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25" name="文本框 224"/>
          <p:cNvSpPr txBox="1"/>
          <p:nvPr/>
        </p:nvSpPr>
        <p:spPr>
          <a:xfrm>
            <a:off x="612212" y="1535137"/>
            <a:ext cx="10617200" cy="1917700"/>
          </a:xfrm>
          <a:prstGeom prst="rect">
            <a:avLst/>
          </a:prstGeom>
          <a:ln w="6350">
            <a:prstDash val="solid"/>
          </a:ln>
        </p:spPr>
        <p:txBody>
          <a:bodyPr wrap="square">
            <a:spAutoFit/>
          </a:bodyPr>
          <a:lstStyle/>
          <a:p>
            <a:pPr indent="0">
              <a:buNone/>
            </a:pPr>
            <a:r>
              <a:rPr lang="en-US" sz="2400" i="1">
                <a:latin typeface="Times New Roman" panose="02020603050405020304"/>
                <a:ea typeface="Times New Roman" panose="02020603050405020304"/>
                <a:cs typeface="+mn-cs"/>
              </a:rPr>
              <a:t>Definition</a:t>
            </a:r>
            <a:r>
              <a:rPr lang="en-US" sz="2400" i="0">
                <a:latin typeface="Times New Roman" panose="02020603050405020304"/>
                <a:ea typeface="Times New Roman" panose="02020603050405020304"/>
                <a:cs typeface="+mn-cs"/>
              </a:rPr>
              <a:t>: A symbol is something that represents another thing.</a:t>
            </a:r>
            <a:endParaRPr lang="en-US" sz="2400" i="0">
              <a:latin typeface="Times New Roman" panose="02020603050405020304"/>
              <a:ea typeface="Times New Roman" panose="02020603050405020304"/>
              <a:cs typeface="+mn-cs"/>
            </a:endParaRPr>
          </a:p>
          <a:p>
            <a:pPr indent="0">
              <a:buNone/>
            </a:pP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One symbol in this passage: the "double-barreled ten-gauge" shotgun. It symbolizes the tool to govern society. The way that H-G uses to make the society "equal" is dangerous and brutal. They have too much power to govern the society.</a:t>
            </a:r>
            <a:endParaRPr lang="en-US" sz="2400" i="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cxnSp>
        <p:nvCxnSpPr>
          <p:cNvPr id="227"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28"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29"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30"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31"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32" name="文本框 231"/>
          <p:cNvSpPr txBox="1"/>
          <p:nvPr/>
        </p:nvSpPr>
        <p:spPr>
          <a:xfrm>
            <a:off x="1247808" y="422323"/>
            <a:ext cx="9346009"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Method 2: Focus on Symbols &amp; Indication</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33" name="文本框 232"/>
          <p:cNvSpPr txBox="1"/>
          <p:nvPr/>
        </p:nvSpPr>
        <p:spPr>
          <a:xfrm>
            <a:off x="612212" y="1438696"/>
            <a:ext cx="10617200" cy="4845050"/>
          </a:xfrm>
          <a:prstGeom prst="rect">
            <a:avLst/>
          </a:prstGeom>
          <a:ln w="6350">
            <a:prstDash val="solid"/>
          </a:ln>
        </p:spPr>
        <p:txBody>
          <a:bodyPr wrap="square">
            <a:spAutoFit/>
          </a:bodyPr>
          <a:lstStyle/>
          <a:p>
            <a:pPr indent="0">
              <a:buNone/>
            </a:pPr>
            <a:r>
              <a:rPr lang="en-US" sz="2400" i="0">
                <a:latin typeface="Times New Roman" panose="02020603050405020304"/>
                <a:ea typeface="Times New Roman" panose="02020603050405020304"/>
                <a:cs typeface="+mn-cs"/>
              </a:rPr>
              <a:t>Recall our preparation problem 6? </a:t>
            </a:r>
            <a:r>
              <a:rPr lang="en-US" sz="2400" i="0">
                <a:latin typeface="Times New Roman" panose="02020603050405020304"/>
                <a:ea typeface="Times New Roman" panose="02020603050405020304"/>
                <a:cs typeface="+mn-cs"/>
              </a:rPr>
              <a:t>Harrison is just shot in live, but Hazel, as his mother, just says "something real sad on the television". She can't recognize his son and her intelligence is </a:t>
            </a:r>
            <a:r>
              <a:rPr lang="en-US" sz="2400" b="1" i="0">
                <a:latin typeface="Times New Roman" panose="02020603050405020304"/>
                <a:ea typeface="Times New Roman" panose="02020603050405020304"/>
                <a:cs typeface="+mn-cs"/>
              </a:rPr>
              <a:t>average</a:t>
            </a:r>
            <a:r>
              <a:rPr lang="en-US" sz="2400" i="0">
                <a:latin typeface="Times New Roman" panose="02020603050405020304"/>
                <a:ea typeface="Times New Roman" panose="02020603050405020304"/>
                <a:cs typeface="+mn-cs"/>
              </a:rPr>
              <a:t>.</a:t>
            </a: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This society is too silly.</a:t>
            </a:r>
            <a:endParaRPr lang="en-US" sz="2400" i="0">
              <a:latin typeface="Times New Roman" panose="02020603050405020304"/>
              <a:ea typeface="Times New Roman" panose="02020603050405020304"/>
              <a:cs typeface="+mn-cs"/>
            </a:endParaRPr>
          </a:p>
          <a:p>
            <a:pPr indent="0">
              <a:buNone/>
            </a:pP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Harrison wants to "overthrow the government". But he wants to be the emperor.</a:t>
            </a: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He is naive superman.</a:t>
            </a:r>
            <a:endParaRPr lang="en-US" sz="2400" i="0">
              <a:latin typeface="Times New Roman" panose="02020603050405020304"/>
              <a:ea typeface="Times New Roman" panose="02020603050405020304"/>
              <a:cs typeface="+mn-cs"/>
            </a:endParaRPr>
          </a:p>
          <a:p>
            <a:pPr indent="0">
              <a:buNone/>
            </a:pP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George can't think because the noise will stop him. Diana shoots Harrison calmly and accurately.</a:t>
            </a: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It seems that Diana is equaler than George.</a:t>
            </a:r>
            <a:endParaRPr lang="en-US" sz="2400" i="0">
              <a:latin typeface="Times New Roman" panose="02020603050405020304"/>
              <a:ea typeface="Times New Roman" panose="02020603050405020304"/>
              <a:cs typeface="+mn-cs"/>
            </a:endParaRPr>
          </a:p>
          <a:p>
            <a:pPr indent="0">
              <a:buNone/>
            </a:pPr>
            <a:r>
              <a:rPr lang="en-US" sz="2400" i="0">
                <a:latin typeface="Times New Roman" panose="02020603050405020304"/>
                <a:ea typeface="Times New Roman" panose="02020603050405020304"/>
                <a:cs typeface="+mn-cs"/>
              </a:rPr>
              <a:t>
So can this society remain?</a:t>
            </a:r>
            <a:endParaRPr lang="en-US" sz="2400" i="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34" name=""/>
        <p:cNvGrpSpPr/>
        <p:nvPr/>
      </p:nvGrpSpPr>
      <p:grpSpPr>
        <a:xfrm>
          <a:off x="0" y="0"/>
          <a:ext cx="0" cy="0"/>
          <a:chOff x="0" y="0"/>
          <a:chExt cx="0" cy="0"/>
        </a:xfrm>
      </p:grpSpPr>
      <p:cxnSp>
        <p:nvCxnSpPr>
          <p:cNvPr id="235"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36"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37"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38"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39"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40" name="文本框 239"/>
          <p:cNvSpPr txBox="1"/>
          <p:nvPr/>
        </p:nvSpPr>
        <p:spPr>
          <a:xfrm>
            <a:off x="1247808" y="422323"/>
            <a:ext cx="9347200"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Method 3: Link It to Time</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41" name="文本框 240"/>
          <p:cNvSpPr txBox="1"/>
          <p:nvPr/>
        </p:nvSpPr>
        <p:spPr>
          <a:xfrm>
            <a:off x="612212" y="1535137"/>
            <a:ext cx="10617200" cy="2654300"/>
          </a:xfrm>
          <a:prstGeom prst="rect">
            <a:avLst/>
          </a:prstGeom>
          <a:ln w="6350">
            <a:prstDash val="solid"/>
          </a:ln>
        </p:spPr>
        <p:txBody>
          <a:bodyPr wrap="square">
            <a:spAutoFit/>
          </a:bodyPr>
          <a:lstStyle/>
          <a:p>
            <a:pPr indent="0">
              <a:buNone/>
            </a:pPr>
            <a:r>
              <a:rPr lang="en-US" sz="2400" i="0">
                <a:latin typeface="Times New Roman" panose="02020603050405020304"/>
                <a:ea typeface="Times New Roman" panose="02020603050405020304"/>
                <a:cs typeface="+mn-cs"/>
              </a:rPr>
              <a:t>The passage is written in 1961, so </a:t>
            </a:r>
            <a:r>
              <a:rPr lang="en-US" sz="2400" b="1" i="0">
                <a:latin typeface="Times New Roman" panose="02020603050405020304"/>
                <a:ea typeface="Times New Roman" panose="02020603050405020304"/>
                <a:cs typeface="+mn-cs"/>
              </a:rPr>
              <a:t>Cold War</a:t>
            </a:r>
            <a:r>
              <a:rPr lang="en-US" sz="2400" i="0">
                <a:latin typeface="Times New Roman" panose="02020603050405020304"/>
                <a:ea typeface="Times New Roman" panose="02020603050405020304"/>
                <a:cs typeface="+mn-cs"/>
              </a:rPr>
              <a:t> should be considered.
</a:t>
            </a:r>
            <a:r>
              <a:rPr lang="en-US" sz="2400" i="1">
                <a:latin typeface="Times New Roman" panose="02020603050405020304"/>
                <a:ea typeface="Times New Roman" panose="02020603050405020304"/>
                <a:cs typeface="+mn-cs"/>
              </a:rPr>
              <a:t>Berlin Crisis of 1961</a:t>
            </a:r>
            <a:r>
              <a:rPr lang="en-US" sz="2400" i="0">
                <a:latin typeface="Times New Roman" panose="02020603050405020304"/>
                <a:ea typeface="Times New Roman" panose="02020603050405020304"/>
                <a:cs typeface="+mn-cs"/>
              </a:rPr>
              <a:t>: </a:t>
            </a:r>
            <a:r>
              <a:rPr lang="en-US" sz="2400" i="1">
                <a:latin typeface="Times New Roman" panose="02020603050405020304"/>
                <a:ea typeface="Times New Roman" panose="02020603050405020304"/>
                <a:cs typeface="+mn-cs"/>
              </a:rPr>
              <a:t>The Berlin Wall</a:t>
            </a:r>
            <a:r>
              <a:rPr lang="en-US" sz="2400" i="0">
                <a:latin typeface="Times New Roman" panose="02020603050405020304"/>
                <a:ea typeface="Times New Roman" panose="02020603050405020304"/>
                <a:cs typeface="+mn-cs"/>
              </a:rPr>
              <a:t> was built on 12-13 August.
So there's a reasonable theme: The passage draws a picture of "communism", reflecting a ridiculous understanding of communism. It's an exaggeration to satirize American Cold War misunderstandings of communism and socialism.</a:t>
            </a:r>
            <a:endParaRPr lang="en-US" sz="2400" i="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42" name=""/>
        <p:cNvGrpSpPr/>
        <p:nvPr/>
      </p:nvGrpSpPr>
      <p:grpSpPr>
        <a:xfrm>
          <a:off x="0" y="0"/>
          <a:ext cx="0" cy="0"/>
          <a:chOff x="0" y="0"/>
          <a:chExt cx="0" cy="0"/>
        </a:xfrm>
      </p:grpSpPr>
      <p:cxnSp>
        <p:nvCxnSpPr>
          <p:cNvPr id="243" name="直接连接符 14"/>
          <p:cNvCxnSpPr/>
          <p:nvPr/>
        </p:nvCxnSpPr>
        <p:spPr>
          <a:xfrm>
            <a:off x="2815298" y="3475089"/>
            <a:ext cx="442167" cy="0"/>
          </a:xfrm>
          <a:prstGeom prst="line">
            <a:avLst/>
          </a:prstGeom>
          <a:noFill/>
          <a:ln w="6350" cap="flat" cmpd="sng" algn="ctr">
            <a:solidFill>
              <a:srgbClr val="FFFFFF"/>
            </a:solidFill>
            <a:prstDash val="solid"/>
            <a:miter lim="800000"/>
          </a:ln>
          <a:effectLst/>
        </p:spPr>
      </p:cxnSp>
      <p:cxnSp>
        <p:nvCxnSpPr>
          <p:cNvPr id="244" name="直接连接符 47"/>
          <p:cNvCxnSpPr/>
          <p:nvPr/>
        </p:nvCxnSpPr>
        <p:spPr>
          <a:xfrm>
            <a:off x="7770063" y="3719606"/>
            <a:ext cx="442167" cy="0"/>
          </a:xfrm>
          <a:prstGeom prst="line">
            <a:avLst/>
          </a:prstGeom>
          <a:noFill/>
          <a:ln w="6350" cap="flat" cmpd="sng" algn="ctr">
            <a:solidFill>
              <a:srgbClr val="FFFFFF"/>
            </a:solidFill>
            <a:prstDash val="solid"/>
            <a:miter lim="800000"/>
          </a:ln>
          <a:effectLst/>
        </p:spPr>
      </p:cxnSp>
      <p:sp>
        <p:nvSpPr>
          <p:cNvPr id="245" name="任意多边形"/>
          <p:cNvSpPr>
            <a:spLocks noChangeAspect="1" noChangeArrowheads="1"/>
          </p:cNvSpPr>
          <p:nvPr/>
        </p:nvSpPr>
        <p:spPr bwMode="auto">
          <a:xfrm>
            <a:off x="2703830" y="2250440"/>
            <a:ext cx="701040" cy="54356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sp>
        <p:nvSpPr>
          <p:cNvPr id="246" name="任意多边形"/>
          <p:cNvSpPr>
            <a:spLocks noChangeAspect="1" noChangeArrowheads="1"/>
          </p:cNvSpPr>
          <p:nvPr/>
        </p:nvSpPr>
        <p:spPr bwMode="auto">
          <a:xfrm>
            <a:off x="7769860" y="2406650"/>
            <a:ext cx="607060" cy="607060"/>
          </a:xfrm>
          <a:custGeom>
            <a:avLst/>
            <a:gdLst>
              <a:gd name="T0" fmla="*/ 0 w 904"/>
              <a:gd name="T1" fmla="*/ 686 h 904"/>
              <a:gd name="T2" fmla="*/ 218 w 904"/>
              <a:gd name="T3" fmla="*/ 903 h 904"/>
              <a:gd name="T4" fmla="*/ 0 w 904"/>
              <a:gd name="T5" fmla="*/ 903 h 904"/>
              <a:gd name="T6" fmla="*/ 0 w 904"/>
              <a:gd name="T7" fmla="*/ 686 h 904"/>
              <a:gd name="T8" fmla="*/ 552 w 904"/>
              <a:gd name="T9" fmla="*/ 42 h 904"/>
              <a:gd name="T10" fmla="*/ 627 w 904"/>
              <a:gd name="T11" fmla="*/ 276 h 904"/>
              <a:gd name="T12" fmla="*/ 861 w 904"/>
              <a:gd name="T13" fmla="*/ 351 h 904"/>
              <a:gd name="T14" fmla="*/ 786 w 904"/>
              <a:gd name="T15" fmla="*/ 117 h 904"/>
              <a:gd name="T16" fmla="*/ 552 w 904"/>
              <a:gd name="T17" fmla="*/ 42 h 904"/>
              <a:gd name="T18" fmla="*/ 677 w 904"/>
              <a:gd name="T19" fmla="*/ 385 h 904"/>
              <a:gd name="T20" fmla="*/ 276 w 904"/>
              <a:gd name="T21" fmla="*/ 778 h 904"/>
              <a:gd name="T22" fmla="*/ 360 w 904"/>
              <a:gd name="T23" fmla="*/ 862 h 904"/>
              <a:gd name="T24" fmla="*/ 795 w 904"/>
              <a:gd name="T25" fmla="*/ 427 h 904"/>
              <a:gd name="T26" fmla="*/ 677 w 904"/>
              <a:gd name="T27" fmla="*/ 385 h 904"/>
              <a:gd name="T28" fmla="*/ 594 w 904"/>
              <a:gd name="T29" fmla="*/ 318 h 904"/>
              <a:gd name="T30" fmla="*/ 552 w 904"/>
              <a:gd name="T31" fmla="*/ 276 h 904"/>
              <a:gd name="T32" fmla="*/ 159 w 904"/>
              <a:gd name="T33" fmla="*/ 661 h 904"/>
              <a:gd name="T34" fmla="*/ 243 w 904"/>
              <a:gd name="T35" fmla="*/ 744 h 904"/>
              <a:gd name="T36" fmla="*/ 636 w 904"/>
              <a:gd name="T37" fmla="*/ 351 h 904"/>
              <a:gd name="T38" fmla="*/ 594 w 904"/>
              <a:gd name="T39" fmla="*/ 318 h 904"/>
              <a:gd name="T40" fmla="*/ 477 w 904"/>
              <a:gd name="T41" fmla="*/ 109 h 904"/>
              <a:gd name="T42" fmla="*/ 50 w 904"/>
              <a:gd name="T43" fmla="*/ 544 h 904"/>
              <a:gd name="T44" fmla="*/ 126 w 904"/>
              <a:gd name="T45" fmla="*/ 628 h 904"/>
              <a:gd name="T46" fmla="*/ 519 w 904"/>
              <a:gd name="T47" fmla="*/ 226 h 904"/>
              <a:gd name="T48" fmla="*/ 477 w 904"/>
              <a:gd name="T49" fmla="*/ 109 h 904"/>
              <a:gd name="T50" fmla="*/ 477 w 904"/>
              <a:gd name="T51" fmla="*/ 109 h 904"/>
              <a:gd name="T52" fmla="*/ 477 w 904"/>
              <a:gd name="T53" fmla="*/ 109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4" h="904">
                <a:moveTo>
                  <a:pt x="0" y="686"/>
                </a:moveTo>
                <a:cubicBezTo>
                  <a:pt x="218" y="903"/>
                  <a:pt x="218" y="903"/>
                  <a:pt x="218" y="903"/>
                </a:cubicBezTo>
                <a:cubicBezTo>
                  <a:pt x="0" y="903"/>
                  <a:pt x="0" y="903"/>
                  <a:pt x="0" y="903"/>
                </a:cubicBezTo>
                <a:lnTo>
                  <a:pt x="0" y="686"/>
                </a:lnTo>
                <a:close/>
                <a:moveTo>
                  <a:pt x="552" y="42"/>
                </a:moveTo>
                <a:cubicBezTo>
                  <a:pt x="510" y="84"/>
                  <a:pt x="544" y="193"/>
                  <a:pt x="627" y="276"/>
                </a:cubicBezTo>
                <a:cubicBezTo>
                  <a:pt x="719" y="360"/>
                  <a:pt x="820" y="393"/>
                  <a:pt x="861" y="351"/>
                </a:cubicBezTo>
                <a:cubicBezTo>
                  <a:pt x="903" y="310"/>
                  <a:pt x="870" y="209"/>
                  <a:pt x="786" y="117"/>
                </a:cubicBezTo>
                <a:cubicBezTo>
                  <a:pt x="703" y="34"/>
                  <a:pt x="594" y="0"/>
                  <a:pt x="552" y="42"/>
                </a:cubicBezTo>
                <a:close/>
                <a:moveTo>
                  <a:pt x="677" y="385"/>
                </a:moveTo>
                <a:cubicBezTo>
                  <a:pt x="276" y="778"/>
                  <a:pt x="276" y="778"/>
                  <a:pt x="276" y="778"/>
                </a:cubicBezTo>
                <a:cubicBezTo>
                  <a:pt x="360" y="862"/>
                  <a:pt x="360" y="862"/>
                  <a:pt x="360" y="862"/>
                </a:cubicBezTo>
                <a:cubicBezTo>
                  <a:pt x="795" y="427"/>
                  <a:pt x="795" y="427"/>
                  <a:pt x="795" y="427"/>
                </a:cubicBezTo>
                <a:cubicBezTo>
                  <a:pt x="753" y="418"/>
                  <a:pt x="719" y="410"/>
                  <a:pt x="677" y="385"/>
                </a:cubicBezTo>
                <a:close/>
                <a:moveTo>
                  <a:pt x="594" y="318"/>
                </a:moveTo>
                <a:cubicBezTo>
                  <a:pt x="577" y="301"/>
                  <a:pt x="569" y="285"/>
                  <a:pt x="552" y="276"/>
                </a:cubicBezTo>
                <a:cubicBezTo>
                  <a:pt x="159" y="661"/>
                  <a:pt x="159" y="661"/>
                  <a:pt x="159" y="661"/>
                </a:cubicBezTo>
                <a:cubicBezTo>
                  <a:pt x="243" y="744"/>
                  <a:pt x="243" y="744"/>
                  <a:pt x="243" y="744"/>
                </a:cubicBezTo>
                <a:cubicBezTo>
                  <a:pt x="636" y="351"/>
                  <a:pt x="636" y="351"/>
                  <a:pt x="636" y="351"/>
                </a:cubicBezTo>
                <a:cubicBezTo>
                  <a:pt x="619" y="343"/>
                  <a:pt x="602" y="327"/>
                  <a:pt x="594" y="318"/>
                </a:cubicBezTo>
                <a:close/>
                <a:moveTo>
                  <a:pt x="477" y="109"/>
                </a:moveTo>
                <a:cubicBezTo>
                  <a:pt x="50" y="544"/>
                  <a:pt x="50" y="544"/>
                  <a:pt x="50" y="544"/>
                </a:cubicBezTo>
                <a:cubicBezTo>
                  <a:pt x="126" y="628"/>
                  <a:pt x="126" y="628"/>
                  <a:pt x="126" y="628"/>
                </a:cubicBezTo>
                <a:cubicBezTo>
                  <a:pt x="519" y="226"/>
                  <a:pt x="519" y="226"/>
                  <a:pt x="519" y="226"/>
                </a:cubicBezTo>
                <a:cubicBezTo>
                  <a:pt x="502" y="184"/>
                  <a:pt x="485" y="151"/>
                  <a:pt x="477" y="109"/>
                </a:cubicBezTo>
                <a:close/>
                <a:moveTo>
                  <a:pt x="477" y="109"/>
                </a:moveTo>
                <a:lnTo>
                  <a:pt x="477" y="109"/>
                </a:lnTo>
                <a:close/>
              </a:path>
            </a:pathLst>
          </a:custGeom>
          <a:solidFill>
            <a:schemeClr val="bg1"/>
          </a:solidFill>
          <a:ln>
            <a:noFill/>
          </a:ln>
          <a:effectLst/>
        </p:spPr>
        <p:txBody>
          <a:bodyPr wrap="none" lIns="243785" tIns="121892" rIns="243785" bIns="121892"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dirty="0">
              <a:solidFill>
                <a:schemeClr val="tx1">
                  <a:lumMod val="65000"/>
                  <a:lumOff val="35000"/>
                </a:schemeClr>
              </a:solidFill>
              <a:latin typeface="汉仪君黑-45简" panose="020B0604020202020204" charset="-122"/>
              <a:ea typeface="汉仪君黑-45简" panose="020B0604020202020204" charset="-122"/>
              <a:sym typeface="汉仪君黑-45简" panose="020B0604020202020204" charset="-122"/>
            </a:endParaRPr>
          </a:p>
        </p:txBody>
      </p:sp>
      <p:cxnSp>
        <p:nvCxnSpPr>
          <p:cNvPr id="247" name="直接连接符 4"/>
          <p:cNvCxnSpPr/>
          <p:nvPr/>
        </p:nvCxnSpPr>
        <p:spPr>
          <a:xfrm>
            <a:off x="5487425" y="1120823"/>
            <a:ext cx="866775" cy="0"/>
          </a:xfrm>
          <a:prstGeom prst="line">
            <a:avLst/>
          </a:prstGeom>
          <a:ln>
            <a:solidFill>
              <a:srgbClr val="8AA3A0"/>
            </a:solidFill>
          </a:ln>
        </p:spPr>
        <p:style>
          <a:lnRef idx="1">
            <a:schemeClr val="accent1"/>
          </a:lnRef>
          <a:fillRef idx="0">
            <a:schemeClr val="accent1"/>
          </a:fillRef>
          <a:effectRef idx="0">
            <a:schemeClr val="accent1"/>
          </a:effectRef>
          <a:fontRef idx="minor">
            <a:schemeClr val="tx1"/>
          </a:fontRef>
        </p:style>
      </p:cxnSp>
      <p:sp>
        <p:nvSpPr>
          <p:cNvPr id="248" name="文本框 247"/>
          <p:cNvSpPr txBox="1"/>
          <p:nvPr/>
        </p:nvSpPr>
        <p:spPr>
          <a:xfrm>
            <a:off x="1247808" y="422323"/>
            <a:ext cx="9347200" cy="698500"/>
          </a:xfrm>
          <a:prstGeom prst="rect">
            <a:avLst/>
          </a:prstGeom>
          <a:ln w="6350">
            <a:prstDash val="solid"/>
          </a:ln>
        </p:spPr>
        <p:txBody>
          <a:bodyPr wrap="square">
            <a:spAutoFit/>
          </a:bodyPr>
          <a:lstStyle/>
          <a:p>
            <a:pPr algn="ctr"/>
            <a:r>
              <a:rPr lang="en-US" sz="4000">
                <a:solidFill>
                  <a:srgbClr val="8AA3A0">
                    <a:alpha val="100000"/>
                  </a:srgbClr>
                </a:solidFill>
                <a:latin typeface="Times New Roman" panose="02020603050405020304"/>
                <a:ea typeface="Times New Roman" panose="02020603050405020304"/>
                <a:cs typeface="+mn-cs"/>
              </a:rPr>
              <a:t>Finally We find the Theme:</a:t>
            </a:r>
            <a:endParaRPr lang="en-US" sz="4000">
              <a:solidFill>
                <a:srgbClr val="8AA3A0">
                  <a:alpha val="100000"/>
                </a:srgbClr>
              </a:solidFill>
              <a:latin typeface="Times New Roman" panose="02020603050405020304"/>
              <a:ea typeface="Times New Roman" panose="02020603050405020304"/>
              <a:cs typeface="+mn-cs"/>
            </a:endParaRPr>
          </a:p>
        </p:txBody>
      </p:sp>
      <p:sp>
        <p:nvSpPr>
          <p:cNvPr id="249" name="文本框 248"/>
          <p:cNvSpPr txBox="1"/>
          <p:nvPr/>
        </p:nvSpPr>
        <p:spPr>
          <a:xfrm>
            <a:off x="612212" y="1535137"/>
            <a:ext cx="10617200" cy="1555750"/>
          </a:xfrm>
          <a:prstGeom prst="rect">
            <a:avLst/>
          </a:prstGeom>
          <a:ln w="6350">
            <a:prstDash val="solid"/>
          </a:ln>
        </p:spPr>
        <p:txBody>
          <a:bodyPr wrap="square">
            <a:spAutoFit/>
          </a:bodyPr>
          <a:lstStyle/>
          <a:p>
            <a:pPr marL="342900" indent="-342900">
              <a:buFont typeface="Arial" panose="020B0604020202020204" pitchFamily="34" charset="0"/>
              <a:buChar char="•"/>
            </a:pPr>
            <a:r>
              <a:rPr lang="en-US" sz="2400" i="0">
                <a:latin typeface="Times New Roman" panose="02020603050405020304"/>
                <a:ea typeface="Times New Roman" panose="02020603050405020304"/>
                <a:cs typeface="+mn-cs"/>
              </a:rPr>
              <a:t>The equality we hope is allowing individual's greatness, like beauty, grace, and wisdom.</a:t>
            </a:r>
            <a:endParaRPr lang="en-US" sz="2400" i="0">
              <a:latin typeface="Times New Roman" panose="02020603050405020304"/>
              <a:ea typeface="Times New Roman" panose="02020603050405020304"/>
              <a:cs typeface="+mn-cs"/>
            </a:endParaRPr>
          </a:p>
          <a:p>
            <a:pPr marL="342900" indent="-342900">
              <a:buFont typeface="Arial" panose="020B0604020202020204" pitchFamily="34" charset="0"/>
              <a:buChar char="•"/>
            </a:pPr>
            <a:r>
              <a:rPr lang="en-US" sz="2400" i="0">
                <a:latin typeface="Times New Roman" panose="02020603050405020304"/>
                <a:ea typeface="Times New Roman" panose="02020603050405020304"/>
                <a:cs typeface="+mn-cs"/>
              </a:rPr>
              <a:t>The government shouldn't hold too much power.</a:t>
            </a:r>
            <a:endParaRPr lang="en-US" sz="2400" i="0">
              <a:latin typeface="Times New Roman" panose="02020603050405020304"/>
              <a:ea typeface="Times New Roman" panose="02020603050405020304"/>
              <a:cs typeface="+mn-cs"/>
            </a:endParaRPr>
          </a:p>
          <a:p>
            <a:pPr marL="342900" indent="-342900">
              <a:buFont typeface="Arial" panose="020B0604020202020204" pitchFamily="34" charset="0"/>
              <a:buChar char="•"/>
            </a:pPr>
            <a:r>
              <a:rPr lang="en-US" sz="2400" i="0">
                <a:latin typeface="Times New Roman" panose="02020603050405020304"/>
                <a:ea typeface="Times New Roman" panose="02020603050405020304"/>
                <a:cs typeface="+mn-cs"/>
              </a:rPr>
              <a:t>Satirize American Cold War misunderstandings of communism and socialism.</a:t>
            </a:r>
            <a:endParaRPr lang="en-US" sz="2400" i="0">
              <a:latin typeface="Times New Roman" panose="02020603050405020304"/>
              <a:ea typeface="Times New Roman" panose="02020603050405020304"/>
              <a:cs typeface="+mn-cs"/>
            </a:endParaRPr>
          </a:p>
        </p:txBody>
      </p:sp>
    </p:spTree>
  </p:cSld>
  <p:clrMapOvr>
    <a:masterClrMapping/>
  </p:clrMapOvr>
  <p:transition spd="slow" advTm="0">
    <p:cover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50" name=""/>
        <p:cNvGrpSpPr/>
        <p:nvPr/>
      </p:nvGrpSpPr>
      <p:grpSpPr>
        <a:xfrm>
          <a:off x="0" y="0"/>
          <a:ext cx="0" cy="0"/>
          <a:chOff x="0" y="0"/>
          <a:chExt cx="0" cy="0"/>
        </a:xfrm>
      </p:grpSpPr>
      <p:sp>
        <p:nvSpPr>
          <p:cNvPr id="251" name="文本框"/>
          <p:cNvSpPr>
            <a:spLocks noChangeArrowheads="1"/>
          </p:cNvSpPr>
          <p:nvPr/>
        </p:nvSpPr>
        <p:spPr bwMode="auto">
          <a:xfrm>
            <a:off x="3340100" y="2638981"/>
            <a:ext cx="5511800" cy="673100"/>
          </a:xfrm>
          <a:prstGeom prst="rect">
            <a:avLst/>
          </a:prstGeom>
          <a:noFill/>
          <a:ln>
            <a:noFill/>
          </a:ln>
        </p:spPr>
        <p:txBody>
          <a:bodyPr wrap="square" lIns="0" tIns="0" rIns="0" bIns="0">
            <a:spAutoFit/>
          </a:bodyPr>
          <a:lstStyle/>
          <a:p>
            <a:pPr algn="ctr">
              <a:buFont typeface="汉仪君黑-45简" panose="020B0604020202020204" charset="-122"/>
              <a:buNone/>
            </a:pPr>
            <a:r>
              <a:rPr lang="en-US" sz="4400">
                <a:solidFill>
                  <a:schemeClr val="tx1">
                    <a:lumMod val="65000"/>
                    <a:lumOff val="35000"/>
                    <a:alpha val="100000"/>
                  </a:schemeClr>
                </a:solidFill>
                <a:latin typeface="Times New Roman" panose="02020603050405020304"/>
                <a:ea typeface="Times New Roman" panose="02020603050405020304"/>
              </a:rPr>
              <a:t>Thanks for listening!</a:t>
            </a:r>
            <a:endParaRPr lang="en-US" sz="4400">
              <a:solidFill>
                <a:schemeClr val="tx1">
                  <a:lumMod val="65000"/>
                  <a:lumOff val="35000"/>
                  <a:alpha val="100000"/>
                </a:schemeClr>
              </a:solidFill>
              <a:latin typeface="Times New Roman" panose="02020603050405020304"/>
              <a:ea typeface="Times New Roman" panose="02020603050405020304"/>
            </a:endParaRPr>
          </a:p>
        </p:txBody>
      </p:sp>
    </p:spTree>
  </p:cSld>
  <p:clrMapOvr>
    <a:masterClrMapping/>
  </p:clrMapOvr>
  <p:transition spd="slow" advClick="0" advTm="2000">
    <p:randomBar dir="vert"/>
  </p:transition>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51"/>
                                        </p:tgtEl>
                                        <p:attrNameLst>
                                          <p:attrName>style.visibility</p:attrName>
                                        </p:attrNameLst>
                                      </p:cBhvr>
                                      <p:to>
                                        <p:strVal val="visible"/>
                                      </p:to>
                                    </p:set>
                                    <p:animEffect transition="in" filter="fade">
                                      <p:cBhvr>
                                        <p:cTn id="7" dur="250"/>
                                        <p:tgtEl>
                                          <p:spTgt spid="251"/>
                                        </p:tgtEl>
                                      </p:cBhvr>
                                    </p:animEffect>
                                    <p:anim calcmode="lin" valueType="num">
                                      <p:cBhvr>
                                        <p:cTn id="8" dur="250" fill="hold"/>
                                        <p:tgtEl>
                                          <p:spTgt spid="251"/>
                                        </p:tgtEl>
                                        <p:attrNameLst>
                                          <p:attrName>ppt_x</p:attrName>
                                        </p:attrNameLst>
                                      </p:cBhvr>
                                      <p:tavLst>
                                        <p:tav tm="0">
                                          <p:val>
                                            <p:strVal val="#ppt_x"/>
                                          </p:val>
                                        </p:tav>
                                        <p:tav tm="100000">
                                          <p:val>
                                            <p:strVal val="#ppt_x"/>
                                          </p:val>
                                        </p:tav>
                                      </p:tavLst>
                                    </p:anim>
                                    <p:anim calcmode="lin" valueType="num">
                                      <p:cBhvr>
                                        <p:cTn id="9" dur="250" fill="hold"/>
                                        <p:tgtEl>
                                          <p:spTgt spid="2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君黑-45简"/>
        <a:ea typeface=""/>
        <a:cs typeface=""/>
        <a:font script="Jpan" typeface="游ゴシック"/>
        <a:font script="Hang" typeface="맑은 고딕"/>
        <a:font script="Hans" typeface="汉仪君黑-45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君黑-4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君黑-45简"/>
        <a:ea typeface=""/>
        <a:cs typeface=""/>
        <a:font script="Jpan" typeface="ＭＳ Ｐゴシック"/>
        <a:font script="Hang" typeface="맑은 고딕"/>
        <a:font script="Hans" typeface="汉仪君黑-45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16756</Words>
  <Application>WPS 演示</Application>
  <PresentationFormat/>
  <Paragraphs>333</Paragraphs>
  <Slides>35</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35</vt:i4>
      </vt:variant>
    </vt:vector>
  </HeadingPairs>
  <TitlesOfParts>
    <vt:vector size="52" baseType="lpstr">
      <vt:lpstr>Arial</vt:lpstr>
      <vt:lpstr>宋体</vt:lpstr>
      <vt:lpstr>Wingdings</vt:lpstr>
      <vt:lpstr>汉仪君黑-45简</vt:lpstr>
      <vt:lpstr>黑体</vt:lpstr>
      <vt:lpstr>Times New Roman</vt:lpstr>
      <vt:lpstr>汉仪君黑-45简</vt:lpstr>
      <vt:lpstr>Arial Unicode MS</vt:lpstr>
      <vt:lpstr>Lora</vt:lpstr>
      <vt:lpstr>Segoe Print</vt:lpstr>
      <vt:lpstr>Calibri</vt:lpstr>
      <vt:lpstr>Lora</vt:lpstr>
      <vt:lpstr>Times New Roman</vt:lpstr>
      <vt:lpstr>Wingdings</vt:lpstr>
      <vt:lpstr>汉仪君黑-45简</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cnyz</cp:lastModifiedBy>
  <cp:revision>1</cp:revision>
  <dcterms:created xsi:type="dcterms:W3CDTF">2026-05-09T16:55:48Z</dcterms:created>
  <dcterms:modified xsi:type="dcterms:W3CDTF">2026-05-09T16:55:48Z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5DDA0D34CB1E47B1A0A416E4A5FE8F98_12</vt:lpwstr>
  </property>
  <property fmtid="{D5CDD505-2E9C-101B-9397-08002B2CF9AE}" pid="3" name="KSOProductBuildVer">
    <vt:lpwstr>2052-12.1.0.25865</vt:lpwstr>
  </property>
</Properties>
</file>